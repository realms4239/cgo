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toutes et à tous. Monsieur le président, mesdames et messieurs les membres du jury. Je vais vous présenter un travail conduit à Météo Madagascar : comment protéger le trafic critique quand il partage des liens d'accès prépayés avec des téléchargements massifs.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réseau de Météo Madagascar est vital : les alertes cyclones partent par ces liens. Mais la contrainte forte est économique. Vingt-cinq mille ariary achètent quatre virgule cinq gigaoctets par mois : cinq mille cinq cent cinquante-six ariary le gigaoctet, le plus mauvais rapport du catalogue. Sur ces liens, chaque retransmission due à la congestion est un octet payé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phénomène s'appelle le bufferbloat, documenté depuis 2011. Le débit ne baisse pas : c'est le temps de réponse qui part. Pendant un téléchargement, la file du routeur grossit, et les petites requêtes attendent derrière. Sur le banc, nous avons mesuré trois cent vingt-huit millisecondes de latence de queue dans le pire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résultat central. Profil cellulaire, échéance de deux cent vingt millisecondes, transfert massif en cours. À gauche, la file simple : soixante pour cent des requêtes seulement passent à temps. À droite, les disciplines actives : quatre-vingt-seize et quatre-vingt-dix-huit pour cent. Même charge, même débit utile. C'est la mesure qui fonde tout le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banc s'installe sur le poste client, pas sur le réseau. Une paire d'interfaces virtuelles reconstitue le lien : délai, gigue, perte du profil visé. La discipline de file testée s'applique à l'émission. Aucun équipement de production n'est modifié.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d'être compté, chaque mesure passe huit portes : la cible répond, la charge a vraiment démarré, la latence est physiquement plausible, le débit cohérent, aucune ligne dupliquée, le repos était stable, le processeur au repos. Ce qui échoue part en quarantaine, et on le publie : cent cinquante-quatre lignes rejetées pour quatre-vingt-trois valides.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tient dans un seul binaire : il se copie, il se lance, tout est dedans. Treize virgule sept mégaoctets mesurés. Chaque mesure est gelée avec son empreinte SHA-256 : n'importe quel lecteur peut vérifier que les fichiers n'ont pas bougé. Et le banc survit aux coupures de courant.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tableau de bord pendant une campagne. La vue live publie dix instantanés par seconde. Le mur central compare la configuration en cours à la référence gelée. L'écart se creuse en direct quand la file dérive : l'opérateur voit la conclusion se dessiner avant la première ligne gelée.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régularité compte autant que la latence. L'écart entre le p95 et la médiane tombe de cinquante-deux à environ treize millisecondes avec une discipline active. Concrètement : sur un lien régulier, un seuil d'alerte fonctionne ; sur un lien erratique, le même seuil sonne en permanence ou ne sonne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traduire la latence en qualité perçue, le modèle E de l'UIT donne un score R de zéro à cent. Au repos : la fibre, l'orbite basse et le cellulaire passent la barre de quatre-vingts, l'appel excellent ; le satellite géostationnaire reste à soixante et onze virgule cinq, et aucune configuration de file ne déplacera son délai de propagation.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L'orbite basse change la nature du problème. Le satellite géostationnaire impose six cents millisecondes de physique qu'aucune file ne déplace. L'orbite basse descend à quarante : la latence devient utilisable, mais la gigue des relais entre satellites, elle, se mesure et se surveille.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octet retransmis est un octet payé deux fois. La mesure chiffre le gaspillage en ariary par heure, au tarif réel du forfait. La lecture se fait en regard : la file simple gaspille le moins en octets, mais elle rate quarante pour cent des échéances. Le choix appartient à la direction, avec les chiffres.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campagne, la vue résultats classe les cellules gelées et calcule, pour chacune, un verdict en mots ordinaires avec sa prescription de configuration. La direction ne lit pas des millisecondes : elle lit des engagements tenus ou manqués, et le prix de chacun.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prescription tient en une ligne de configuration sur le routeur du site : CAKE, capacité calée juste sous la capacité mesurée du lien. Le déploiement se fait en fenêtre de maintenance. Et l'instrument devient sentinelle : toute requête qui dépasse l'échéance alerte au journal de supervision.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apports. Un instrument : un binaire qui conduit l'audit, le banc et la vérification. Des résultats : les premières mesures comparatives de disciplines de file sur des profils de liens malgaches, converties en ariary. Et une méthode : chaque affirmation du mémoire se ramène à des fichiers gelés, horodatés, empreintés, que le lecteur peut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limites sont assumées et publiées. Les métriques visent la latence du trafic critique, pas l'équité entre flux. Les cellules finales ne comptent qu'une répétition. La fenêtre de charge dure deux minutes, pas une journée. Le trafic est synthétique, le banc ne reproduit pas la couche radio. Ces bornes ne fragilisent pas les comparaisons, elles en délimitent le champ.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 sur le lien cellulaire, la discipline active fait passer le respect d'échéance de soixante à quatre-vingt-dix-huit pour cent, au même débit. La protection ne coûte pas du débit, elle coûte quelques paquets écartés, chiffrés en ariary. Le même abonnement prépayé, correctement configuré, transporte les alertes à l'heure et les modèles à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de votre attention. Merci à Météo Madagascar pour l'accueil, à mes encadrants pour la direction du travail, et aux membres du jury pour leur lecture. Je suis à votre disposition pour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définitions exactes des métriques, telles qu'elles figurent dans la partie théorique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huit portes avec leurs conditions exactes d'implémentation, tirées du moteur de campagne.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matrice expérimentale. Trois disciplines, deux contrôles de congestion, quatre profils. Le croisement complet fait trente-six événements pour deux profils.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 schéma du fichier aqm_eval.csv, une ligne par événement, avec le manifeste SHA-256 du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commandes de l'instrument, du diagnostic à la vérification.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position par rapport aux outils publics. Flent exige l'équipement, iperf3 perd la victime, mahimahi perd la campagne, les tests grand public perdent tout sauf le chiffre.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chaque métrique prolonge un standard public, sauf le coût en ariary, qui est la contribution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sources tarifaires datées, publiées dans la recherche de prix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062984" cy="51206"/>
          </a:xfrm>
          <a:prstGeom prst="rect">
            <a:avLst/>
          </a:prstGeom>
          <a:solidFill>
            <a:srgbClr val="0066B1"/>
          </a:solidFill>
          <a:ln/>
        </p:spPr>
      </p:sp>
      <p:sp>
        <p:nvSpPr>
          <p:cNvPr id="3" name="Shape 1"/>
          <p:cNvSpPr/>
          <p:nvPr/>
        </p:nvSpPr>
        <p:spPr>
          <a:xfrm>
            <a:off x="4062984" y="0"/>
            <a:ext cx="4062984" cy="51206"/>
          </a:xfrm>
          <a:prstGeom prst="rect">
            <a:avLst/>
          </a:prstGeom>
          <a:solidFill>
            <a:srgbClr val="1C69D4"/>
          </a:solidFill>
          <a:ln/>
        </p:spPr>
      </p:sp>
      <p:sp>
        <p:nvSpPr>
          <p:cNvPr id="4" name="Shape 2"/>
          <p:cNvSpPr/>
          <p:nvPr/>
        </p:nvSpPr>
        <p:spPr>
          <a:xfrm>
            <a:off x="8125968" y="0"/>
            <a:ext cx="4062984" cy="51206"/>
          </a:xfrm>
          <a:prstGeom prst="rect">
            <a:avLst/>
          </a:prstGeom>
          <a:solidFill>
            <a:srgbClr val="E22718"/>
          </a:solidFill>
          <a:ln/>
        </p:spPr>
      </p:sp>
      <p:sp>
        <p:nvSpPr>
          <p:cNvPr id="5" name="Text 3"/>
          <p:cNvSpPr/>
          <p:nvPr/>
        </p:nvSpPr>
        <p:spPr>
          <a:xfrm>
            <a:off x="822960" y="1554480"/>
            <a:ext cx="8229600" cy="292608"/>
          </a:xfrm>
          <a:prstGeom prst="rect">
            <a:avLst/>
          </a:prstGeom>
          <a:noFill/>
          <a:ln/>
        </p:spPr>
        <p:txBody>
          <a:bodyPr wrap="square" lIns="0" tIns="0" rIns="0" bIns="0" rtlCol="0" anchor="ctr"/>
          <a:lstStyle/>
          <a:p>
            <a:pPr algn="l" indent="0" marL="0">
              <a:buNone/>
            </a:pPr>
            <a:r>
              <a:rPr lang="en-US" sz="1300" b="1" spc="180" kern="0" dirty="0">
                <a:solidFill>
                  <a:srgbClr val="1C69D4"/>
                </a:solidFill>
                <a:latin typeface="Arial" pitchFamily="34" charset="0"/>
                <a:ea typeface="Arial" pitchFamily="34" charset="-122"/>
                <a:cs typeface="Arial" pitchFamily="34" charset="-120"/>
              </a:rPr>
              <a:t>MÉTEO MADAGASCAR · MASTER INFORMATIQUE · UNIVERSITÉ D'ANTANANARIVO</a:t>
            </a:r>
            <a:endParaRPr lang="en-US" sz="1300" dirty="0"/>
          </a:p>
        </p:txBody>
      </p:sp>
      <p:sp>
        <p:nvSpPr>
          <p:cNvPr id="6" name="Text 4"/>
          <p:cNvSpPr/>
          <p:nvPr/>
        </p:nvSpPr>
        <p:spPr>
          <a:xfrm>
            <a:off x="822960" y="2148840"/>
            <a:ext cx="10543032" cy="2103120"/>
          </a:xfrm>
          <a:prstGeom prst="rect">
            <a:avLst/>
          </a:prstGeom>
          <a:noFill/>
          <a:ln/>
        </p:spPr>
        <p:txBody>
          <a:bodyPr wrap="square" lIns="0" tIns="0" rIns="0" bIns="0" rtlCol="0" anchor="t"/>
          <a:lstStyle/>
          <a:p>
            <a:pPr indent="0" marL="0">
              <a:lnSpc>
                <a:spcPts val="5600"/>
              </a:lnSpc>
              <a:buNone/>
            </a:pPr>
            <a:r>
              <a:rPr lang="en-US" sz="4800" dirty="0">
                <a:solidFill>
                  <a:srgbClr val="262626"/>
                </a:solidFill>
                <a:latin typeface="Arial" pitchFamily="34" charset="0"/>
                <a:ea typeface="Arial" pitchFamily="34" charset="-122"/>
                <a:cs typeface="Arial" pitchFamily="34" charset="-120"/>
              </a:rPr>
              <a:t>PROTÉGER LE TRAFIC CRITIQUE</a:t>
            </a:r>
            <a:endParaRPr lang="en-US" sz="4800" dirty="0"/>
          </a:p>
          <a:p>
            <a:pPr indent="0" marL="0">
              <a:lnSpc>
                <a:spcPts val="5600"/>
              </a:lnSpc>
              <a:buNone/>
            </a:pPr>
            <a:r>
              <a:rPr lang="en-US" sz="4800" dirty="0">
                <a:solidFill>
                  <a:srgbClr val="262626"/>
                </a:solidFill>
                <a:latin typeface="Arial" pitchFamily="34" charset="0"/>
                <a:ea typeface="Arial" pitchFamily="34" charset="-122"/>
                <a:cs typeface="Arial" pitchFamily="34" charset="-120"/>
              </a:rPr>
              <a:t>SUR LES LIENS D'ACCÈS PRÉPAYÉS</a:t>
            </a:r>
            <a:endParaRPr lang="en-US" sz="4800" dirty="0"/>
          </a:p>
        </p:txBody>
      </p:sp>
      <p:sp>
        <p:nvSpPr>
          <p:cNvPr id="7" name="Text 5"/>
          <p:cNvSpPr/>
          <p:nvPr/>
        </p:nvSpPr>
        <p:spPr>
          <a:xfrm>
            <a:off x="822960" y="4526280"/>
            <a:ext cx="8348472" cy="822960"/>
          </a:xfrm>
          <a:prstGeom prst="rect">
            <a:avLst/>
          </a:prstGeom>
          <a:noFill/>
          <a:ln/>
        </p:spPr>
        <p:txBody>
          <a:bodyPr wrap="square" lIns="0" tIns="0" rIns="0" bIns="0" rtlCol="0" anchor="t"/>
          <a:lstStyle/>
          <a:p>
            <a:pPr indent="0" marL="0">
              <a:lnSpc>
                <a:spcPts val="2600"/>
              </a:lnSpc>
              <a:buNone/>
            </a:pPr>
            <a:r>
              <a:rPr lang="en-US" sz="1900" dirty="0">
                <a:solidFill>
                  <a:srgbClr val="757575"/>
                </a:solidFill>
                <a:latin typeface="Arial" pitchFamily="34" charset="0"/>
                <a:ea typeface="Arial" pitchFamily="34" charset="-122"/>
                <a:cs typeface="Arial" pitchFamily="34" charset="-120"/>
              </a:rPr>
              <a:t>Un banc d'essai et une méthode d'audit pour la discipline de file des liens d'accès malgaches</a:t>
            </a:r>
            <a:endParaRPr lang="en-US" sz="1900" dirty="0"/>
          </a:p>
        </p:txBody>
      </p:sp>
      <p:sp>
        <p:nvSpPr>
          <p:cNvPr id="8" name="Shape 6"/>
          <p:cNvSpPr/>
          <p:nvPr/>
        </p:nvSpPr>
        <p:spPr>
          <a:xfrm>
            <a:off x="822960" y="5806440"/>
            <a:ext cx="10543032" cy="12802"/>
          </a:xfrm>
          <a:prstGeom prst="rect">
            <a:avLst/>
          </a:prstGeom>
          <a:solidFill>
            <a:srgbClr val="E0E0E0"/>
          </a:solidFill>
          <a:ln/>
        </p:spPr>
      </p:sp>
      <p:sp>
        <p:nvSpPr>
          <p:cNvPr id="9" name="Text 7"/>
          <p:cNvSpPr/>
          <p:nvPr/>
        </p:nvSpPr>
        <p:spPr>
          <a:xfrm>
            <a:off x="822960" y="5989320"/>
            <a:ext cx="7315200" cy="365760"/>
          </a:xfrm>
          <a:prstGeom prst="rect">
            <a:avLst/>
          </a:prstGeom>
          <a:noFill/>
          <a:ln/>
        </p:spPr>
        <p:txBody>
          <a:bodyPr wrap="square" lIns="0" tIns="0" rIns="0" bIns="0" rtlCol="0" anchor="ctr"/>
          <a:lstStyle/>
          <a:p>
            <a:pPr indent="0" marL="0">
              <a:buNone/>
            </a:pPr>
            <a:r>
              <a:rPr lang="en-US" sz="1300" dirty="0">
                <a:solidFill>
                  <a:srgbClr val="B9B9B9"/>
                </a:solidFill>
                <a:latin typeface="Arial" pitchFamily="34" charset="0"/>
                <a:ea typeface="Arial" pitchFamily="34" charset="-122"/>
                <a:cs typeface="Arial" pitchFamily="34" charset="-120"/>
              </a:rPr>
              <a:t>Candidat · Encadrement · Soutenance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CONTEXTE · LE PRÉPAYÉ MALGACHE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donnée se vend au détail, et le forfait de référence est le plus cher du catalogue.</a:t>
            </a:r>
            <a:endParaRPr lang="en-US" sz="2600" dirty="0"/>
          </a:p>
        </p:txBody>
      </p:sp>
      <p:sp>
        <p:nvSpPr>
          <p:cNvPr id="5" name="Text 3"/>
          <p:cNvSpPr/>
          <p:nvPr/>
        </p:nvSpPr>
        <p:spPr>
          <a:xfrm>
            <a:off x="822960" y="2148840"/>
            <a:ext cx="10543032" cy="1097280"/>
          </a:xfrm>
          <a:prstGeom prst="rect">
            <a:avLst/>
          </a:prstGeom>
          <a:noFill/>
          <a:ln/>
        </p:spPr>
        <p:txBody>
          <a:bodyPr wrap="square" lIns="0" tIns="0" rIns="0" bIns="0" rtlCol="0" anchor="t"/>
          <a:lstStyle/>
          <a:p>
            <a:pPr indent="0" marL="0">
              <a:lnSpc>
                <a:spcPts val="3000"/>
              </a:lnSpc>
              <a:buNone/>
            </a:pPr>
            <a:r>
              <a:rPr lang="en-US" sz="2100" dirty="0">
                <a:solidFill>
                  <a:srgbClr val="404040"/>
                </a:solidFill>
                <a:latin typeface="Arial" pitchFamily="34" charset="0"/>
                <a:ea typeface="Arial" pitchFamily="34" charset="-122"/>
                <a:cs typeface="Arial" pitchFamily="34" charset="-120"/>
              </a:rPr>
              <a:t>Les relevés des stations, les alertes cyclones et les consultations de tableaux de bord partagent les mêmes liens d'accès que les images satellite : fibre au siège, 4G dans les régions, satellite dans les stations isolées.</a:t>
            </a:r>
            <a:endParaRPr lang="en-US" sz="2100" dirty="0"/>
          </a:p>
        </p:txBody>
      </p:sp>
      <p:sp>
        <p:nvSpPr>
          <p:cNvPr id="6" name="Shape 4"/>
          <p:cNvSpPr/>
          <p:nvPr/>
        </p:nvSpPr>
        <p:spPr>
          <a:xfrm>
            <a:off x="822960" y="3593592"/>
            <a:ext cx="10543032" cy="12802"/>
          </a:xfrm>
          <a:prstGeom prst="rect">
            <a:avLst/>
          </a:prstGeom>
          <a:solidFill>
            <a:srgbClr val="E0E0E0"/>
          </a:solidFill>
          <a:ln/>
        </p:spPr>
      </p:sp>
      <p:sp>
        <p:nvSpPr>
          <p:cNvPr id="7" name="Text 5"/>
          <p:cNvSpPr/>
          <p:nvPr/>
        </p:nvSpPr>
        <p:spPr>
          <a:xfrm>
            <a:off x="822960" y="379476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25 000 Ar</a:t>
            </a:r>
            <a:endParaRPr lang="en-US" sz="3800" dirty="0"/>
          </a:p>
        </p:txBody>
      </p:sp>
      <p:sp>
        <p:nvSpPr>
          <p:cNvPr id="8" name="Text 6"/>
          <p:cNvSpPr/>
          <p:nvPr/>
        </p:nvSpPr>
        <p:spPr>
          <a:xfrm>
            <a:off x="868680"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LE FORFAIT MENSUEL DE RÉFÉRENCE : 4,5 GO PRÉPAYÉS, OPÉRATEUR PRINCIPAL, 2026</a:t>
            </a:r>
            <a:endParaRPr lang="en-US" sz="1250" dirty="0"/>
          </a:p>
        </p:txBody>
      </p:sp>
      <p:sp>
        <p:nvSpPr>
          <p:cNvPr id="9" name="Text 7"/>
          <p:cNvSpPr/>
          <p:nvPr/>
        </p:nvSpPr>
        <p:spPr>
          <a:xfrm>
            <a:off x="4337304" y="3794760"/>
            <a:ext cx="3514344" cy="1005840"/>
          </a:xfrm>
          <a:prstGeom prst="rect">
            <a:avLst/>
          </a:prstGeom>
          <a:noFill/>
          <a:ln/>
        </p:spPr>
        <p:txBody>
          <a:bodyPr wrap="square" lIns="0" tIns="0" rIns="0" bIns="0" rtlCol="0" anchor="ctr"/>
          <a:lstStyle/>
          <a:p>
            <a:pPr algn="ctr" indent="0" marL="0">
              <a:buNone/>
            </a:pPr>
            <a:r>
              <a:rPr lang="en-US" sz="3800" dirty="0">
                <a:solidFill>
                  <a:srgbClr val="1C69D4"/>
                </a:solidFill>
                <a:latin typeface="Arial" pitchFamily="34" charset="0"/>
                <a:ea typeface="Arial" pitchFamily="34" charset="-122"/>
                <a:cs typeface="Arial" pitchFamily="34" charset="-120"/>
              </a:rPr>
              <a:t>5 556 Ar/Go</a:t>
            </a:r>
            <a:endParaRPr lang="en-US" sz="3800" dirty="0"/>
          </a:p>
        </p:txBody>
      </p:sp>
      <p:sp>
        <p:nvSpPr>
          <p:cNvPr id="10" name="Text 8"/>
          <p:cNvSpPr/>
          <p:nvPr/>
        </p:nvSpPr>
        <p:spPr>
          <a:xfrm>
            <a:off x="4383024"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LE PRIX DU GIGAOCTET À CE PALIER : LE PIRE RAPPORT DU CATALOGUE</a:t>
            </a:r>
            <a:endParaRPr lang="en-US" sz="1250" dirty="0"/>
          </a:p>
        </p:txBody>
      </p:sp>
      <p:sp>
        <p:nvSpPr>
          <p:cNvPr id="11" name="Text 9"/>
          <p:cNvSpPr/>
          <p:nvPr/>
        </p:nvSpPr>
        <p:spPr>
          <a:xfrm>
            <a:off x="7851648" y="379476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2×</a:t>
            </a:r>
            <a:endParaRPr lang="en-US" sz="3800" dirty="0"/>
          </a:p>
        </p:txBody>
      </p:sp>
      <p:sp>
        <p:nvSpPr>
          <p:cNvPr id="12" name="Text 10"/>
          <p:cNvSpPr/>
          <p:nvPr/>
        </p:nvSpPr>
        <p:spPr>
          <a:xfrm>
            <a:off x="7897368"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CHAQUE OCTET RETRANSMIS PAR LA CONGESTION EST PAYÉ DEUX FOIS</a:t>
            </a:r>
            <a:endParaRPr lang="en-US" sz="125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Sources : grilles publiques des opérateurs, 2026 · ARTEC, octobre 2025</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PROBLÈME · BUFFERBLOAT</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Sous charge, le débit reste intact : c'est le temps de réponse qui explose.</a:t>
            </a:r>
            <a:endParaRPr lang="en-US" sz="2600" dirty="0"/>
          </a:p>
        </p:txBody>
      </p:sp>
      <p:sp>
        <p:nvSpPr>
          <p:cNvPr id="5" name="Shape 3"/>
          <p:cNvSpPr/>
          <p:nvPr/>
        </p:nvSpPr>
        <p:spPr>
          <a:xfrm>
            <a:off x="822960" y="2834640"/>
            <a:ext cx="3063240" cy="914400"/>
          </a:xfrm>
          <a:prstGeom prst="rect">
            <a:avLst/>
          </a:prstGeom>
          <a:solidFill>
            <a:srgbClr val="FAFAFA"/>
          </a:solidFill>
          <a:ln w="12700">
            <a:solidFill>
              <a:srgbClr val="E0E0E0"/>
            </a:solidFill>
            <a:prstDash val="solid"/>
          </a:ln>
        </p:spPr>
      </p:sp>
      <p:sp>
        <p:nvSpPr>
          <p:cNvPr id="6" name="Text 4"/>
          <p:cNvSpPr/>
          <p:nvPr/>
        </p:nvSpPr>
        <p:spPr>
          <a:xfrm>
            <a:off x="960120" y="2944368"/>
            <a:ext cx="2788920" cy="36576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Requête critique</a:t>
            </a:r>
            <a:endParaRPr lang="en-US" sz="1500" dirty="0"/>
          </a:p>
        </p:txBody>
      </p:sp>
      <p:sp>
        <p:nvSpPr>
          <p:cNvPr id="7" name="Text 5"/>
          <p:cNvSpPr/>
          <p:nvPr/>
        </p:nvSpPr>
        <p:spPr>
          <a:xfrm>
            <a:off x="960120"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32 octets · alerte, tableau de bord</a:t>
            </a:r>
            <a:endParaRPr lang="en-US" sz="1200" dirty="0"/>
          </a:p>
        </p:txBody>
      </p:sp>
      <p:sp>
        <p:nvSpPr>
          <p:cNvPr id="8" name="Shape 6"/>
          <p:cNvSpPr/>
          <p:nvPr/>
        </p:nvSpPr>
        <p:spPr>
          <a:xfrm>
            <a:off x="4736592" y="2834640"/>
            <a:ext cx="3063240" cy="914400"/>
          </a:xfrm>
          <a:prstGeom prst="rect">
            <a:avLst/>
          </a:prstGeom>
          <a:solidFill>
            <a:srgbClr val="F0F4FB"/>
          </a:solidFill>
          <a:ln w="12700">
            <a:solidFill>
              <a:srgbClr val="E0E0E0"/>
            </a:solidFill>
            <a:prstDash val="solid"/>
          </a:ln>
        </p:spPr>
      </p:sp>
      <p:sp>
        <p:nvSpPr>
          <p:cNvPr id="9" name="Text 7"/>
          <p:cNvSpPr/>
          <p:nvPr/>
        </p:nvSpPr>
        <p:spPr>
          <a:xfrm>
            <a:off x="4873752" y="2944368"/>
            <a:ext cx="2788920" cy="365760"/>
          </a:xfrm>
          <a:prstGeom prst="rect">
            <a:avLst/>
          </a:prstGeom>
          <a:noFill/>
          <a:ln/>
        </p:spPr>
        <p:txBody>
          <a:bodyPr wrap="square" lIns="0" tIns="0" rIns="0" bIns="0" rtlCol="0" anchor="ctr"/>
          <a:lstStyle/>
          <a:p>
            <a:pPr indent="0" marL="0">
              <a:buNone/>
            </a:pPr>
            <a:r>
              <a:rPr lang="en-US" sz="1500" b="1" dirty="0">
                <a:solidFill>
                  <a:srgbClr val="1C69D4"/>
                </a:solidFill>
                <a:latin typeface="Arial" pitchFamily="34" charset="0"/>
                <a:ea typeface="Arial" pitchFamily="34" charset="-122"/>
                <a:cs typeface="Arial" pitchFamily="34" charset="-120"/>
              </a:rPr>
              <a:t>Transfert massif</a:t>
            </a:r>
            <a:endParaRPr lang="en-US" sz="1500" dirty="0"/>
          </a:p>
        </p:txBody>
      </p:sp>
      <p:sp>
        <p:nvSpPr>
          <p:cNvPr id="10" name="Text 8"/>
          <p:cNvSpPr/>
          <p:nvPr/>
        </p:nvSpPr>
        <p:spPr>
          <a:xfrm>
            <a:off x="4873752"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gigaoctets · images satellite</a:t>
            </a:r>
            <a:endParaRPr lang="en-US" sz="1200" dirty="0"/>
          </a:p>
        </p:txBody>
      </p:sp>
      <p:sp>
        <p:nvSpPr>
          <p:cNvPr id="11" name="Shape 9"/>
          <p:cNvSpPr/>
          <p:nvPr/>
        </p:nvSpPr>
        <p:spPr>
          <a:xfrm>
            <a:off x="8650224" y="2834640"/>
            <a:ext cx="3063240" cy="914400"/>
          </a:xfrm>
          <a:prstGeom prst="rect">
            <a:avLst/>
          </a:prstGeom>
          <a:solidFill>
            <a:srgbClr val="FAFAFA"/>
          </a:solidFill>
          <a:ln w="12700">
            <a:solidFill>
              <a:srgbClr val="E0E0E0"/>
            </a:solidFill>
            <a:prstDash val="solid"/>
          </a:ln>
        </p:spPr>
      </p:sp>
      <p:sp>
        <p:nvSpPr>
          <p:cNvPr id="12" name="Text 10"/>
          <p:cNvSpPr/>
          <p:nvPr/>
        </p:nvSpPr>
        <p:spPr>
          <a:xfrm>
            <a:off x="8787384" y="2944368"/>
            <a:ext cx="2788920" cy="36576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Requête critique</a:t>
            </a:r>
            <a:endParaRPr lang="en-US" sz="1500" dirty="0"/>
          </a:p>
        </p:txBody>
      </p:sp>
      <p:sp>
        <p:nvSpPr>
          <p:cNvPr id="13" name="Text 11"/>
          <p:cNvSpPr/>
          <p:nvPr/>
        </p:nvSpPr>
        <p:spPr>
          <a:xfrm>
            <a:off x="8787384"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32 octets · télémétrie, relevés</a:t>
            </a:r>
            <a:endParaRPr lang="en-US" sz="1200" dirty="0"/>
          </a:p>
        </p:txBody>
      </p:sp>
      <p:sp>
        <p:nvSpPr>
          <p:cNvPr id="14" name="Shape 12"/>
          <p:cNvSpPr/>
          <p:nvPr/>
        </p:nvSpPr>
        <p:spPr>
          <a:xfrm>
            <a:off x="3886200" y="3291840"/>
            <a:ext cx="822960" cy="0"/>
          </a:xfrm>
          <a:prstGeom prst="line">
            <a:avLst/>
          </a:prstGeom>
          <a:noFill/>
          <a:ln w="19050">
            <a:solidFill>
              <a:srgbClr val="B9B9B9"/>
            </a:solidFill>
            <a:prstDash val="solid"/>
            <a:tailEnd type="triangle"/>
          </a:ln>
        </p:spPr>
      </p:sp>
      <p:sp>
        <p:nvSpPr>
          <p:cNvPr id="15" name="Shape 13"/>
          <p:cNvSpPr/>
          <p:nvPr/>
        </p:nvSpPr>
        <p:spPr>
          <a:xfrm>
            <a:off x="7799832" y="3291840"/>
            <a:ext cx="822960" cy="0"/>
          </a:xfrm>
          <a:prstGeom prst="line">
            <a:avLst/>
          </a:prstGeom>
          <a:noFill/>
          <a:ln w="19050">
            <a:solidFill>
              <a:srgbClr val="B9B9B9"/>
            </a:solidFill>
            <a:prstDash val="solid"/>
            <a:tailEnd type="triangle"/>
          </a:ln>
        </p:spPr>
      </p:sp>
      <p:sp>
        <p:nvSpPr>
          <p:cNvPr id="16" name="Text 14"/>
          <p:cNvSpPr/>
          <p:nvPr/>
        </p:nvSpPr>
        <p:spPr>
          <a:xfrm>
            <a:off x="822960" y="4069080"/>
            <a:ext cx="10543032" cy="365760"/>
          </a:xfrm>
          <a:prstGeom prst="rect">
            <a:avLst/>
          </a:prstGeom>
          <a:noFill/>
          <a:ln/>
        </p:spPr>
        <p:txBody>
          <a:bodyPr wrap="square" lIns="0" tIns="0" rIns="0" bIns="0" rtlCol="0" anchor="ctr"/>
          <a:lstStyle/>
          <a:p>
            <a:pPr algn="ctr" indent="0" marL="0">
              <a:buNone/>
            </a:pPr>
            <a:r>
              <a:rPr lang="en-US" sz="1300" b="1" spc="150" kern="0" dirty="0">
                <a:solidFill>
                  <a:srgbClr val="1C69D4"/>
                </a:solidFill>
                <a:latin typeface="Arial" pitchFamily="34" charset="0"/>
                <a:ea typeface="Arial" pitchFamily="34" charset="-122"/>
                <a:cs typeface="Arial" pitchFamily="34" charset="-120"/>
              </a:rPr>
              <a:t>FILE D'ATTENTE DU ROUTEUR</a:t>
            </a:r>
            <a:endParaRPr lang="en-US" sz="1300" dirty="0"/>
          </a:p>
        </p:txBody>
      </p:sp>
      <p:sp>
        <p:nvSpPr>
          <p:cNvPr id="17" name="Text 15"/>
          <p:cNvSpPr/>
          <p:nvPr/>
        </p:nvSpPr>
        <p:spPr>
          <a:xfrm>
            <a:off x="822960" y="4526280"/>
            <a:ext cx="10543032" cy="731520"/>
          </a:xfrm>
          <a:prstGeom prst="rect">
            <a:avLst/>
          </a:prstGeom>
          <a:noFill/>
          <a:ln/>
        </p:spPr>
        <p:txBody>
          <a:bodyPr wrap="square" lIns="0" tIns="0" rIns="0" bIns="0" rtlCol="0" anchor="ctr"/>
          <a:lstStyle/>
          <a:p>
            <a:pPr algn="ctr" indent="0" marL="0">
              <a:lnSpc>
                <a:spcPts val="2400"/>
              </a:lnSpc>
              <a:buNone/>
            </a:pPr>
            <a:r>
              <a:rPr lang="en-US" sz="1800" dirty="0">
                <a:solidFill>
                  <a:srgbClr val="404040"/>
                </a:solidFill>
                <a:latin typeface="Arial" pitchFamily="34" charset="0"/>
                <a:ea typeface="Arial" pitchFamily="34" charset="-122"/>
                <a:cs typeface="Arial" pitchFamily="34" charset="-120"/>
              </a:rPr>
              <a:t>328 ms de latence de queue mesurées sous charge sans discipline active : la petite requête attend derrière le convoi, le service semble planté, le débit est correct.</a:t>
            </a:r>
            <a:endParaRPr lang="en-US" sz="1800" dirty="0"/>
          </a:p>
        </p:txBody>
      </p:sp>
      <p:sp>
        <p:nvSpPr>
          <p:cNvPr id="18" name="Text 16"/>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Gettys &amp; Nichols, 2011 · mesures du banc, profil 4G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RÉSULTAT CENTRAL · ÉCHÉANCE 220 MS, PROFIL 4G</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file simple sauve 60 % des requêtes critiques ; les disciplines actives en sauvent 96 à 98 %.</a:t>
            </a:r>
            <a:endParaRPr lang="en-US" sz="2600" dirty="0"/>
          </a:p>
        </p:txBody>
      </p:sp>
      <p:pic>
        <p:nvPicPr>
          <p:cNvPr id="5" name="Image 0" descr="C:\cgo\book\figures\figR2-deadline.png">    </p:cNvPr>
          <p:cNvPicPr>
            <a:picLocks noChangeAspect="1"/>
          </p:cNvPicPr>
          <p:nvPr/>
        </p:nvPicPr>
        <p:blipFill>
          <a:blip r:embed="rId1"/>
          <a:stretch>
            <a:fillRect/>
          </a:stretch>
        </p:blipFill>
        <p:spPr>
          <a:xfrm>
            <a:off x="2605841" y="2148840"/>
            <a:ext cx="6977270" cy="356616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pfifo_fast/BBR 60,2 % · fq_codel/BBR 96,2 % · CAKE/BBR 98,1 % · run 1788191429, archives gelées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MÉTHODE · LE BANC</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banc rejoue le lien d'accès dans le poste client, sans toucher à l'infrastructure.</a:t>
            </a:r>
            <a:endParaRPr lang="en-US" sz="2600" dirty="0"/>
          </a:p>
        </p:txBody>
      </p:sp>
      <p:pic>
        <p:nvPicPr>
          <p:cNvPr id="5" name="Image 0" descr="C:\cgo\book\figures\figR1-topologie.png">    </p:cNvPr>
          <p:cNvPicPr>
            <a:picLocks noChangeAspect="1"/>
          </p:cNvPicPr>
          <p:nvPr/>
        </p:nvPicPr>
        <p:blipFill>
          <a:blip r:embed="rId1"/>
          <a:stretch>
            <a:fillRect/>
          </a:stretch>
        </p:blipFill>
        <p:spPr>
          <a:xfrm>
            <a:off x="2737665" y="2286000"/>
            <a:ext cx="6713621" cy="2834640"/>
          </a:xfrm>
          <a:prstGeom prst="rect">
            <a:avLst/>
          </a:prstGeom>
        </p:spPr>
      </p:pic>
      <p:sp>
        <p:nvSpPr>
          <p:cNvPr id="6" name="Text 3"/>
          <p:cNvSpPr/>
          <p:nvPr/>
        </p:nvSpPr>
        <p:spPr>
          <a:xfrm>
            <a:off x="822960" y="5577840"/>
            <a:ext cx="10543032" cy="86868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Une paire de liens virtuels reconstitue le lien : délai, gigue, perte du profil visé. La discipline testée s'applique à l'émission. Deux exécutions de la même campagne se comparent à conditions strictement identiques.</a:t>
            </a:r>
            <a:endParaRPr lang="en-US" sz="1800" dirty="0"/>
          </a:p>
        </p:txBody>
      </p:sp>
      <p:sp>
        <p:nvSpPr>
          <p:cNvPr id="7" name="Text 4"/>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netem + discipline de file · serveur Ubuntu Server 24.04 LTS, noyau 6.8.0-138-generic</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GARANTIE QUALITÉ · PORTES G0 À G7</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Chaque mesure franchit huit contrôles avant d'entrer dans les résultats.</a:t>
            </a:r>
            <a:endParaRPr lang="en-US" sz="2600" dirty="0"/>
          </a:p>
        </p:txBody>
      </p:sp>
      <p:sp>
        <p:nvSpPr>
          <p:cNvPr id="5" name="Shape 3"/>
          <p:cNvSpPr/>
          <p:nvPr/>
        </p:nvSpPr>
        <p:spPr>
          <a:xfrm>
            <a:off x="822960" y="2395728"/>
            <a:ext cx="10543032" cy="12802"/>
          </a:xfrm>
          <a:prstGeom prst="rect">
            <a:avLst/>
          </a:prstGeom>
          <a:solidFill>
            <a:srgbClr val="E0E0E0"/>
          </a:solidFill>
          <a:ln/>
        </p:spPr>
      </p:sp>
      <p:sp>
        <p:nvSpPr>
          <p:cNvPr id="6" name="Text 4"/>
          <p:cNvSpPr/>
          <p:nvPr/>
        </p:nvSpPr>
        <p:spPr>
          <a:xfrm>
            <a:off x="822960"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G0</a:t>
            </a:r>
            <a:endParaRPr lang="en-US" sz="2400" dirty="0"/>
          </a:p>
        </p:txBody>
      </p:sp>
      <p:sp>
        <p:nvSpPr>
          <p:cNvPr id="7" name="Text 5"/>
          <p:cNvSpPr/>
          <p:nvPr/>
        </p:nvSpPr>
        <p:spPr>
          <a:xfrm>
            <a:off x="822960"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CIBLE JOIGNABLE</a:t>
            </a:r>
            <a:endParaRPr lang="en-US" sz="1050" dirty="0"/>
          </a:p>
        </p:txBody>
      </p:sp>
      <p:sp>
        <p:nvSpPr>
          <p:cNvPr id="8" name="Text 6"/>
          <p:cNvSpPr/>
          <p:nvPr/>
        </p:nvSpPr>
        <p:spPr>
          <a:xfrm>
            <a:off x="2140839"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G1</a:t>
            </a:r>
            <a:endParaRPr lang="en-US" sz="2400" dirty="0"/>
          </a:p>
        </p:txBody>
      </p:sp>
      <p:sp>
        <p:nvSpPr>
          <p:cNvPr id="9" name="Text 7"/>
          <p:cNvSpPr/>
          <p:nvPr/>
        </p:nvSpPr>
        <p:spPr>
          <a:xfrm>
            <a:off x="2140839"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CHARGE ÉTABLIE</a:t>
            </a:r>
            <a:endParaRPr lang="en-US" sz="1050" dirty="0"/>
          </a:p>
        </p:txBody>
      </p:sp>
      <p:sp>
        <p:nvSpPr>
          <p:cNvPr id="10" name="Text 8"/>
          <p:cNvSpPr/>
          <p:nvPr/>
        </p:nvSpPr>
        <p:spPr>
          <a:xfrm>
            <a:off x="3458718"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G2</a:t>
            </a:r>
            <a:endParaRPr lang="en-US" sz="2400" dirty="0"/>
          </a:p>
        </p:txBody>
      </p:sp>
      <p:sp>
        <p:nvSpPr>
          <p:cNvPr id="11" name="Text 9"/>
          <p:cNvSpPr/>
          <p:nvPr/>
        </p:nvSpPr>
        <p:spPr>
          <a:xfrm>
            <a:off x="3458718"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SONDES VIVANTES</a:t>
            </a:r>
            <a:endParaRPr lang="en-US" sz="1050" dirty="0"/>
          </a:p>
        </p:txBody>
      </p:sp>
      <p:sp>
        <p:nvSpPr>
          <p:cNvPr id="12" name="Text 10"/>
          <p:cNvSpPr/>
          <p:nvPr/>
        </p:nvSpPr>
        <p:spPr>
          <a:xfrm>
            <a:off x="4776597"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G3</a:t>
            </a:r>
            <a:endParaRPr lang="en-US" sz="2400" dirty="0"/>
          </a:p>
        </p:txBody>
      </p:sp>
      <p:sp>
        <p:nvSpPr>
          <p:cNvPr id="13" name="Text 11"/>
          <p:cNvSpPr/>
          <p:nvPr/>
        </p:nvSpPr>
        <p:spPr>
          <a:xfrm>
            <a:off x="4776597"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LATENCE PLAUSIBLE</a:t>
            </a:r>
            <a:endParaRPr lang="en-US" sz="1050" dirty="0"/>
          </a:p>
        </p:txBody>
      </p:sp>
      <p:sp>
        <p:nvSpPr>
          <p:cNvPr id="14" name="Text 12"/>
          <p:cNvSpPr/>
          <p:nvPr/>
        </p:nvSpPr>
        <p:spPr>
          <a:xfrm>
            <a:off x="6094476"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G4</a:t>
            </a:r>
            <a:endParaRPr lang="en-US" sz="2400" dirty="0"/>
          </a:p>
        </p:txBody>
      </p:sp>
      <p:sp>
        <p:nvSpPr>
          <p:cNvPr id="15" name="Text 13"/>
          <p:cNvSpPr/>
          <p:nvPr/>
        </p:nvSpPr>
        <p:spPr>
          <a:xfrm>
            <a:off x="6094476"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DÉBIT COHÉRENT</a:t>
            </a:r>
            <a:endParaRPr lang="en-US" sz="1050" dirty="0"/>
          </a:p>
        </p:txBody>
      </p:sp>
      <p:sp>
        <p:nvSpPr>
          <p:cNvPr id="16" name="Text 14"/>
          <p:cNvSpPr/>
          <p:nvPr/>
        </p:nvSpPr>
        <p:spPr>
          <a:xfrm>
            <a:off x="7412355"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G5</a:t>
            </a:r>
            <a:endParaRPr lang="en-US" sz="2400" dirty="0"/>
          </a:p>
        </p:txBody>
      </p:sp>
      <p:sp>
        <p:nvSpPr>
          <p:cNvPr id="17" name="Text 15"/>
          <p:cNvSpPr/>
          <p:nvPr/>
        </p:nvSpPr>
        <p:spPr>
          <a:xfrm>
            <a:off x="7412355"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AUCUN DOUBLON</a:t>
            </a:r>
            <a:endParaRPr lang="en-US" sz="1050" dirty="0"/>
          </a:p>
        </p:txBody>
      </p:sp>
      <p:sp>
        <p:nvSpPr>
          <p:cNvPr id="18" name="Text 16"/>
          <p:cNvSpPr/>
          <p:nvPr/>
        </p:nvSpPr>
        <p:spPr>
          <a:xfrm>
            <a:off x="8730234"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G6</a:t>
            </a:r>
            <a:endParaRPr lang="en-US" sz="2400" dirty="0"/>
          </a:p>
        </p:txBody>
      </p:sp>
      <p:sp>
        <p:nvSpPr>
          <p:cNvPr id="19" name="Text 17"/>
          <p:cNvSpPr/>
          <p:nvPr/>
        </p:nvSpPr>
        <p:spPr>
          <a:xfrm>
            <a:off x="8730234"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REPOS STABLE</a:t>
            </a:r>
            <a:endParaRPr lang="en-US" sz="1050" dirty="0"/>
          </a:p>
        </p:txBody>
      </p:sp>
      <p:sp>
        <p:nvSpPr>
          <p:cNvPr id="20" name="Text 18"/>
          <p:cNvSpPr/>
          <p:nvPr/>
        </p:nvSpPr>
        <p:spPr>
          <a:xfrm>
            <a:off x="10048113"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G7</a:t>
            </a:r>
            <a:endParaRPr lang="en-US" sz="2400" dirty="0"/>
          </a:p>
        </p:txBody>
      </p:sp>
      <p:sp>
        <p:nvSpPr>
          <p:cNvPr id="21" name="Text 19"/>
          <p:cNvSpPr/>
          <p:nvPr/>
        </p:nvSpPr>
        <p:spPr>
          <a:xfrm>
            <a:off x="10048113"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PROCESSEUR &lt; 90 %</a:t>
            </a:r>
            <a:endParaRPr lang="en-US" sz="1050" dirty="0"/>
          </a:p>
        </p:txBody>
      </p:sp>
      <p:sp>
        <p:nvSpPr>
          <p:cNvPr id="22" name="Text 20"/>
          <p:cNvSpPr/>
          <p:nvPr/>
        </p:nvSpPr>
        <p:spPr>
          <a:xfrm>
            <a:off x="822960" y="4572000"/>
            <a:ext cx="10543032" cy="91440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Ce qui échoue une porte majeure part en quarantaine : conservé, compté, exclu du classement. Les archives en comptent 154 pour 83 lignes valides, un ratio publié qui fait partie des résultats.</a:t>
            </a:r>
            <a:endParaRPr lang="en-US" sz="2000" dirty="0"/>
          </a:p>
        </p:txBody>
      </p:sp>
      <p:sp>
        <p:nvSpPr>
          <p:cNvPr id="23" name="Text 2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Aucune mesure rejetée n'est cachée : la quarantaine est visible dans les archives gelées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07</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INSTRUMENT · UN SEUL BINAIRE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L'instrument complet tient dans un fichier exécutable, copiable d'un poste à l'autre.</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3514344" cy="1051560"/>
          </a:xfrm>
          <a:prstGeom prst="rect">
            <a:avLst/>
          </a:prstGeom>
          <a:noFill/>
          <a:ln/>
        </p:spPr>
        <p:txBody>
          <a:bodyPr wrap="square" lIns="0" tIns="0" rIns="0" bIns="0" rtlCol="0" anchor="ctr"/>
          <a:lstStyle/>
          <a:p>
            <a:pPr algn="ctr" indent="0" marL="0">
              <a:buNone/>
            </a:pPr>
            <a:r>
              <a:rPr lang="en-US" sz="4200" dirty="0">
                <a:solidFill>
                  <a:srgbClr val="262626"/>
                </a:solidFill>
                <a:latin typeface="Arial" pitchFamily="34" charset="0"/>
                <a:ea typeface="Arial" pitchFamily="34" charset="-122"/>
                <a:cs typeface="Arial" pitchFamily="34" charset="-120"/>
              </a:rPr>
              <a:t>13,7 Mo</a:t>
            </a:r>
            <a:endParaRPr lang="en-US" sz="4200" dirty="0"/>
          </a:p>
        </p:txBody>
      </p:sp>
      <p:sp>
        <p:nvSpPr>
          <p:cNvPr id="7" name="Text 5"/>
          <p:cNvSpPr/>
          <p:nvPr/>
        </p:nvSpPr>
        <p:spPr>
          <a:xfrm>
            <a:off x="868680"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BINAIRE STATIQUE MESURÉ, FRONTEND WEB EMBARQUÉ</a:t>
            </a:r>
            <a:endParaRPr lang="en-US" sz="1250" dirty="0"/>
          </a:p>
        </p:txBody>
      </p:sp>
      <p:sp>
        <p:nvSpPr>
          <p:cNvPr id="8" name="Text 6"/>
          <p:cNvSpPr/>
          <p:nvPr/>
        </p:nvSpPr>
        <p:spPr>
          <a:xfrm>
            <a:off x="4337304" y="3108960"/>
            <a:ext cx="3514344" cy="1051560"/>
          </a:xfrm>
          <a:prstGeom prst="rect">
            <a:avLst/>
          </a:prstGeom>
          <a:noFill/>
          <a:ln/>
        </p:spPr>
        <p:txBody>
          <a:bodyPr wrap="square" lIns="0" tIns="0" rIns="0" bIns="0" rtlCol="0" anchor="ctr"/>
          <a:lstStyle/>
          <a:p>
            <a:pPr algn="ctr" indent="0" marL="0">
              <a:buNone/>
            </a:pPr>
            <a:r>
              <a:rPr lang="en-US" sz="4200" dirty="0">
                <a:solidFill>
                  <a:srgbClr val="262626"/>
                </a:solidFill>
                <a:latin typeface="Arial" pitchFamily="34" charset="0"/>
                <a:ea typeface="Arial" pitchFamily="34" charset="-122"/>
                <a:cs typeface="Arial" pitchFamily="34" charset="-120"/>
              </a:rPr>
              <a:t>4 Go</a:t>
            </a:r>
            <a:endParaRPr lang="en-US" sz="4200" dirty="0"/>
          </a:p>
        </p:txBody>
      </p:sp>
      <p:sp>
        <p:nvSpPr>
          <p:cNvPr id="9" name="Text 7"/>
          <p:cNvSpPr/>
          <p:nvPr/>
        </p:nvSpPr>
        <p:spPr>
          <a:xfrm>
            <a:off x="4383024"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SERVEUR DU BANC : UBUNTU SERVER 24.04 LTS</a:t>
            </a:r>
            <a:endParaRPr lang="en-US" sz="1250" dirty="0"/>
          </a:p>
        </p:txBody>
      </p:sp>
      <p:sp>
        <p:nvSpPr>
          <p:cNvPr id="10" name="Text 8"/>
          <p:cNvSpPr/>
          <p:nvPr/>
        </p:nvSpPr>
        <p:spPr>
          <a:xfrm>
            <a:off x="7851648" y="3108960"/>
            <a:ext cx="3514344" cy="1051560"/>
          </a:xfrm>
          <a:prstGeom prst="rect">
            <a:avLst/>
          </a:prstGeom>
          <a:noFill/>
          <a:ln/>
        </p:spPr>
        <p:txBody>
          <a:bodyPr wrap="square" lIns="0" tIns="0" rIns="0" bIns="0" rtlCol="0" anchor="ctr"/>
          <a:lstStyle/>
          <a:p>
            <a:pPr algn="ctr" indent="0" marL="0">
              <a:buNone/>
            </a:pPr>
            <a:r>
              <a:rPr lang="en-US" sz="4200" dirty="0">
                <a:solidFill>
                  <a:srgbClr val="1C69D4"/>
                </a:solidFill>
                <a:latin typeface="Arial" pitchFamily="34" charset="0"/>
                <a:ea typeface="Arial" pitchFamily="34" charset="-122"/>
                <a:cs typeface="Arial" pitchFamily="34" charset="-120"/>
              </a:rPr>
              <a:t>SHA-256</a:t>
            </a:r>
            <a:endParaRPr lang="en-US" sz="4200" dirty="0"/>
          </a:p>
        </p:txBody>
      </p:sp>
      <p:sp>
        <p:nvSpPr>
          <p:cNvPr id="11" name="Text 9"/>
          <p:cNvSpPr/>
          <p:nvPr/>
        </p:nvSpPr>
        <p:spPr>
          <a:xfrm>
            <a:off x="7897368"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CHAQUE RÉSULTAT GELÉ, VÉRIFIABLE PAR UN TIERS</a:t>
            </a:r>
            <a:endParaRPr lang="en-US" sz="1250" dirty="0"/>
          </a:p>
        </p:txBody>
      </p:sp>
      <p:sp>
        <p:nvSpPr>
          <p:cNvPr id="12" name="Text 10"/>
          <p:cNvSpPr/>
          <p:nvPr/>
        </p:nvSpPr>
        <p:spPr>
          <a:xfrm>
            <a:off x="822960" y="5074920"/>
            <a:ext cx="10543032" cy="114300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Une coupure de courant n'invalide que l'événement en cours : la campagne reprend où elle s'était arrêtée, sans perdre une ligne déjà gelée. Le kit de déploiement compte dix-huit commandes, du diagnostic à la sauvegarde.</a:t>
            </a:r>
            <a:endParaRPr lang="en-US" sz="200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go:embed · cgo verify · reprise native par clé (run, événement)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08</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SUPERVISION · DIX FOIS PAR SECONDE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mesure se lit en direct : l'écart se creuse sous vos yeux pendant la charge.</a:t>
            </a:r>
            <a:endParaRPr lang="en-US" sz="2600" dirty="0"/>
          </a:p>
        </p:txBody>
      </p:sp>
      <p:pic>
        <p:nvPicPr>
          <p:cNvPr id="5" name="Image 0" descr="C:\cgo\book\figures\shot-live.png">    </p:cNvPr>
          <p:cNvPicPr>
            <a:picLocks noChangeAspect="1"/>
          </p:cNvPicPr>
          <p:nvPr/>
        </p:nvPicPr>
        <p:blipFill>
          <a:blip r:embed="rId1"/>
          <a:stretch>
            <a:fillRect/>
          </a:stretch>
        </p:blipFill>
        <p:spPr>
          <a:xfrm>
            <a:off x="2965196" y="2103120"/>
            <a:ext cx="6258560" cy="352044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Vue live : cartes de latence et débit, mur de comparaison référence contre configuration testée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09</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RÉGULARITÉ · QDI</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L'écart p95-médiane tombe de 57 à 13 millisecondes : le lien devient surveillable.</a:t>
            </a:r>
            <a:endParaRPr lang="en-US" sz="2600" dirty="0"/>
          </a:p>
        </p:txBody>
      </p:sp>
      <p:pic>
        <p:nvPicPr>
          <p:cNvPr id="5" name="Image 0" descr="C:\cgo\book\figures\figR3-qdi.png">    </p:cNvPr>
          <p:cNvPicPr>
            <a:picLocks noChangeAspect="1"/>
          </p:cNvPicPr>
          <p:nvPr/>
        </p:nvPicPr>
        <p:blipFill>
          <a:blip r:embed="rId1"/>
          <a:stretch>
            <a:fillRect/>
          </a:stretch>
        </p:blipFill>
        <p:spPr>
          <a:xfrm>
            <a:off x="2918924" y="2148840"/>
            <a:ext cx="6351104" cy="324612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QDI 52,5 ms sous file simple · 13 à 14 ms sous disciplines actives, profil 4G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10</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VOIX · MODÈLE E, UIT-T G.107</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score R situe chaque classe de lien : seules la physique et la gigue décident.</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92,9</a:t>
            </a:r>
            <a:endParaRPr lang="en-US" sz="4400" dirty="0"/>
          </a:p>
        </p:txBody>
      </p:sp>
      <p:sp>
        <p:nvSpPr>
          <p:cNvPr id="7" name="Text 5"/>
          <p:cNvSpPr/>
          <p:nvPr/>
        </p:nvSpPr>
        <p:spPr>
          <a:xfrm>
            <a:off x="868680"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FIBRE INSTITUTIONNELLE AU REPOS</a:t>
            </a:r>
            <a:endParaRPr lang="en-US" sz="1250" dirty="0"/>
          </a:p>
        </p:txBody>
      </p:sp>
      <p:sp>
        <p:nvSpPr>
          <p:cNvPr id="8" name="Text 6"/>
          <p:cNvSpPr/>
          <p:nvPr/>
        </p:nvSpPr>
        <p:spPr>
          <a:xfrm>
            <a:off x="3458718"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92,1</a:t>
            </a:r>
            <a:endParaRPr lang="en-US" sz="4400" dirty="0"/>
          </a:p>
        </p:txBody>
      </p:sp>
      <p:sp>
        <p:nvSpPr>
          <p:cNvPr id="9" name="Text 7"/>
          <p:cNvSpPr/>
          <p:nvPr/>
        </p:nvSpPr>
        <p:spPr>
          <a:xfrm>
            <a:off x="3504438"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ORBITE BASSE STARLINK</a:t>
            </a:r>
            <a:endParaRPr lang="en-US" sz="1250" dirty="0"/>
          </a:p>
        </p:txBody>
      </p:sp>
      <p:sp>
        <p:nvSpPr>
          <p:cNvPr id="10" name="Text 8"/>
          <p:cNvSpPr/>
          <p:nvPr/>
        </p:nvSpPr>
        <p:spPr>
          <a:xfrm>
            <a:off x="6094476"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91,4</a:t>
            </a:r>
            <a:endParaRPr lang="en-US" sz="4400" dirty="0"/>
          </a:p>
        </p:txBody>
      </p:sp>
      <p:sp>
        <p:nvSpPr>
          <p:cNvPr id="11" name="Text 9"/>
          <p:cNvSpPr/>
          <p:nvPr/>
        </p:nvSpPr>
        <p:spPr>
          <a:xfrm>
            <a:off x="6140196"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CELLULAIRE 4G AU REPOS</a:t>
            </a:r>
            <a:endParaRPr lang="en-US" sz="1250" dirty="0"/>
          </a:p>
        </p:txBody>
      </p:sp>
      <p:sp>
        <p:nvSpPr>
          <p:cNvPr id="12" name="Text 10"/>
          <p:cNvSpPr/>
          <p:nvPr/>
        </p:nvSpPr>
        <p:spPr>
          <a:xfrm>
            <a:off x="8730234"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71,5</a:t>
            </a:r>
            <a:endParaRPr lang="en-US" sz="4400" dirty="0"/>
          </a:p>
        </p:txBody>
      </p:sp>
      <p:sp>
        <p:nvSpPr>
          <p:cNvPr id="13" name="Text 11"/>
          <p:cNvSpPr/>
          <p:nvPr/>
        </p:nvSpPr>
        <p:spPr>
          <a:xfrm>
            <a:off x="8775954"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VSAT GÉOSTATIONNAIRE : SOUS LA BARRE, PAR PHYSIQUE</a:t>
            </a:r>
            <a:endParaRPr lang="en-US" sz="1250" dirty="0"/>
          </a:p>
        </p:txBody>
      </p:sp>
      <p:sp>
        <p:nvSpPr>
          <p:cNvPr id="14" name="Text 12"/>
          <p:cNvSpPr/>
          <p:nvPr/>
        </p:nvSpPr>
        <p:spPr>
          <a:xfrm>
            <a:off x="822960" y="5120640"/>
            <a:ext cx="10543032" cy="109728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Au-delà de 177,3 millisecondes d'aller simple, le modèle devient sévère : le satellite géostationnaire reste sous la barre de qualité élevée, et aucun réglage local ne peut relever un délai de propagation. Les campagnes mesurent la chute de chaque profil sous charge.</a:t>
            </a:r>
            <a:endParaRPr lang="en-US" sz="2000" dirty="0"/>
          </a:p>
        </p:txBody>
      </p:sp>
      <p:sp>
        <p:nvSpPr>
          <p:cNvPr id="15" name="Text 1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R = 93,2 − Id − Ij − Ie · scores théoriques calculés, implémentés et testés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11</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ORBITE BASSE · STARLINK</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L'orbite basse ramène le plancher de latence de 600 à 40 millisecondes : la difficulté se déplace vers la gigue.</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5271516" cy="1143000"/>
          </a:xfrm>
          <a:prstGeom prst="rect">
            <a:avLst/>
          </a:prstGeom>
          <a:noFill/>
          <a:ln/>
        </p:spPr>
        <p:txBody>
          <a:bodyPr wrap="square" lIns="0" tIns="0" rIns="0" bIns="0" rtlCol="0" anchor="ctr"/>
          <a:lstStyle/>
          <a:p>
            <a:pPr algn="ctr" indent="0" marL="0">
              <a:buNone/>
            </a:pPr>
            <a:r>
              <a:rPr lang="en-US" sz="4600" dirty="0">
                <a:solidFill>
                  <a:srgbClr val="262626"/>
                </a:solidFill>
                <a:latin typeface="Arial" pitchFamily="34" charset="0"/>
                <a:ea typeface="Arial" pitchFamily="34" charset="-122"/>
                <a:cs typeface="Arial" pitchFamily="34" charset="-120"/>
              </a:rPr>
              <a:t>600 ms</a:t>
            </a:r>
            <a:endParaRPr lang="en-US" sz="4600" dirty="0"/>
          </a:p>
        </p:txBody>
      </p:sp>
      <p:sp>
        <p:nvSpPr>
          <p:cNvPr id="7" name="Text 5"/>
          <p:cNvSpPr/>
          <p:nvPr/>
        </p:nvSpPr>
        <p:spPr>
          <a:xfrm>
            <a:off x="868680" y="4306824"/>
            <a:ext cx="5180076"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VSAT GÉOSTATIONNAIRE : HORS D'ATTEINTE DE TOUTE CONFIGURATION</a:t>
            </a:r>
            <a:endParaRPr lang="en-US" sz="1250" dirty="0"/>
          </a:p>
        </p:txBody>
      </p:sp>
      <p:sp>
        <p:nvSpPr>
          <p:cNvPr id="8" name="Text 6"/>
          <p:cNvSpPr/>
          <p:nvPr/>
        </p:nvSpPr>
        <p:spPr>
          <a:xfrm>
            <a:off x="6094476" y="3108960"/>
            <a:ext cx="5271516" cy="1143000"/>
          </a:xfrm>
          <a:prstGeom prst="rect">
            <a:avLst/>
          </a:prstGeom>
          <a:noFill/>
          <a:ln/>
        </p:spPr>
        <p:txBody>
          <a:bodyPr wrap="square" lIns="0" tIns="0" rIns="0" bIns="0" rtlCol="0" anchor="ctr"/>
          <a:lstStyle/>
          <a:p>
            <a:pPr algn="ctr" indent="0" marL="0">
              <a:buNone/>
            </a:pPr>
            <a:r>
              <a:rPr lang="en-US" sz="4600" dirty="0">
                <a:solidFill>
                  <a:srgbClr val="1C69D4"/>
                </a:solidFill>
                <a:latin typeface="Arial" pitchFamily="34" charset="0"/>
                <a:ea typeface="Arial" pitchFamily="34" charset="-122"/>
                <a:cs typeface="Arial" pitchFamily="34" charset="-120"/>
              </a:rPr>
              <a:t>40 ms</a:t>
            </a:r>
            <a:endParaRPr lang="en-US" sz="4600" dirty="0"/>
          </a:p>
        </p:txBody>
      </p:sp>
      <p:sp>
        <p:nvSpPr>
          <p:cNvPr id="9" name="Text 7"/>
          <p:cNvSpPr/>
          <p:nvPr/>
        </p:nvSpPr>
        <p:spPr>
          <a:xfrm>
            <a:off x="6140196" y="4306824"/>
            <a:ext cx="5180076"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ORBITE BASSE : LA FENÊTRE DE LATENCE UTILE S'OUVRE</a:t>
            </a:r>
            <a:endParaRPr lang="en-US" sz="1250" dirty="0"/>
          </a:p>
        </p:txBody>
      </p:sp>
      <p:sp>
        <p:nvSpPr>
          <p:cNvPr id="10" name="Text 8"/>
          <p:cNvSpPr/>
          <p:nvPr/>
        </p:nvSpPr>
        <p:spPr>
          <a:xfrm>
            <a:off x="822960" y="4937760"/>
            <a:ext cx="10543032" cy="109728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La gigue des relais entre satellites reste à surveiller : QDI mesuré de 17,1 à 18,5 millisecondes sur le profil P4, un phénomène de couche physique que la discipline de file ne crée pas et ne peut corriger.</a:t>
            </a:r>
            <a:endParaRPr lang="en-US" sz="2000" dirty="0"/>
          </a:p>
        </p:txBody>
      </p:sp>
      <p:sp>
        <p:nvSpPr>
          <p:cNvPr id="11" name="Text 9"/>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Profil P4 : 100 Mb/s, 40 ms, gigue 20 ms · score R 92,1-92,2</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COÛT DU GASPILLAGE · ARIARY PAR HEURE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gaspillage se chiffre au tarif réel du forfait : la protection se paie en paquets écartés, pas en débit.</a:t>
            </a:r>
            <a:endParaRPr lang="en-US" sz="2600" dirty="0"/>
          </a:p>
        </p:txBody>
      </p:sp>
      <p:pic>
        <p:nvPicPr>
          <p:cNvPr id="5" name="Image 0" descr="C:\cgo\book\figures\figR4-tarifs.png">    </p:cNvPr>
          <p:cNvPicPr>
            <a:picLocks noChangeAspect="1"/>
          </p:cNvPicPr>
          <p:nvPr/>
        </p:nvPicPr>
        <p:blipFill>
          <a:blip r:embed="rId1"/>
          <a:stretch>
            <a:fillRect/>
          </a:stretch>
        </p:blipFill>
        <p:spPr>
          <a:xfrm>
            <a:off x="2763447" y="2103120"/>
            <a:ext cx="6662057" cy="310896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66,40 Ar/h file simple · 355,60 Ar/h CAKE · 823,10 Ar/h fq_codel · palier mensuel 4,5 Go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LECTURE · VERDICT CALCULÉ</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classement traduit chaque cellule en verdict en mots et prescription copiable.</a:t>
            </a:r>
            <a:endParaRPr lang="en-US" sz="2600" dirty="0"/>
          </a:p>
        </p:txBody>
      </p:sp>
      <p:pic>
        <p:nvPicPr>
          <p:cNvPr id="5" name="Image 0" descr="C:\cgo\book\figures\shot-resultats.png">    </p:cNvPr>
          <p:cNvPicPr>
            <a:picLocks noChangeAspect="1"/>
          </p:cNvPicPr>
          <p:nvPr/>
        </p:nvPicPr>
        <p:blipFill>
          <a:blip r:embed="rId1"/>
          <a:stretch>
            <a:fillRect/>
          </a:stretch>
        </p:blipFill>
        <p:spPr>
          <a:xfrm>
            <a:off x="3087116" y="2377440"/>
            <a:ext cx="6014720" cy="338328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Vue résultats : épinglage A/B, verdict « échéance tenue à 98 % · CAKE calé sous la capacité mesurée »</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PRESCRIPTION · ÉQUIPEMENTS MAÎTRISÉS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Une ligne de configuration sur le routeur du site, réversible en cinq minutes.</a:t>
            </a:r>
            <a:endParaRPr lang="en-US" sz="2600" dirty="0"/>
          </a:p>
        </p:txBody>
      </p:sp>
      <p:sp>
        <p:nvSpPr>
          <p:cNvPr id="5" name="Shape 3"/>
          <p:cNvSpPr/>
          <p:nvPr/>
        </p:nvSpPr>
        <p:spPr>
          <a:xfrm>
            <a:off x="822960" y="2514600"/>
            <a:ext cx="10543032" cy="960120"/>
          </a:xfrm>
          <a:prstGeom prst="rect">
            <a:avLst/>
          </a:prstGeom>
          <a:solidFill>
            <a:srgbClr val="FAFAFA"/>
          </a:solidFill>
          <a:ln w="12700">
            <a:solidFill>
              <a:srgbClr val="E0E0E0"/>
            </a:solidFill>
            <a:prstDash val="solid"/>
          </a:ln>
        </p:spPr>
      </p:sp>
      <p:sp>
        <p:nvSpPr>
          <p:cNvPr id="6" name="Text 4"/>
          <p:cNvSpPr/>
          <p:nvPr/>
        </p:nvSpPr>
        <p:spPr>
          <a:xfrm>
            <a:off x="1051560" y="2514600"/>
            <a:ext cx="10085832" cy="960120"/>
          </a:xfrm>
          <a:prstGeom prst="rect">
            <a:avLst/>
          </a:prstGeom>
          <a:noFill/>
          <a:ln/>
        </p:spPr>
        <p:txBody>
          <a:bodyPr wrap="square" lIns="0" tIns="0" rIns="0" bIns="0" rtlCol="0" anchor="ctr"/>
          <a:lstStyle/>
          <a:p>
            <a:pPr indent="0" marL="0">
              <a:buNone/>
            </a:pPr>
            <a:r>
              <a:rPr lang="en-US" sz="2100" dirty="0">
                <a:solidFill>
                  <a:srgbClr val="262626"/>
                </a:solidFill>
                <a:latin typeface="Courier New" pitchFamily="34" charset="0"/>
                <a:ea typeface="Courier New" pitchFamily="34" charset="-122"/>
                <a:cs typeface="Courier New" pitchFamily="34" charset="-120"/>
              </a:rPr>
              <a:t>tc qdisc replace dev eth0 root cake bandwidth 18mbit</a:t>
            </a:r>
            <a:endParaRPr lang="en-US" sz="2100" dirty="0"/>
          </a:p>
        </p:txBody>
      </p:sp>
      <p:sp>
        <p:nvSpPr>
          <p:cNvPr id="7" name="Shape 5"/>
          <p:cNvSpPr/>
          <p:nvPr/>
        </p:nvSpPr>
        <p:spPr>
          <a:xfrm>
            <a:off x="822960" y="3959352"/>
            <a:ext cx="10543032" cy="12802"/>
          </a:xfrm>
          <a:prstGeom prst="rect">
            <a:avLst/>
          </a:prstGeom>
          <a:solidFill>
            <a:srgbClr val="E0E0E0"/>
          </a:solidFill>
          <a:ln/>
        </p:spPr>
      </p:sp>
      <p:sp>
        <p:nvSpPr>
          <p:cNvPr id="8" name="Text 6"/>
          <p:cNvSpPr/>
          <p:nvPr/>
        </p:nvSpPr>
        <p:spPr>
          <a:xfrm>
            <a:off x="822960" y="416052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0 Ar</a:t>
            </a:r>
            <a:endParaRPr lang="en-US" sz="3800" dirty="0"/>
          </a:p>
        </p:txBody>
      </p:sp>
      <p:sp>
        <p:nvSpPr>
          <p:cNvPr id="9" name="Text 7"/>
          <p:cNvSpPr/>
          <p:nvPr/>
        </p:nvSpPr>
        <p:spPr>
          <a:xfrm>
            <a:off x="868680"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COÛT D'ÉQUIPEMENT : LE RÉGLAGE EXISTE DÉJÀ DANS LINUX</a:t>
            </a:r>
            <a:endParaRPr lang="en-US" sz="1250" dirty="0"/>
          </a:p>
        </p:txBody>
      </p:sp>
      <p:sp>
        <p:nvSpPr>
          <p:cNvPr id="10" name="Text 8"/>
          <p:cNvSpPr/>
          <p:nvPr/>
        </p:nvSpPr>
        <p:spPr>
          <a:xfrm>
            <a:off x="4337304" y="4160520"/>
            <a:ext cx="3514344" cy="1005840"/>
          </a:xfrm>
          <a:prstGeom prst="rect">
            <a:avLst/>
          </a:prstGeom>
          <a:noFill/>
          <a:ln/>
        </p:spPr>
        <p:txBody>
          <a:bodyPr wrap="square" lIns="0" tIns="0" rIns="0" bIns="0" rtlCol="0" anchor="ctr"/>
          <a:lstStyle/>
          <a:p>
            <a:pPr algn="ctr" indent="0" marL="0">
              <a:buNone/>
            </a:pPr>
            <a:r>
              <a:rPr lang="en-US" sz="3800" dirty="0">
                <a:solidFill>
                  <a:srgbClr val="1C69D4"/>
                </a:solidFill>
                <a:latin typeface="Arial" pitchFamily="34" charset="0"/>
                <a:ea typeface="Arial" pitchFamily="34" charset="-122"/>
                <a:cs typeface="Arial" pitchFamily="34" charset="-120"/>
              </a:rPr>
              <a:t>90 %</a:t>
            </a:r>
            <a:endParaRPr lang="en-US" sz="3800" dirty="0"/>
          </a:p>
        </p:txBody>
      </p:sp>
      <p:sp>
        <p:nvSpPr>
          <p:cNvPr id="11" name="Text 9"/>
          <p:cNvSpPr/>
          <p:nvPr/>
        </p:nvSpPr>
        <p:spPr>
          <a:xfrm>
            <a:off x="4383024"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CAPACITÉ CALÉE SOUS LA CAPACITÉ MESURÉE DU LIEN</a:t>
            </a:r>
            <a:endParaRPr lang="en-US" sz="1250" dirty="0"/>
          </a:p>
        </p:txBody>
      </p:sp>
      <p:sp>
        <p:nvSpPr>
          <p:cNvPr id="12" name="Text 10"/>
          <p:cNvSpPr/>
          <p:nvPr/>
        </p:nvSpPr>
        <p:spPr>
          <a:xfrm>
            <a:off x="7851648" y="416052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5 min</a:t>
            </a:r>
            <a:endParaRPr lang="en-US" sz="3800" dirty="0"/>
          </a:p>
        </p:txBody>
      </p:sp>
      <p:sp>
        <p:nvSpPr>
          <p:cNvPr id="13" name="Text 11"/>
          <p:cNvSpPr/>
          <p:nvPr/>
        </p:nvSpPr>
        <p:spPr>
          <a:xfrm>
            <a:off x="7897368"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FENÊTRE DE MAINTENANCE, RETOUR ARRIÈRE IMMÉDIAT</a:t>
            </a:r>
            <a:endParaRPr lang="en-US" sz="1250" dirty="0"/>
          </a:p>
        </p:txBody>
      </p:sp>
      <p:sp>
        <p:nvSpPr>
          <p:cNvPr id="14" name="Text 12"/>
          <p:cNvSpPr/>
          <p:nvPr/>
        </p:nvSpPr>
        <p:spPr>
          <a:xfrm>
            <a:off x="822960" y="5806440"/>
            <a:ext cx="10543032" cy="731520"/>
          </a:xfrm>
          <a:prstGeom prst="rect">
            <a:avLst/>
          </a:prstGeom>
          <a:noFill/>
          <a:ln/>
        </p:spPr>
        <p:txBody>
          <a:bodyPr wrap="square" lIns="0" tIns="0" rIns="0" bIns="0" rtlCol="0" anchor="t"/>
          <a:lstStyle/>
          <a:p>
            <a:pPr indent="0" marL="0">
              <a:lnSpc>
                <a:spcPts val="2500"/>
              </a:lnSpc>
              <a:buNone/>
            </a:pPr>
            <a:r>
              <a:rPr lang="en-US" sz="1900" dirty="0">
                <a:solidFill>
                  <a:srgbClr val="404040"/>
                </a:solidFill>
                <a:latin typeface="Arial" pitchFamily="34" charset="0"/>
                <a:ea typeface="Arial" pitchFamily="34" charset="-122"/>
                <a:cs typeface="Arial" pitchFamily="34" charset="-120"/>
              </a:rPr>
              <a:t>L'instrument devient sentinelle : toute requête au-delà de l'échéance alerte au journal de supervision.</a:t>
            </a:r>
            <a:endParaRPr lang="en-US" sz="1900" dirty="0"/>
          </a:p>
        </p:txBody>
      </p:sp>
      <p:sp>
        <p:nvSpPr>
          <p:cNvPr id="15" name="Text 1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Équivalent RouterOS 7 : file CAKE à l'interface d'accès · prescription limitée aux équipements de la DSI</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CONTRIBUTIONS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Un instrument, un jeu de mesures, une méthode de preuve : trois apports au contexte malgache.</a:t>
            </a:r>
            <a:endParaRPr lang="en-US" sz="2600" dirty="0"/>
          </a:p>
        </p:txBody>
      </p:sp>
      <p:sp>
        <p:nvSpPr>
          <p:cNvPr id="5" name="Shape 3"/>
          <p:cNvSpPr/>
          <p:nvPr/>
        </p:nvSpPr>
        <p:spPr>
          <a:xfrm>
            <a:off x="822960" y="2423160"/>
            <a:ext cx="3331464" cy="12802"/>
          </a:xfrm>
          <a:prstGeom prst="rect">
            <a:avLst/>
          </a:prstGeom>
          <a:solidFill>
            <a:srgbClr val="E0E0E0"/>
          </a:solidFill>
          <a:ln/>
        </p:spPr>
      </p:sp>
      <p:sp>
        <p:nvSpPr>
          <p:cNvPr id="6" name="Text 4"/>
          <p:cNvSpPr/>
          <p:nvPr/>
        </p:nvSpPr>
        <p:spPr>
          <a:xfrm>
            <a:off x="822960"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UN INSTRUMENT</a:t>
            </a:r>
            <a:endParaRPr lang="en-US" sz="1400" dirty="0"/>
          </a:p>
        </p:txBody>
      </p:sp>
      <p:sp>
        <p:nvSpPr>
          <p:cNvPr id="7" name="Text 5"/>
          <p:cNvSpPr/>
          <p:nvPr/>
        </p:nvSpPr>
        <p:spPr>
          <a:xfrm>
            <a:off x="822960"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Un binaire unique : audit, banc, supervision et vérification d'archives, sans dépendance d'exécution.</a:t>
            </a:r>
            <a:endParaRPr lang="en-US" sz="1900" dirty="0"/>
          </a:p>
        </p:txBody>
      </p:sp>
      <p:sp>
        <p:nvSpPr>
          <p:cNvPr id="8" name="Shape 6"/>
          <p:cNvSpPr/>
          <p:nvPr/>
        </p:nvSpPr>
        <p:spPr>
          <a:xfrm>
            <a:off x="4428744" y="2423160"/>
            <a:ext cx="3331464" cy="12802"/>
          </a:xfrm>
          <a:prstGeom prst="rect">
            <a:avLst/>
          </a:prstGeom>
          <a:solidFill>
            <a:srgbClr val="E0E0E0"/>
          </a:solidFill>
          <a:ln/>
        </p:spPr>
      </p:sp>
      <p:sp>
        <p:nvSpPr>
          <p:cNvPr id="9" name="Text 7"/>
          <p:cNvSpPr/>
          <p:nvPr/>
        </p:nvSpPr>
        <p:spPr>
          <a:xfrm>
            <a:off x="4428744"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DES RÉSULTATS</a:t>
            </a:r>
            <a:endParaRPr lang="en-US" sz="1400" dirty="0"/>
          </a:p>
        </p:txBody>
      </p:sp>
      <p:sp>
        <p:nvSpPr>
          <p:cNvPr id="10" name="Text 8"/>
          <p:cNvSpPr/>
          <p:nvPr/>
        </p:nvSpPr>
        <p:spPr>
          <a:xfrm>
            <a:off x="4428744"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Les premières mesures comparatives de disciplines de file sur des profils malgaches, aux tarifs réels de 2026.</a:t>
            </a:r>
            <a:endParaRPr lang="en-US" sz="1900" dirty="0"/>
          </a:p>
        </p:txBody>
      </p:sp>
      <p:sp>
        <p:nvSpPr>
          <p:cNvPr id="11" name="Shape 9"/>
          <p:cNvSpPr/>
          <p:nvPr/>
        </p:nvSpPr>
        <p:spPr>
          <a:xfrm>
            <a:off x="8034528" y="2423160"/>
            <a:ext cx="3331464" cy="12802"/>
          </a:xfrm>
          <a:prstGeom prst="rect">
            <a:avLst/>
          </a:prstGeom>
          <a:solidFill>
            <a:srgbClr val="E0E0E0"/>
          </a:solidFill>
          <a:ln/>
        </p:spPr>
      </p:sp>
      <p:sp>
        <p:nvSpPr>
          <p:cNvPr id="12" name="Text 10"/>
          <p:cNvSpPr/>
          <p:nvPr/>
        </p:nvSpPr>
        <p:spPr>
          <a:xfrm>
            <a:off x="8034528"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UNE MÉTHODE</a:t>
            </a:r>
            <a:endParaRPr lang="en-US" sz="1400" dirty="0"/>
          </a:p>
        </p:txBody>
      </p:sp>
      <p:sp>
        <p:nvSpPr>
          <p:cNvPr id="13" name="Text 11"/>
          <p:cNvSpPr/>
          <p:nvPr/>
        </p:nvSpPr>
        <p:spPr>
          <a:xfrm>
            <a:off x="8034528"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La preuve par archives gelées et empreintes vérifiables : chaque chiffre se recalcule depuis ce qui a été mesuré.</a:t>
            </a:r>
            <a:endParaRPr lang="en-US" sz="1900" dirty="0"/>
          </a:p>
        </p:txBody>
      </p:sp>
      <p:sp>
        <p:nvSpPr>
          <p:cNvPr id="14" name="Text 12"/>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Dépôt public, licence libre · chaque affirmation du mémoire se ramène à des fichiers vérifiables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LIMITES · ASSUMÉES ET PUBLIÉES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Cinq bornes délimitent le champ : elles sont dans le mémoire, avec leur impact.</a:t>
            </a:r>
            <a:endParaRPr lang="en-US" sz="2600" dirty="0"/>
          </a:p>
        </p:txBody>
      </p:sp>
      <p:sp>
        <p:nvSpPr>
          <p:cNvPr id="5" name="Text 3"/>
          <p:cNvSpPr/>
          <p:nvPr/>
        </p:nvSpPr>
        <p:spPr>
          <a:xfrm>
            <a:off x="822960" y="2286000"/>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Métriques ciblées : l'équité inter-flux est écartée par construction, le protocole utilise un flux de charge unique.</a:t>
            </a:r>
            <a:endParaRPr lang="en-US" sz="1800" dirty="0"/>
          </a:p>
        </p:txBody>
      </p:sp>
      <p:sp>
        <p:nvSpPr>
          <p:cNvPr id="6" name="Text 4"/>
          <p:cNvSpPr/>
          <p:nvPr/>
        </p:nvSpPr>
        <p:spPr>
          <a:xfrm>
            <a:off x="822960" y="3072384"/>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Répétitions : une par cellule en campagne finale ; trois répétitions systématiques sont la première perspective.</a:t>
            </a:r>
            <a:endParaRPr lang="en-US" sz="1800" dirty="0"/>
          </a:p>
        </p:txBody>
      </p:sp>
      <p:sp>
        <p:nvSpPr>
          <p:cNvPr id="7" name="Text 5"/>
          <p:cNvSpPr/>
          <p:nvPr/>
        </p:nvSpPr>
        <p:spPr>
          <a:xfrm>
            <a:off x="822960" y="3858768"/>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Fenêtre de charge : 120 secondes, pas la saturation prolongée d'une journée.</a:t>
            </a:r>
            <a:endParaRPr lang="en-US" sz="1800" dirty="0"/>
          </a:p>
        </p:txBody>
      </p:sp>
      <p:sp>
        <p:nvSpPr>
          <p:cNvPr id="8" name="Text 6"/>
          <p:cNvSpPr/>
          <p:nvPr/>
        </p:nvSpPr>
        <p:spPr>
          <a:xfrm>
            <a:off x="822960" y="4645152"/>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Trafic synthétique : un flux bulk ne reproduit pas le multiplexage réel des applications.</a:t>
            </a:r>
            <a:endParaRPr lang="en-US" sz="1800" dirty="0"/>
          </a:p>
        </p:txBody>
      </p:sp>
      <p:sp>
        <p:nvSpPr>
          <p:cNvPr id="9" name="Text 7"/>
          <p:cNvSpPr/>
          <p:nvPr/>
        </p:nvSpPr>
        <p:spPr>
          <a:xfrm>
            <a:off x="822960" y="5431536"/>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Banc netem : le lien d'accès est reconstitué, la couche radio ne l'est pas.</a:t>
            </a:r>
            <a:endParaRPr lang="en-US" sz="1800" dirty="0"/>
          </a:p>
        </p:txBody>
      </p:sp>
      <p:sp>
        <p:nvSpPr>
          <p:cNvPr id="10" name="Text 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Ces bornes n'invalident pas les comparaisons : elles s'exécutent à conditions identiques et contrôlées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17</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CONCLUSION</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protection de la latence ne se paie pas en débit : elle se paie en paquets écartés, chiffrés en ariary.</a:t>
            </a:r>
            <a:endParaRPr lang="en-US" sz="2600" dirty="0"/>
          </a:p>
        </p:txBody>
      </p:sp>
      <p:sp>
        <p:nvSpPr>
          <p:cNvPr id="5" name="Shape 3"/>
          <p:cNvSpPr/>
          <p:nvPr/>
        </p:nvSpPr>
        <p:spPr>
          <a:xfrm>
            <a:off x="822960" y="2999232"/>
            <a:ext cx="10543032" cy="12802"/>
          </a:xfrm>
          <a:prstGeom prst="rect">
            <a:avLst/>
          </a:prstGeom>
          <a:solidFill>
            <a:srgbClr val="E0E0E0"/>
          </a:solidFill>
          <a:ln/>
        </p:spPr>
      </p:sp>
      <p:sp>
        <p:nvSpPr>
          <p:cNvPr id="6" name="Text 4"/>
          <p:cNvSpPr/>
          <p:nvPr/>
        </p:nvSpPr>
        <p:spPr>
          <a:xfrm>
            <a:off x="822960" y="3200400"/>
            <a:ext cx="3514344" cy="1051560"/>
          </a:xfrm>
          <a:prstGeom prst="rect">
            <a:avLst/>
          </a:prstGeom>
          <a:noFill/>
          <a:ln/>
        </p:spPr>
        <p:txBody>
          <a:bodyPr wrap="square" lIns="0" tIns="0" rIns="0" bIns="0" rtlCol="0" anchor="ctr"/>
          <a:lstStyle/>
          <a:p>
            <a:pPr algn="ctr" indent="0" marL="0">
              <a:buNone/>
            </a:pPr>
            <a:r>
              <a:rPr lang="en-US" sz="3600" dirty="0">
                <a:solidFill>
                  <a:srgbClr val="1C69D4"/>
                </a:solidFill>
                <a:latin typeface="Arial" pitchFamily="34" charset="0"/>
                <a:ea typeface="Arial" pitchFamily="34" charset="-122"/>
                <a:cs typeface="Arial" pitchFamily="34" charset="-120"/>
              </a:rPr>
              <a:t>60 → 98 %</a:t>
            </a:r>
            <a:endParaRPr lang="en-US" sz="3600" dirty="0"/>
          </a:p>
        </p:txBody>
      </p:sp>
      <p:sp>
        <p:nvSpPr>
          <p:cNvPr id="7" name="Text 5"/>
          <p:cNvSpPr/>
          <p:nvPr/>
        </p:nvSpPr>
        <p:spPr>
          <a:xfrm>
            <a:off x="868680"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REQUÊTES CRITIQUES À L'HEURE, FILE SIMPLE VERS CAKE, PROFIL 4G</a:t>
            </a:r>
            <a:endParaRPr lang="en-US" sz="1250" dirty="0"/>
          </a:p>
        </p:txBody>
      </p:sp>
      <p:sp>
        <p:nvSpPr>
          <p:cNvPr id="8" name="Text 6"/>
          <p:cNvSpPr/>
          <p:nvPr/>
        </p:nvSpPr>
        <p:spPr>
          <a:xfrm>
            <a:off x="4337304" y="3200400"/>
            <a:ext cx="3514344" cy="1051560"/>
          </a:xfrm>
          <a:prstGeom prst="rect">
            <a:avLst/>
          </a:prstGeom>
          <a:noFill/>
          <a:ln/>
        </p:spPr>
        <p:txBody>
          <a:bodyPr wrap="square" lIns="0" tIns="0" rIns="0" bIns="0" rtlCol="0" anchor="ctr"/>
          <a:lstStyle/>
          <a:p>
            <a:pPr algn="ctr" indent="0" marL="0">
              <a:buNone/>
            </a:pPr>
            <a:r>
              <a:rPr lang="en-US" sz="3600" dirty="0">
                <a:solidFill>
                  <a:srgbClr val="262626"/>
                </a:solidFill>
                <a:latin typeface="Arial" pitchFamily="34" charset="0"/>
                <a:ea typeface="Arial" pitchFamily="34" charset="-122"/>
                <a:cs typeface="Arial" pitchFamily="34" charset="-120"/>
              </a:rPr>
              <a:t>57 → 13 ms</a:t>
            </a:r>
            <a:endParaRPr lang="en-US" sz="3600" dirty="0"/>
          </a:p>
        </p:txBody>
      </p:sp>
      <p:sp>
        <p:nvSpPr>
          <p:cNvPr id="9" name="Text 7"/>
          <p:cNvSpPr/>
          <p:nvPr/>
        </p:nvSpPr>
        <p:spPr>
          <a:xfrm>
            <a:off x="4383024"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ÉCART DE RÉGULARITÉ : LE LIEN DEVIENT SURVEILLABLE</a:t>
            </a:r>
            <a:endParaRPr lang="en-US" sz="1250" dirty="0"/>
          </a:p>
        </p:txBody>
      </p:sp>
      <p:sp>
        <p:nvSpPr>
          <p:cNvPr id="10" name="Text 8"/>
          <p:cNvSpPr/>
          <p:nvPr/>
        </p:nvSpPr>
        <p:spPr>
          <a:xfrm>
            <a:off x="7851648" y="3200400"/>
            <a:ext cx="3514344" cy="1051560"/>
          </a:xfrm>
          <a:prstGeom prst="rect">
            <a:avLst/>
          </a:prstGeom>
          <a:noFill/>
          <a:ln/>
        </p:spPr>
        <p:txBody>
          <a:bodyPr wrap="square" lIns="0" tIns="0" rIns="0" bIns="0" rtlCol="0" anchor="ctr"/>
          <a:lstStyle/>
          <a:p>
            <a:pPr algn="ctr" indent="0" marL="0">
              <a:buNone/>
            </a:pPr>
            <a:r>
              <a:rPr lang="en-US" sz="3600" dirty="0">
                <a:solidFill>
                  <a:srgbClr val="262626"/>
                </a:solidFill>
                <a:latin typeface="Arial" pitchFamily="34" charset="0"/>
                <a:ea typeface="Arial" pitchFamily="34" charset="-122"/>
                <a:cs typeface="Arial" pitchFamily="34" charset="-120"/>
              </a:rPr>
              <a:t>18,2-19,5 Mb/s</a:t>
            </a:r>
            <a:endParaRPr lang="en-US" sz="3600" dirty="0"/>
          </a:p>
        </p:txBody>
      </p:sp>
      <p:sp>
        <p:nvSpPr>
          <p:cNvPr id="11" name="Text 9"/>
          <p:cNvSpPr/>
          <p:nvPr/>
        </p:nvSpPr>
        <p:spPr>
          <a:xfrm>
            <a:off x="7897368"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DÉBIT DE MASSE PRÉSERVÉ : LA PROTECTION EST GRATUITE EN VITESSE</a:t>
            </a:r>
            <a:endParaRPr lang="en-US" sz="1250" dirty="0"/>
          </a:p>
        </p:txBody>
      </p:sp>
      <p:sp>
        <p:nvSpPr>
          <p:cNvPr id="12" name="Text 10"/>
          <p:cNvSpPr/>
          <p:nvPr/>
        </p:nvSpPr>
        <p:spPr>
          <a:xfrm>
            <a:off x="822960" y="5166360"/>
            <a:ext cx="10543032" cy="1005840"/>
          </a:xfrm>
          <a:prstGeom prst="rect">
            <a:avLst/>
          </a:prstGeom>
          <a:noFill/>
          <a:ln/>
        </p:spPr>
        <p:txBody>
          <a:bodyPr wrap="square" lIns="0" tIns="0" rIns="0" bIns="0" rtlCol="0" anchor="t"/>
          <a:lstStyle/>
          <a:p>
            <a:pPr indent="0" marL="0">
              <a:lnSpc>
                <a:spcPts val="2800"/>
              </a:lnSpc>
              <a:buNone/>
            </a:pPr>
            <a:r>
              <a:rPr lang="en-US" sz="2100" dirty="0">
                <a:solidFill>
                  <a:srgbClr val="404040"/>
                </a:solidFill>
                <a:latin typeface="Arial" pitchFamily="34" charset="0"/>
                <a:ea typeface="Arial" pitchFamily="34" charset="-122"/>
                <a:cs typeface="Arial" pitchFamily="34" charset="-120"/>
              </a:rPr>
              <a:t>Le lien d'accès contraint n'est pas une fatalité : correctement configuré, le même abonnement prépayé transporte les alertes à l'heure et les modèles à volume.</a:t>
            </a:r>
            <a:endParaRPr lang="en-US" sz="210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La preuve est gelée, vérifiable, prête à être refaite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06794"/>
            <a:ext cx="4062984" cy="51206"/>
          </a:xfrm>
          <a:prstGeom prst="rect">
            <a:avLst/>
          </a:prstGeom>
          <a:solidFill>
            <a:srgbClr val="0066B1"/>
          </a:solidFill>
          <a:ln/>
        </p:spPr>
      </p:sp>
      <p:sp>
        <p:nvSpPr>
          <p:cNvPr id="3" name="Shape 1"/>
          <p:cNvSpPr/>
          <p:nvPr/>
        </p:nvSpPr>
        <p:spPr>
          <a:xfrm>
            <a:off x="4062984" y="6806794"/>
            <a:ext cx="4062984" cy="51206"/>
          </a:xfrm>
          <a:prstGeom prst="rect">
            <a:avLst/>
          </a:prstGeom>
          <a:solidFill>
            <a:srgbClr val="1C69D4"/>
          </a:solidFill>
          <a:ln/>
        </p:spPr>
      </p:sp>
      <p:sp>
        <p:nvSpPr>
          <p:cNvPr id="4" name="Shape 2"/>
          <p:cNvSpPr/>
          <p:nvPr/>
        </p:nvSpPr>
        <p:spPr>
          <a:xfrm>
            <a:off x="8125968" y="6806794"/>
            <a:ext cx="4062984" cy="51206"/>
          </a:xfrm>
          <a:prstGeom prst="rect">
            <a:avLst/>
          </a:prstGeom>
          <a:solidFill>
            <a:srgbClr val="E22718"/>
          </a:solidFill>
          <a:ln/>
        </p:spPr>
      </p:sp>
      <p:sp>
        <p:nvSpPr>
          <p:cNvPr id="5" name="Text 3"/>
          <p:cNvSpPr/>
          <p:nvPr/>
        </p:nvSpPr>
        <p:spPr>
          <a:xfrm>
            <a:off x="822960" y="2103120"/>
            <a:ext cx="10543032" cy="1645920"/>
          </a:xfrm>
          <a:prstGeom prst="rect">
            <a:avLst/>
          </a:prstGeom>
          <a:noFill/>
          <a:ln/>
        </p:spPr>
        <p:txBody>
          <a:bodyPr wrap="square" lIns="0" tIns="0" rIns="0" bIns="0" rtlCol="0" anchor="ctr"/>
          <a:lstStyle/>
          <a:p>
            <a:pPr indent="0" marL="0">
              <a:buNone/>
            </a:pPr>
            <a:r>
              <a:rPr lang="en-US" sz="9600" spc="200" kern="0" dirty="0">
                <a:solidFill>
                  <a:srgbClr val="262626"/>
                </a:solidFill>
                <a:latin typeface="Arial" pitchFamily="34" charset="0"/>
                <a:ea typeface="Arial" pitchFamily="34" charset="-122"/>
                <a:cs typeface="Arial" pitchFamily="34" charset="-120"/>
              </a:rPr>
              <a:t>MERCI</a:t>
            </a:r>
            <a:endParaRPr lang="en-US" sz="9600" dirty="0"/>
          </a:p>
        </p:txBody>
      </p:sp>
      <p:sp>
        <p:nvSpPr>
          <p:cNvPr id="6" name="Text 4"/>
          <p:cNvSpPr/>
          <p:nvPr/>
        </p:nvSpPr>
        <p:spPr>
          <a:xfrm>
            <a:off x="822960" y="4114800"/>
            <a:ext cx="9692640" cy="1188720"/>
          </a:xfrm>
          <a:prstGeom prst="rect">
            <a:avLst/>
          </a:prstGeom>
          <a:noFill/>
          <a:ln/>
        </p:spPr>
        <p:txBody>
          <a:bodyPr wrap="square" lIns="0" tIns="0" rIns="0" bIns="0" rtlCol="0" anchor="ctr"/>
          <a:lstStyle/>
          <a:p>
            <a:pPr indent="0" marL="0">
              <a:lnSpc>
                <a:spcPts val="2400"/>
              </a:lnSpc>
              <a:buNone/>
            </a:pPr>
            <a:r>
              <a:rPr lang="en-US" sz="1700" dirty="0">
                <a:solidFill>
                  <a:srgbClr val="757575"/>
                </a:solidFill>
                <a:latin typeface="Arial" pitchFamily="34" charset="0"/>
                <a:ea typeface="Arial" pitchFamily="34" charset="-122"/>
                <a:cs typeface="Arial" pitchFamily="34" charset="-120"/>
              </a:rPr>
              <a:t>Merci à Météo Madagascar pour l'accueil et les moyens du banc, à l'encadrement académique de la Mention Informatique de l'Université d'Antananarivo, et aux membres du jury pour leur lecture du mémoire.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19</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LES ÉQUATIONS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Sept équations définissent chaque indicateur, toutes variables déclarées.</a:t>
            </a:r>
            <a:endParaRPr lang="en-US" sz="2400" dirty="0"/>
          </a:p>
        </p:txBody>
      </p:sp>
      <p:sp>
        <p:nvSpPr>
          <p:cNvPr id="5" name="Shape 3"/>
          <p:cNvSpPr/>
          <p:nvPr/>
        </p:nvSpPr>
        <p:spPr>
          <a:xfrm>
            <a:off x="822960" y="2039112"/>
            <a:ext cx="10543032" cy="12802"/>
          </a:xfrm>
          <a:prstGeom prst="rect">
            <a:avLst/>
          </a:prstGeom>
          <a:solidFill>
            <a:srgbClr val="E0E0E0"/>
          </a:solidFill>
          <a:ln/>
        </p:spPr>
      </p:sp>
      <p:sp>
        <p:nvSpPr>
          <p:cNvPr id="6" name="Text 4"/>
          <p:cNvSpPr/>
          <p:nvPr/>
        </p:nvSpPr>
        <p:spPr>
          <a:xfrm>
            <a:off x="822960" y="2148840"/>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deadline_ok</a:t>
            </a:r>
            <a:endParaRPr lang="en-US" sz="1500" dirty="0"/>
          </a:p>
        </p:txBody>
      </p:sp>
      <p:sp>
        <p:nvSpPr>
          <p:cNvPr id="7" name="Text 5"/>
          <p:cNvSpPr/>
          <p:nvPr/>
        </p:nvSpPr>
        <p:spPr>
          <a:xfrm>
            <a:off x="5212080" y="2148840"/>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part des complétions sous l'échéance D, sur n mesures</a:t>
            </a:r>
            <a:endParaRPr lang="en-US" sz="1500" dirty="0"/>
          </a:p>
        </p:txBody>
      </p:sp>
      <p:sp>
        <p:nvSpPr>
          <p:cNvPr id="8" name="Shape 6"/>
          <p:cNvSpPr/>
          <p:nvPr/>
        </p:nvSpPr>
        <p:spPr>
          <a:xfrm>
            <a:off x="822960" y="2880360"/>
            <a:ext cx="10543032" cy="12802"/>
          </a:xfrm>
          <a:prstGeom prst="rect">
            <a:avLst/>
          </a:prstGeom>
          <a:solidFill>
            <a:srgbClr val="E0E0E0"/>
          </a:solidFill>
          <a:ln/>
        </p:spPr>
      </p:sp>
      <p:sp>
        <p:nvSpPr>
          <p:cNvPr id="9" name="Text 7"/>
          <p:cNvSpPr/>
          <p:nvPr/>
        </p:nvSpPr>
        <p:spPr>
          <a:xfrm>
            <a:off x="822960" y="2990088"/>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QDI</a:t>
            </a:r>
            <a:endParaRPr lang="en-US" sz="1500" dirty="0"/>
          </a:p>
        </p:txBody>
      </p:sp>
      <p:sp>
        <p:nvSpPr>
          <p:cNvPr id="10" name="Text 8"/>
          <p:cNvSpPr/>
          <p:nvPr/>
        </p:nvSpPr>
        <p:spPr>
          <a:xfrm>
            <a:off x="5212080" y="2990088"/>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p95(rtt) − p50(rtt) : la régularité du lien</a:t>
            </a:r>
            <a:endParaRPr lang="en-US" sz="1500" dirty="0"/>
          </a:p>
        </p:txBody>
      </p:sp>
      <p:sp>
        <p:nvSpPr>
          <p:cNvPr id="11" name="Shape 9"/>
          <p:cNvSpPr/>
          <p:nvPr/>
        </p:nvSpPr>
        <p:spPr>
          <a:xfrm>
            <a:off x="822960" y="3721608"/>
            <a:ext cx="10543032" cy="12802"/>
          </a:xfrm>
          <a:prstGeom prst="rect">
            <a:avLst/>
          </a:prstGeom>
          <a:solidFill>
            <a:srgbClr val="E0E0E0"/>
          </a:solidFill>
          <a:ln/>
        </p:spPr>
      </p:sp>
      <p:sp>
        <p:nvSpPr>
          <p:cNvPr id="12" name="Text 10"/>
          <p:cNvSpPr/>
          <p:nvPr/>
        </p:nvSpPr>
        <p:spPr>
          <a:xfrm>
            <a:off x="822960" y="3831336"/>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R = 93,2 − Id − Ij − Ie</a:t>
            </a:r>
            <a:endParaRPr lang="en-US" sz="1500" dirty="0"/>
          </a:p>
        </p:txBody>
      </p:sp>
      <p:sp>
        <p:nvSpPr>
          <p:cNvPr id="13" name="Text 11"/>
          <p:cNvSpPr/>
          <p:nvPr/>
        </p:nvSpPr>
        <p:spPr>
          <a:xfrm>
            <a:off x="5212080" y="3831336"/>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modèle E (UIT-T G.107), seuil de sévérité à 177,3 ms</a:t>
            </a:r>
            <a:endParaRPr lang="en-US" sz="1500" dirty="0"/>
          </a:p>
        </p:txBody>
      </p:sp>
      <p:sp>
        <p:nvSpPr>
          <p:cNvPr id="14" name="Shape 12"/>
          <p:cNvSpPr/>
          <p:nvPr/>
        </p:nvSpPr>
        <p:spPr>
          <a:xfrm>
            <a:off x="822960" y="4562856"/>
            <a:ext cx="10543032" cy="12802"/>
          </a:xfrm>
          <a:prstGeom prst="rect">
            <a:avLst/>
          </a:prstGeom>
          <a:solidFill>
            <a:srgbClr val="E0E0E0"/>
          </a:solidFill>
          <a:ln/>
        </p:spPr>
      </p:sp>
      <p:sp>
        <p:nvSpPr>
          <p:cNvPr id="15" name="Text 13"/>
          <p:cNvSpPr/>
          <p:nvPr/>
        </p:nvSpPr>
        <p:spPr>
          <a:xfrm>
            <a:off x="822960" y="4672584"/>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Id, Ij, Ie</a:t>
            </a:r>
            <a:endParaRPr lang="en-US" sz="1500" dirty="0"/>
          </a:p>
        </p:txBody>
      </p:sp>
      <p:sp>
        <p:nvSpPr>
          <p:cNvPr id="16" name="Text 14"/>
          <p:cNvSpPr/>
          <p:nvPr/>
        </p:nvSpPr>
        <p:spPr>
          <a:xfrm>
            <a:off x="5212080" y="4672584"/>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dégradation de délai, de gigue, de perte (G.711)</a:t>
            </a:r>
            <a:endParaRPr lang="en-US" sz="1500" dirty="0"/>
          </a:p>
        </p:txBody>
      </p:sp>
      <p:sp>
        <p:nvSpPr>
          <p:cNvPr id="17" name="Shape 15"/>
          <p:cNvSpPr/>
          <p:nvPr/>
        </p:nvSpPr>
        <p:spPr>
          <a:xfrm>
            <a:off x="822960" y="5404104"/>
            <a:ext cx="10543032" cy="12802"/>
          </a:xfrm>
          <a:prstGeom prst="rect">
            <a:avLst/>
          </a:prstGeom>
          <a:solidFill>
            <a:srgbClr val="E0E0E0"/>
          </a:solidFill>
          <a:ln/>
        </p:spPr>
      </p:sp>
      <p:sp>
        <p:nvSpPr>
          <p:cNvPr id="18" name="Text 16"/>
          <p:cNvSpPr/>
          <p:nvPr/>
        </p:nvSpPr>
        <p:spPr>
          <a:xfrm>
            <a:off x="822960" y="5513832"/>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coût/h = w/2³⁰ × prix/Go × 20</a:t>
            </a:r>
            <a:endParaRPr lang="en-US" sz="1500" dirty="0"/>
          </a:p>
        </p:txBody>
      </p:sp>
      <p:sp>
        <p:nvSpPr>
          <p:cNvPr id="19" name="Text 17"/>
          <p:cNvSpPr/>
          <p:nvPr/>
        </p:nvSpPr>
        <p:spPr>
          <a:xfrm>
            <a:off x="5212080" y="5513832"/>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gaspillage au tarif réel, fenêtre 3 min extrapolée</a:t>
            </a:r>
            <a:endParaRPr lang="en-US" sz="150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Équations numérotées (1)-(7) dans la thèse, avec déclaration de variables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20</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PORTES EXACTES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Les huit portes, conditions exactes d'implémentation.</a:t>
            </a:r>
            <a:endParaRPr lang="en-US" sz="2400" dirty="0"/>
          </a:p>
        </p:txBody>
      </p:sp>
      <p:sp>
        <p:nvSpPr>
          <p:cNvPr id="5" name="Shape 3"/>
          <p:cNvSpPr/>
          <p:nvPr/>
        </p:nvSpPr>
        <p:spPr>
          <a:xfrm>
            <a:off x="822960" y="1993392"/>
            <a:ext cx="3285744" cy="12802"/>
          </a:xfrm>
          <a:prstGeom prst="rect">
            <a:avLst/>
          </a:prstGeom>
          <a:solidFill>
            <a:srgbClr val="E0E0E0"/>
          </a:solidFill>
          <a:ln/>
        </p:spPr>
      </p:sp>
      <p:sp>
        <p:nvSpPr>
          <p:cNvPr id="6" name="Text 4"/>
          <p:cNvSpPr/>
          <p:nvPr/>
        </p:nvSpPr>
        <p:spPr>
          <a:xfrm>
            <a:off x="822960"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G0</a:t>
            </a:r>
            <a:endParaRPr lang="en-US" sz="2000" dirty="0"/>
          </a:p>
        </p:txBody>
      </p:sp>
      <p:sp>
        <p:nvSpPr>
          <p:cNvPr id="7" name="Text 5"/>
          <p:cNvSpPr/>
          <p:nvPr/>
        </p:nvSpPr>
        <p:spPr>
          <a:xfrm>
            <a:off x="822960"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La cible répond aux pings de la fenêtre de repos</a:t>
            </a:r>
            <a:endParaRPr lang="en-US" sz="1250" dirty="0"/>
          </a:p>
        </p:txBody>
      </p:sp>
      <p:sp>
        <p:nvSpPr>
          <p:cNvPr id="8" name="Text 6"/>
          <p:cNvSpPr/>
          <p:nvPr/>
        </p:nvSpPr>
        <p:spPr>
          <a:xfrm>
            <a:off x="3102864"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9" name="Shape 7"/>
          <p:cNvSpPr/>
          <p:nvPr/>
        </p:nvSpPr>
        <p:spPr>
          <a:xfrm>
            <a:off x="4337304" y="1993392"/>
            <a:ext cx="3285744" cy="12802"/>
          </a:xfrm>
          <a:prstGeom prst="rect">
            <a:avLst/>
          </a:prstGeom>
          <a:solidFill>
            <a:srgbClr val="E0E0E0"/>
          </a:solidFill>
          <a:ln/>
        </p:spPr>
      </p:sp>
      <p:sp>
        <p:nvSpPr>
          <p:cNvPr id="10" name="Text 8"/>
          <p:cNvSpPr/>
          <p:nvPr/>
        </p:nvSpPr>
        <p:spPr>
          <a:xfrm>
            <a:off x="4337304"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G1</a:t>
            </a:r>
            <a:endParaRPr lang="en-US" sz="2000" dirty="0"/>
          </a:p>
        </p:txBody>
      </p:sp>
      <p:sp>
        <p:nvSpPr>
          <p:cNvPr id="11" name="Text 9"/>
          <p:cNvSpPr/>
          <p:nvPr/>
        </p:nvSpPr>
        <p:spPr>
          <a:xfrm>
            <a:off x="4337304"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Le flux de masse a transmis des octets</a:t>
            </a:r>
            <a:endParaRPr lang="en-US" sz="1250" dirty="0"/>
          </a:p>
        </p:txBody>
      </p:sp>
      <p:sp>
        <p:nvSpPr>
          <p:cNvPr id="12" name="Text 10"/>
          <p:cNvSpPr/>
          <p:nvPr/>
        </p:nvSpPr>
        <p:spPr>
          <a:xfrm>
            <a:off x="6617208"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13" name="Shape 11"/>
          <p:cNvSpPr/>
          <p:nvPr/>
        </p:nvSpPr>
        <p:spPr>
          <a:xfrm>
            <a:off x="7851648" y="1993392"/>
            <a:ext cx="3285744" cy="12802"/>
          </a:xfrm>
          <a:prstGeom prst="rect">
            <a:avLst/>
          </a:prstGeom>
          <a:solidFill>
            <a:srgbClr val="E0E0E0"/>
          </a:solidFill>
          <a:ln/>
        </p:spPr>
      </p:sp>
      <p:sp>
        <p:nvSpPr>
          <p:cNvPr id="14" name="Text 12"/>
          <p:cNvSpPr/>
          <p:nvPr/>
        </p:nvSpPr>
        <p:spPr>
          <a:xfrm>
            <a:off x="7851648"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G2</a:t>
            </a:r>
            <a:endParaRPr lang="en-US" sz="2000" dirty="0"/>
          </a:p>
        </p:txBody>
      </p:sp>
      <p:sp>
        <p:nvSpPr>
          <p:cNvPr id="15" name="Text 13"/>
          <p:cNvSpPr/>
          <p:nvPr/>
        </p:nvSpPr>
        <p:spPr>
          <a:xfrm>
            <a:off x="7851648"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Les sondes produisent des valeurs pendant la charge</a:t>
            </a:r>
            <a:endParaRPr lang="en-US" sz="1250" dirty="0"/>
          </a:p>
        </p:txBody>
      </p:sp>
      <p:sp>
        <p:nvSpPr>
          <p:cNvPr id="16" name="Text 14"/>
          <p:cNvSpPr/>
          <p:nvPr/>
        </p:nvSpPr>
        <p:spPr>
          <a:xfrm>
            <a:off x="10131552"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17" name="Shape 15"/>
          <p:cNvSpPr/>
          <p:nvPr/>
        </p:nvSpPr>
        <p:spPr>
          <a:xfrm>
            <a:off x="822960" y="3163824"/>
            <a:ext cx="3285744" cy="12802"/>
          </a:xfrm>
          <a:prstGeom prst="rect">
            <a:avLst/>
          </a:prstGeom>
          <a:solidFill>
            <a:srgbClr val="E0E0E0"/>
          </a:solidFill>
          <a:ln/>
        </p:spPr>
      </p:sp>
      <p:sp>
        <p:nvSpPr>
          <p:cNvPr id="18" name="Text 16"/>
          <p:cNvSpPr/>
          <p:nvPr/>
        </p:nvSpPr>
        <p:spPr>
          <a:xfrm>
            <a:off x="822960"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G3</a:t>
            </a:r>
            <a:endParaRPr lang="en-US" sz="2000" dirty="0"/>
          </a:p>
        </p:txBody>
      </p:sp>
      <p:sp>
        <p:nvSpPr>
          <p:cNvPr id="19" name="Text 17"/>
          <p:cNvSpPr/>
          <p:nvPr/>
        </p:nvSpPr>
        <p:spPr>
          <a:xfrm>
            <a:off x="822960"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p95 &lt; 10 × délai du profil + 200 ms</a:t>
            </a:r>
            <a:endParaRPr lang="en-US" sz="1250" dirty="0"/>
          </a:p>
        </p:txBody>
      </p:sp>
      <p:sp>
        <p:nvSpPr>
          <p:cNvPr id="20" name="Text 18"/>
          <p:cNvSpPr/>
          <p:nvPr/>
        </p:nvSpPr>
        <p:spPr>
          <a:xfrm>
            <a:off x="3102864"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1" name="Shape 19"/>
          <p:cNvSpPr/>
          <p:nvPr/>
        </p:nvSpPr>
        <p:spPr>
          <a:xfrm>
            <a:off x="4337304" y="3163824"/>
            <a:ext cx="3285744" cy="12802"/>
          </a:xfrm>
          <a:prstGeom prst="rect">
            <a:avLst/>
          </a:prstGeom>
          <a:solidFill>
            <a:srgbClr val="E0E0E0"/>
          </a:solidFill>
          <a:ln/>
        </p:spPr>
      </p:sp>
      <p:sp>
        <p:nvSpPr>
          <p:cNvPr id="22" name="Text 20"/>
          <p:cNvSpPr/>
          <p:nvPr/>
        </p:nvSpPr>
        <p:spPr>
          <a:xfrm>
            <a:off x="4337304"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G4</a:t>
            </a:r>
            <a:endParaRPr lang="en-US" sz="2000" dirty="0"/>
          </a:p>
        </p:txBody>
      </p:sp>
      <p:sp>
        <p:nvSpPr>
          <p:cNvPr id="23" name="Text 21"/>
          <p:cNvSpPr/>
          <p:nvPr/>
        </p:nvSpPr>
        <p:spPr>
          <a:xfrm>
            <a:off x="4337304"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Débit entre la moitié et 1,1 fois la capacité du profil</a:t>
            </a:r>
            <a:endParaRPr lang="en-US" sz="1250" dirty="0"/>
          </a:p>
        </p:txBody>
      </p:sp>
      <p:sp>
        <p:nvSpPr>
          <p:cNvPr id="24" name="Text 22"/>
          <p:cNvSpPr/>
          <p:nvPr/>
        </p:nvSpPr>
        <p:spPr>
          <a:xfrm>
            <a:off x="6617208"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5" name="Shape 23"/>
          <p:cNvSpPr/>
          <p:nvPr/>
        </p:nvSpPr>
        <p:spPr>
          <a:xfrm>
            <a:off x="7851648" y="3163824"/>
            <a:ext cx="3285744" cy="12802"/>
          </a:xfrm>
          <a:prstGeom prst="rect">
            <a:avLst/>
          </a:prstGeom>
          <a:solidFill>
            <a:srgbClr val="E0E0E0"/>
          </a:solidFill>
          <a:ln/>
        </p:spPr>
      </p:sp>
      <p:sp>
        <p:nvSpPr>
          <p:cNvPr id="26" name="Text 24"/>
          <p:cNvSpPr/>
          <p:nvPr/>
        </p:nvSpPr>
        <p:spPr>
          <a:xfrm>
            <a:off x="7851648"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G5</a:t>
            </a:r>
            <a:endParaRPr lang="en-US" sz="2000" dirty="0"/>
          </a:p>
        </p:txBody>
      </p:sp>
      <p:sp>
        <p:nvSpPr>
          <p:cNvPr id="27" name="Text 25"/>
          <p:cNvSpPr/>
          <p:nvPr/>
        </p:nvSpPr>
        <p:spPr>
          <a:xfrm>
            <a:off x="7851648"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Aucune ligne (run, événement) dupliquée au gel</a:t>
            </a:r>
            <a:endParaRPr lang="en-US" sz="1250" dirty="0"/>
          </a:p>
        </p:txBody>
      </p:sp>
      <p:sp>
        <p:nvSpPr>
          <p:cNvPr id="28" name="Text 26"/>
          <p:cNvSpPr/>
          <p:nvPr/>
        </p:nvSpPr>
        <p:spPr>
          <a:xfrm>
            <a:off x="10131552"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9" name="Shape 27"/>
          <p:cNvSpPr/>
          <p:nvPr/>
        </p:nvSpPr>
        <p:spPr>
          <a:xfrm>
            <a:off x="822960" y="4334256"/>
            <a:ext cx="3285744" cy="12802"/>
          </a:xfrm>
          <a:prstGeom prst="rect">
            <a:avLst/>
          </a:prstGeom>
          <a:solidFill>
            <a:srgbClr val="E0E0E0"/>
          </a:solidFill>
          <a:ln/>
        </p:spPr>
      </p:sp>
      <p:sp>
        <p:nvSpPr>
          <p:cNvPr id="30" name="Text 28"/>
          <p:cNvSpPr/>
          <p:nvPr/>
        </p:nvSpPr>
        <p:spPr>
          <a:xfrm>
            <a:off x="822960" y="4443984"/>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G6</a:t>
            </a:r>
            <a:endParaRPr lang="en-US" sz="2000" dirty="0"/>
          </a:p>
        </p:txBody>
      </p:sp>
      <p:sp>
        <p:nvSpPr>
          <p:cNvPr id="31" name="Text 29"/>
          <p:cNvSpPr/>
          <p:nvPr/>
        </p:nvSpPr>
        <p:spPr>
          <a:xfrm>
            <a:off x="822960" y="4828032"/>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p95 − p50 du repos &lt; max(5 ms, 20 % médiane)</a:t>
            </a:r>
            <a:endParaRPr lang="en-US" sz="1250" dirty="0"/>
          </a:p>
        </p:txBody>
      </p:sp>
      <p:sp>
        <p:nvSpPr>
          <p:cNvPr id="32" name="Text 30"/>
          <p:cNvSpPr/>
          <p:nvPr/>
        </p:nvSpPr>
        <p:spPr>
          <a:xfrm>
            <a:off x="3102864" y="4443984"/>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33" name="Shape 31"/>
          <p:cNvSpPr/>
          <p:nvPr/>
        </p:nvSpPr>
        <p:spPr>
          <a:xfrm>
            <a:off x="4337304" y="4334256"/>
            <a:ext cx="3285744" cy="12802"/>
          </a:xfrm>
          <a:prstGeom prst="rect">
            <a:avLst/>
          </a:prstGeom>
          <a:solidFill>
            <a:srgbClr val="E0E0E0"/>
          </a:solidFill>
          <a:ln/>
        </p:spPr>
      </p:sp>
      <p:sp>
        <p:nvSpPr>
          <p:cNvPr id="34" name="Text 32"/>
          <p:cNvSpPr/>
          <p:nvPr/>
        </p:nvSpPr>
        <p:spPr>
          <a:xfrm>
            <a:off x="4337304" y="4443984"/>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G7</a:t>
            </a:r>
            <a:endParaRPr lang="en-US" sz="2000" dirty="0"/>
          </a:p>
        </p:txBody>
      </p:sp>
      <p:sp>
        <p:nvSpPr>
          <p:cNvPr id="35" name="Text 33"/>
          <p:cNvSpPr/>
          <p:nvPr/>
        </p:nvSpPr>
        <p:spPr>
          <a:xfrm>
            <a:off x="4337304" y="4828032"/>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Processeur non saturé : moyenne sous 90 %</a:t>
            </a:r>
            <a:endParaRPr lang="en-US" sz="1250" dirty="0"/>
          </a:p>
        </p:txBody>
      </p:sp>
      <p:sp>
        <p:nvSpPr>
          <p:cNvPr id="36" name="Text 34"/>
          <p:cNvSpPr/>
          <p:nvPr/>
        </p:nvSpPr>
        <p:spPr>
          <a:xfrm>
            <a:off x="6617208" y="4443984"/>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37" name="Text 35"/>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Conditions tirées du moteur de campagne, pkg/campagne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21</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MATRICE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Trois disciplines, deux contrôles, quatre profils : toutes les combinaisons.</a:t>
            </a:r>
            <a:endParaRPr lang="en-US" sz="2400" dirty="0"/>
          </a:p>
        </p:txBody>
      </p:sp>
      <p:sp>
        <p:nvSpPr>
          <p:cNvPr id="5" name="Text 3"/>
          <p:cNvSpPr/>
          <p:nvPr/>
        </p:nvSpPr>
        <p:spPr>
          <a:xfrm>
            <a:off x="822960" y="2103120"/>
            <a:ext cx="10543032" cy="1188720"/>
          </a:xfrm>
          <a:prstGeom prst="rect">
            <a:avLst/>
          </a:prstGeom>
          <a:noFill/>
          <a:ln/>
        </p:spPr>
        <p:txBody>
          <a:bodyPr wrap="square" lIns="0" tIns="0" rIns="0" bIns="0" rtlCol="0" anchor="t"/>
          <a:lstStyle/>
          <a:p>
            <a:pPr indent="0" marL="0">
              <a:lnSpc>
                <a:spcPts val="3000"/>
              </a:lnSpc>
              <a:buNone/>
            </a:pPr>
            <a:r>
              <a:rPr lang="en-US" sz="2000" dirty="0">
                <a:solidFill>
                  <a:srgbClr val="404040"/>
                </a:solidFill>
                <a:latin typeface="Arial" pitchFamily="34" charset="0"/>
                <a:ea typeface="Arial" pitchFamily="34" charset="-122"/>
                <a:cs typeface="Arial" pitchFamily="34" charset="-120"/>
              </a:rPr>
              <a:t>Profils × disciplines × contrôles × répétitions : la campagne complète énumère 36 événements pour deux profils, 18 par profil en matrice réduite. Trois minutes par événement : 30 secondes de repos, 120 de charge, 30 de récupération.</a:t>
            </a:r>
            <a:endParaRPr lang="en-US" sz="2000" dirty="0"/>
          </a:p>
        </p:txBody>
      </p:sp>
      <p:sp>
        <p:nvSpPr>
          <p:cNvPr id="6" name="Shape 4"/>
          <p:cNvSpPr/>
          <p:nvPr/>
        </p:nvSpPr>
        <p:spPr>
          <a:xfrm>
            <a:off x="822960" y="3474720"/>
            <a:ext cx="10543032" cy="12802"/>
          </a:xfrm>
          <a:prstGeom prst="rect">
            <a:avLst/>
          </a:prstGeom>
          <a:solidFill>
            <a:srgbClr val="E0E0E0"/>
          </a:solidFill>
          <a:ln/>
        </p:spPr>
      </p:sp>
      <p:sp>
        <p:nvSpPr>
          <p:cNvPr id="7" name="Text 5"/>
          <p:cNvSpPr/>
          <p:nvPr/>
        </p:nvSpPr>
        <p:spPr>
          <a:xfrm>
            <a:off x="822960" y="3566160"/>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pfifo_fast</a:t>
            </a:r>
            <a:endParaRPr lang="en-US" sz="1600" dirty="0"/>
          </a:p>
        </p:txBody>
      </p:sp>
      <p:sp>
        <p:nvSpPr>
          <p:cNvPr id="8" name="Text 6"/>
          <p:cNvSpPr/>
          <p:nvPr/>
        </p:nvSpPr>
        <p:spPr>
          <a:xfrm>
            <a:off x="3383280" y="3566160"/>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file simple de référence des noyaux Linux : le témoin</a:t>
            </a:r>
            <a:endParaRPr lang="en-US" sz="1500" dirty="0"/>
          </a:p>
        </p:txBody>
      </p:sp>
      <p:sp>
        <p:nvSpPr>
          <p:cNvPr id="9" name="Shape 7"/>
          <p:cNvSpPr/>
          <p:nvPr/>
        </p:nvSpPr>
        <p:spPr>
          <a:xfrm>
            <a:off x="822960" y="4078224"/>
            <a:ext cx="10543032" cy="12802"/>
          </a:xfrm>
          <a:prstGeom prst="rect">
            <a:avLst/>
          </a:prstGeom>
          <a:solidFill>
            <a:srgbClr val="E0E0E0"/>
          </a:solidFill>
          <a:ln/>
        </p:spPr>
      </p:sp>
      <p:sp>
        <p:nvSpPr>
          <p:cNvPr id="10" name="Text 8"/>
          <p:cNvSpPr/>
          <p:nvPr/>
        </p:nvSpPr>
        <p:spPr>
          <a:xfrm>
            <a:off x="822960" y="4169664"/>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fq_codel</a:t>
            </a:r>
            <a:endParaRPr lang="en-US" sz="1600" dirty="0"/>
          </a:p>
        </p:txBody>
      </p:sp>
      <p:sp>
        <p:nvSpPr>
          <p:cNvPr id="11" name="Text 9"/>
          <p:cNvSpPr/>
          <p:nvPr/>
        </p:nvSpPr>
        <p:spPr>
          <a:xfrm>
            <a:off x="3383280" y="4169664"/>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réglage moderne par défaut : équité et discipline des files</a:t>
            </a:r>
            <a:endParaRPr lang="en-US" sz="1500" dirty="0"/>
          </a:p>
        </p:txBody>
      </p:sp>
      <p:sp>
        <p:nvSpPr>
          <p:cNvPr id="12" name="Shape 10"/>
          <p:cNvSpPr/>
          <p:nvPr/>
        </p:nvSpPr>
        <p:spPr>
          <a:xfrm>
            <a:off x="822960" y="4681728"/>
            <a:ext cx="10543032" cy="12802"/>
          </a:xfrm>
          <a:prstGeom prst="rect">
            <a:avLst/>
          </a:prstGeom>
          <a:solidFill>
            <a:srgbClr val="E0E0E0"/>
          </a:solidFill>
          <a:ln/>
        </p:spPr>
      </p:sp>
      <p:sp>
        <p:nvSpPr>
          <p:cNvPr id="13" name="Text 11"/>
          <p:cNvSpPr/>
          <p:nvPr/>
        </p:nvSpPr>
        <p:spPr>
          <a:xfrm>
            <a:off x="822960" y="4773168"/>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CAKE</a:t>
            </a:r>
            <a:endParaRPr lang="en-US" sz="1600" dirty="0"/>
          </a:p>
        </p:txBody>
      </p:sp>
      <p:sp>
        <p:nvSpPr>
          <p:cNvPr id="14" name="Text 12"/>
          <p:cNvSpPr/>
          <p:nvPr/>
        </p:nvSpPr>
        <p:spPr>
          <a:xfrm>
            <a:off x="3383280" y="4773168"/>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variante passerelle : façonnage intégré, RFC 8290</a:t>
            </a:r>
            <a:endParaRPr lang="en-US" sz="1500" dirty="0"/>
          </a:p>
        </p:txBody>
      </p:sp>
      <p:sp>
        <p:nvSpPr>
          <p:cNvPr id="15" name="Shape 13"/>
          <p:cNvSpPr/>
          <p:nvPr/>
        </p:nvSpPr>
        <p:spPr>
          <a:xfrm>
            <a:off x="822960" y="5285232"/>
            <a:ext cx="10543032" cy="12802"/>
          </a:xfrm>
          <a:prstGeom prst="rect">
            <a:avLst/>
          </a:prstGeom>
          <a:solidFill>
            <a:srgbClr val="E0E0E0"/>
          </a:solidFill>
          <a:ln/>
        </p:spPr>
      </p:sp>
      <p:sp>
        <p:nvSpPr>
          <p:cNvPr id="16" name="Text 14"/>
          <p:cNvSpPr/>
          <p:nvPr/>
        </p:nvSpPr>
        <p:spPr>
          <a:xfrm>
            <a:off x="822960" y="5376672"/>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CUBIC</a:t>
            </a:r>
            <a:endParaRPr lang="en-US" sz="1600" dirty="0"/>
          </a:p>
        </p:txBody>
      </p:sp>
      <p:sp>
        <p:nvSpPr>
          <p:cNvPr id="17" name="Text 15"/>
          <p:cNvSpPr/>
          <p:nvPr/>
        </p:nvSpPr>
        <p:spPr>
          <a:xfrm>
            <a:off x="3383280" y="5376672"/>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contrôle fondé sur la perte : recule au premier signal</a:t>
            </a:r>
            <a:endParaRPr lang="en-US" sz="1500" dirty="0"/>
          </a:p>
        </p:txBody>
      </p:sp>
      <p:sp>
        <p:nvSpPr>
          <p:cNvPr id="18" name="Shape 16"/>
          <p:cNvSpPr/>
          <p:nvPr/>
        </p:nvSpPr>
        <p:spPr>
          <a:xfrm>
            <a:off x="822960" y="5888736"/>
            <a:ext cx="10543032" cy="12802"/>
          </a:xfrm>
          <a:prstGeom prst="rect">
            <a:avLst/>
          </a:prstGeom>
          <a:solidFill>
            <a:srgbClr val="E0E0E0"/>
          </a:solidFill>
          <a:ln/>
        </p:spPr>
      </p:sp>
      <p:sp>
        <p:nvSpPr>
          <p:cNvPr id="19" name="Text 17"/>
          <p:cNvSpPr/>
          <p:nvPr/>
        </p:nvSpPr>
        <p:spPr>
          <a:xfrm>
            <a:off x="822960" y="5980176"/>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BBR</a:t>
            </a:r>
            <a:endParaRPr lang="en-US" sz="1600" dirty="0"/>
          </a:p>
        </p:txBody>
      </p:sp>
      <p:sp>
        <p:nvSpPr>
          <p:cNvPr id="20" name="Text 18"/>
          <p:cNvSpPr/>
          <p:nvPr/>
        </p:nvSpPr>
        <p:spPr>
          <a:xfrm>
            <a:off x="3383280" y="5980176"/>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estime la capacité : remplit la file sans écouter la perte</a:t>
            </a:r>
            <a:endParaRPr lang="en-US" sz="1500" dirty="0"/>
          </a:p>
        </p:txBody>
      </p:sp>
      <p:sp>
        <p:nvSpPr>
          <p:cNvPr id="21" name="Text 19"/>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La hiérarchie des disciplines est stable sur les répétitions disponibles : 11, 7 et 6 par cellule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LE FICHIER GELÉ</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Une ligne par événement, un manifeste par run, une empreinte par fichier.</a:t>
            </a:r>
            <a:endParaRPr lang="en-US" sz="2400" dirty="0"/>
          </a:p>
        </p:txBody>
      </p:sp>
      <p:sp>
        <p:nvSpPr>
          <p:cNvPr id="5" name="Shape 3"/>
          <p:cNvSpPr/>
          <p:nvPr/>
        </p:nvSpPr>
        <p:spPr>
          <a:xfrm>
            <a:off x="822960" y="2020824"/>
            <a:ext cx="10543032" cy="12802"/>
          </a:xfrm>
          <a:prstGeom prst="rect">
            <a:avLst/>
          </a:prstGeom>
          <a:solidFill>
            <a:srgbClr val="E0E0E0"/>
          </a:solidFill>
          <a:ln/>
        </p:spPr>
      </p:sp>
      <p:sp>
        <p:nvSpPr>
          <p:cNvPr id="6" name="Text 4"/>
          <p:cNvSpPr/>
          <p:nvPr/>
        </p:nvSpPr>
        <p:spPr>
          <a:xfrm>
            <a:off x="822960" y="2103120"/>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run_id, event_id</a:t>
            </a:r>
            <a:endParaRPr lang="en-US" sz="1300" dirty="0"/>
          </a:p>
        </p:txBody>
      </p:sp>
      <p:sp>
        <p:nvSpPr>
          <p:cNvPr id="7" name="Text 5"/>
          <p:cNvSpPr/>
          <p:nvPr/>
        </p:nvSpPr>
        <p:spPr>
          <a:xfrm>
            <a:off x="5943600" y="2103120"/>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identification de la ligne</a:t>
            </a:r>
            <a:endParaRPr lang="en-US" sz="1350" dirty="0"/>
          </a:p>
        </p:txBody>
      </p:sp>
      <p:sp>
        <p:nvSpPr>
          <p:cNvPr id="8" name="Shape 6"/>
          <p:cNvSpPr/>
          <p:nvPr/>
        </p:nvSpPr>
        <p:spPr>
          <a:xfrm>
            <a:off x="822960" y="2551176"/>
            <a:ext cx="10543032" cy="12802"/>
          </a:xfrm>
          <a:prstGeom prst="rect">
            <a:avLst/>
          </a:prstGeom>
          <a:solidFill>
            <a:srgbClr val="E0E0E0"/>
          </a:solidFill>
          <a:ln/>
        </p:spPr>
      </p:sp>
      <p:sp>
        <p:nvSpPr>
          <p:cNvPr id="9" name="Text 7"/>
          <p:cNvSpPr/>
          <p:nvPr/>
        </p:nvSpPr>
        <p:spPr>
          <a:xfrm>
            <a:off x="822960" y="2633472"/>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profile, qdisc, cc, repetition</a:t>
            </a:r>
            <a:endParaRPr lang="en-US" sz="1300" dirty="0"/>
          </a:p>
        </p:txBody>
      </p:sp>
      <p:sp>
        <p:nvSpPr>
          <p:cNvPr id="10" name="Text 8"/>
          <p:cNvSpPr/>
          <p:nvPr/>
        </p:nvSpPr>
        <p:spPr>
          <a:xfrm>
            <a:off x="5943600" y="2633472"/>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cellule de la matrice</a:t>
            </a:r>
            <a:endParaRPr lang="en-US" sz="1350" dirty="0"/>
          </a:p>
        </p:txBody>
      </p:sp>
      <p:sp>
        <p:nvSpPr>
          <p:cNvPr id="11" name="Shape 9"/>
          <p:cNvSpPr/>
          <p:nvPr/>
        </p:nvSpPr>
        <p:spPr>
          <a:xfrm>
            <a:off x="822960" y="3081528"/>
            <a:ext cx="10543032" cy="12802"/>
          </a:xfrm>
          <a:prstGeom prst="rect">
            <a:avLst/>
          </a:prstGeom>
          <a:solidFill>
            <a:srgbClr val="E0E0E0"/>
          </a:solidFill>
          <a:ln/>
        </p:spPr>
      </p:sp>
      <p:sp>
        <p:nvSpPr>
          <p:cNvPr id="12" name="Text 10"/>
          <p:cNvSpPr/>
          <p:nvPr/>
        </p:nvSpPr>
        <p:spPr>
          <a:xfrm>
            <a:off x="822960" y="3163824"/>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rtt_p50, rtt_p95, qdi_ms</a:t>
            </a:r>
            <a:endParaRPr lang="en-US" sz="1300" dirty="0"/>
          </a:p>
        </p:txBody>
      </p:sp>
      <p:sp>
        <p:nvSpPr>
          <p:cNvPr id="13" name="Text 11"/>
          <p:cNvSpPr/>
          <p:nvPr/>
        </p:nvSpPr>
        <p:spPr>
          <a:xfrm>
            <a:off x="5943600" y="3163824"/>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latence et régularité</a:t>
            </a:r>
            <a:endParaRPr lang="en-US" sz="1350" dirty="0"/>
          </a:p>
        </p:txBody>
      </p:sp>
      <p:sp>
        <p:nvSpPr>
          <p:cNvPr id="14" name="Shape 12"/>
          <p:cNvSpPr/>
          <p:nvPr/>
        </p:nvSpPr>
        <p:spPr>
          <a:xfrm>
            <a:off x="822960" y="3611880"/>
            <a:ext cx="10543032" cy="12802"/>
          </a:xfrm>
          <a:prstGeom prst="rect">
            <a:avLst/>
          </a:prstGeom>
          <a:solidFill>
            <a:srgbClr val="E0E0E0"/>
          </a:solidFill>
          <a:ln/>
        </p:spPr>
      </p:sp>
      <p:sp>
        <p:nvSpPr>
          <p:cNvPr id="15" name="Text 13"/>
          <p:cNvSpPr/>
          <p:nvPr/>
        </p:nvSpPr>
        <p:spPr>
          <a:xfrm>
            <a:off x="822960" y="3694176"/>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small_p95, deadline_ok_pct</a:t>
            </a:r>
            <a:endParaRPr lang="en-US" sz="1300" dirty="0"/>
          </a:p>
        </p:txBody>
      </p:sp>
      <p:sp>
        <p:nvSpPr>
          <p:cNvPr id="16" name="Text 14"/>
          <p:cNvSpPr/>
          <p:nvPr/>
        </p:nvSpPr>
        <p:spPr>
          <a:xfrm>
            <a:off x="5943600" y="3694176"/>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trafic critique et échéance</a:t>
            </a:r>
            <a:endParaRPr lang="en-US" sz="1350" dirty="0"/>
          </a:p>
        </p:txBody>
      </p:sp>
      <p:sp>
        <p:nvSpPr>
          <p:cNvPr id="17" name="Shape 15"/>
          <p:cNvSpPr/>
          <p:nvPr/>
        </p:nvSpPr>
        <p:spPr>
          <a:xfrm>
            <a:off x="822960" y="4142232"/>
            <a:ext cx="10543032" cy="12802"/>
          </a:xfrm>
          <a:prstGeom prst="rect">
            <a:avLst/>
          </a:prstGeom>
          <a:solidFill>
            <a:srgbClr val="E0E0E0"/>
          </a:solidFill>
          <a:ln/>
        </p:spPr>
      </p:sp>
      <p:sp>
        <p:nvSpPr>
          <p:cNvPr id="18" name="Text 16"/>
          <p:cNvSpPr/>
          <p:nvPr/>
        </p:nvSpPr>
        <p:spPr>
          <a:xfrm>
            <a:off x="822960" y="4224528"/>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bulk_goodput, drops, retrans</a:t>
            </a:r>
            <a:endParaRPr lang="en-US" sz="1300" dirty="0"/>
          </a:p>
        </p:txBody>
      </p:sp>
      <p:sp>
        <p:nvSpPr>
          <p:cNvPr id="19" name="Text 17"/>
          <p:cNvSpPr/>
          <p:nvPr/>
        </p:nvSpPr>
        <p:spPr>
          <a:xfrm>
            <a:off x="5943600" y="4224528"/>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charge et mécanisme</a:t>
            </a:r>
            <a:endParaRPr lang="en-US" sz="1350" dirty="0"/>
          </a:p>
        </p:txBody>
      </p:sp>
      <p:sp>
        <p:nvSpPr>
          <p:cNvPr id="20" name="Shape 18"/>
          <p:cNvSpPr/>
          <p:nvPr/>
        </p:nvSpPr>
        <p:spPr>
          <a:xfrm>
            <a:off x="822960" y="4672584"/>
            <a:ext cx="10543032" cy="12802"/>
          </a:xfrm>
          <a:prstGeom prst="rect">
            <a:avLst/>
          </a:prstGeom>
          <a:solidFill>
            <a:srgbClr val="E0E0E0"/>
          </a:solidFill>
          <a:ln/>
        </p:spPr>
      </p:sp>
      <p:sp>
        <p:nvSpPr>
          <p:cNvPr id="21" name="Text 19"/>
          <p:cNvSpPr/>
          <p:nvPr/>
        </p:nvSpPr>
        <p:spPr>
          <a:xfrm>
            <a:off x="822960" y="4754880"/>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wasted_bytes, cost_ar_per_h</a:t>
            </a:r>
            <a:endParaRPr lang="en-US" sz="1300" dirty="0"/>
          </a:p>
        </p:txBody>
      </p:sp>
      <p:sp>
        <p:nvSpPr>
          <p:cNvPr id="22" name="Text 20"/>
          <p:cNvSpPr/>
          <p:nvPr/>
        </p:nvSpPr>
        <p:spPr>
          <a:xfrm>
            <a:off x="5943600" y="4754880"/>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gaspillage et coût</a:t>
            </a:r>
            <a:endParaRPr lang="en-US" sz="1350" dirty="0"/>
          </a:p>
        </p:txBody>
      </p:sp>
      <p:sp>
        <p:nvSpPr>
          <p:cNvPr id="23" name="Shape 21"/>
          <p:cNvSpPr/>
          <p:nvPr/>
        </p:nvSpPr>
        <p:spPr>
          <a:xfrm>
            <a:off x="822960" y="5202936"/>
            <a:ext cx="10543032" cy="12802"/>
          </a:xfrm>
          <a:prstGeom prst="rect">
            <a:avLst/>
          </a:prstGeom>
          <a:solidFill>
            <a:srgbClr val="E0E0E0"/>
          </a:solidFill>
          <a:ln/>
        </p:spPr>
      </p:sp>
      <p:sp>
        <p:nvSpPr>
          <p:cNvPr id="24" name="Text 22"/>
          <p:cNvSpPr/>
          <p:nvPr/>
        </p:nvSpPr>
        <p:spPr>
          <a:xfrm>
            <a:off x="822960" y="5285232"/>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voip_r</a:t>
            </a:r>
            <a:endParaRPr lang="en-US" sz="1300" dirty="0"/>
          </a:p>
        </p:txBody>
      </p:sp>
      <p:sp>
        <p:nvSpPr>
          <p:cNvPr id="25" name="Text 23"/>
          <p:cNvSpPr/>
          <p:nvPr/>
        </p:nvSpPr>
        <p:spPr>
          <a:xfrm>
            <a:off x="5943600" y="5285232"/>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score de voix (vide avant l'implémentation)</a:t>
            </a:r>
            <a:endParaRPr lang="en-US" sz="1350" dirty="0"/>
          </a:p>
        </p:txBody>
      </p:sp>
      <p:sp>
        <p:nvSpPr>
          <p:cNvPr id="26" name="Shape 24"/>
          <p:cNvSpPr/>
          <p:nvPr/>
        </p:nvSpPr>
        <p:spPr>
          <a:xfrm>
            <a:off x="822960" y="5733288"/>
            <a:ext cx="10543032" cy="12802"/>
          </a:xfrm>
          <a:prstGeom prst="rect">
            <a:avLst/>
          </a:prstGeom>
          <a:solidFill>
            <a:srgbClr val="E0E0E0"/>
          </a:solidFill>
          <a:ln/>
        </p:spPr>
      </p:sp>
      <p:sp>
        <p:nvSpPr>
          <p:cNvPr id="27" name="Text 25"/>
          <p:cNvSpPr/>
          <p:nvPr/>
        </p:nvSpPr>
        <p:spPr>
          <a:xfrm>
            <a:off x="822960" y="5815584"/>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cpu_pct, gate_status</a:t>
            </a:r>
            <a:endParaRPr lang="en-US" sz="1300" dirty="0"/>
          </a:p>
        </p:txBody>
      </p:sp>
      <p:sp>
        <p:nvSpPr>
          <p:cNvPr id="28" name="Text 26"/>
          <p:cNvSpPr/>
          <p:nvPr/>
        </p:nvSpPr>
        <p:spPr>
          <a:xfrm>
            <a:off x="5943600" y="5815584"/>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surveillance et verdict</a:t>
            </a:r>
            <a:endParaRPr lang="en-US" sz="1350" dirty="0"/>
          </a:p>
        </p:txBody>
      </p:sp>
      <p:sp>
        <p:nvSpPr>
          <p:cNvPr id="29" name="Text 27"/>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aqm_eval.csv + manifeste SHA-256 · cgo verify, cgo kit verify (sur la VM)</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LA LIGNE DE COMMANDE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Du diagnostic à la vérification : une poignée de gestes.</a:t>
            </a:r>
            <a:endParaRPr lang="en-US" sz="2400" dirty="0"/>
          </a:p>
        </p:txBody>
      </p:sp>
      <p:sp>
        <p:nvSpPr>
          <p:cNvPr id="5" name="Shape 3"/>
          <p:cNvSpPr/>
          <p:nvPr/>
        </p:nvSpPr>
        <p:spPr>
          <a:xfrm>
            <a:off x="822960" y="2020824"/>
            <a:ext cx="10543032" cy="12802"/>
          </a:xfrm>
          <a:prstGeom prst="rect">
            <a:avLst/>
          </a:prstGeom>
          <a:solidFill>
            <a:srgbClr val="E0E0E0"/>
          </a:solidFill>
          <a:ln/>
        </p:spPr>
      </p:sp>
      <p:sp>
        <p:nvSpPr>
          <p:cNvPr id="6" name="Text 4"/>
          <p:cNvSpPr/>
          <p:nvPr/>
        </p:nvSpPr>
        <p:spPr>
          <a:xfrm>
            <a:off x="822960" y="2103120"/>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setup</a:t>
            </a:r>
            <a:endParaRPr lang="en-US" sz="1350" dirty="0"/>
          </a:p>
        </p:txBody>
      </p:sp>
      <p:sp>
        <p:nvSpPr>
          <p:cNvPr id="7" name="Text 5"/>
          <p:cNvSpPr/>
          <p:nvPr/>
        </p:nvSpPr>
        <p:spPr>
          <a:xfrm>
            <a:off x="5760720" y="2103120"/>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assistant d'installation en sept étapes idempotentes</a:t>
            </a:r>
            <a:endParaRPr lang="en-US" sz="1350" dirty="0"/>
          </a:p>
        </p:txBody>
      </p:sp>
      <p:sp>
        <p:nvSpPr>
          <p:cNvPr id="8" name="Shape 6"/>
          <p:cNvSpPr/>
          <p:nvPr/>
        </p:nvSpPr>
        <p:spPr>
          <a:xfrm>
            <a:off x="822960" y="2551176"/>
            <a:ext cx="10543032" cy="12802"/>
          </a:xfrm>
          <a:prstGeom prst="rect">
            <a:avLst/>
          </a:prstGeom>
          <a:solidFill>
            <a:srgbClr val="E0E0E0"/>
          </a:solidFill>
          <a:ln/>
        </p:spPr>
      </p:sp>
      <p:sp>
        <p:nvSpPr>
          <p:cNvPr id="9" name="Text 7"/>
          <p:cNvSpPr/>
          <p:nvPr/>
        </p:nvSpPr>
        <p:spPr>
          <a:xfrm>
            <a:off x="822960" y="2633472"/>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ensure</a:t>
            </a:r>
            <a:endParaRPr lang="en-US" sz="1350" dirty="0"/>
          </a:p>
        </p:txBody>
      </p:sp>
      <p:sp>
        <p:nvSpPr>
          <p:cNvPr id="10" name="Text 8"/>
          <p:cNvSpPr/>
          <p:nvPr/>
        </p:nvSpPr>
        <p:spPr>
          <a:xfrm>
            <a:off x="5760720" y="2633472"/>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garantit la machine virtuelle du banc et son état</a:t>
            </a:r>
            <a:endParaRPr lang="en-US" sz="1350" dirty="0"/>
          </a:p>
        </p:txBody>
      </p:sp>
      <p:sp>
        <p:nvSpPr>
          <p:cNvPr id="11" name="Shape 9"/>
          <p:cNvSpPr/>
          <p:nvPr/>
        </p:nvSpPr>
        <p:spPr>
          <a:xfrm>
            <a:off x="822960" y="3081528"/>
            <a:ext cx="10543032" cy="12802"/>
          </a:xfrm>
          <a:prstGeom prst="rect">
            <a:avLst/>
          </a:prstGeom>
          <a:solidFill>
            <a:srgbClr val="E0E0E0"/>
          </a:solidFill>
          <a:ln/>
        </p:spPr>
      </p:sp>
      <p:sp>
        <p:nvSpPr>
          <p:cNvPr id="12" name="Text 10"/>
          <p:cNvSpPr/>
          <p:nvPr/>
        </p:nvSpPr>
        <p:spPr>
          <a:xfrm>
            <a:off x="822960" y="3163824"/>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snapshots</a:t>
            </a:r>
            <a:endParaRPr lang="en-US" sz="1350" dirty="0"/>
          </a:p>
        </p:txBody>
      </p:sp>
      <p:sp>
        <p:nvSpPr>
          <p:cNvPr id="13" name="Text 11"/>
          <p:cNvSpPr/>
          <p:nvPr/>
        </p:nvSpPr>
        <p:spPr>
          <a:xfrm>
            <a:off x="5760720" y="3163824"/>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liste les instantanés ; revert y revient en une commande</a:t>
            </a:r>
            <a:endParaRPr lang="en-US" sz="1350" dirty="0"/>
          </a:p>
        </p:txBody>
      </p:sp>
      <p:sp>
        <p:nvSpPr>
          <p:cNvPr id="14" name="Shape 12"/>
          <p:cNvSpPr/>
          <p:nvPr/>
        </p:nvSpPr>
        <p:spPr>
          <a:xfrm>
            <a:off x="822960" y="3611880"/>
            <a:ext cx="10543032" cy="12802"/>
          </a:xfrm>
          <a:prstGeom prst="rect">
            <a:avLst/>
          </a:prstGeom>
          <a:solidFill>
            <a:srgbClr val="E0E0E0"/>
          </a:solidFill>
          <a:ln/>
        </p:spPr>
      </p:sp>
      <p:sp>
        <p:nvSpPr>
          <p:cNvPr id="15" name="Text 13"/>
          <p:cNvSpPr/>
          <p:nvPr/>
        </p:nvSpPr>
        <p:spPr>
          <a:xfrm>
            <a:off x="822960" y="3694176"/>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run --profiles P2 --reps 1</a:t>
            </a:r>
            <a:endParaRPr lang="en-US" sz="1350" dirty="0"/>
          </a:p>
        </p:txBody>
      </p:sp>
      <p:sp>
        <p:nvSpPr>
          <p:cNvPr id="16" name="Text 14"/>
          <p:cNvSpPr/>
          <p:nvPr/>
        </p:nvSpPr>
        <p:spPr>
          <a:xfrm>
            <a:off x="5760720" y="3694176"/>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campagne complète avec gel et résumé</a:t>
            </a:r>
            <a:endParaRPr lang="en-US" sz="1350" dirty="0"/>
          </a:p>
        </p:txBody>
      </p:sp>
      <p:sp>
        <p:nvSpPr>
          <p:cNvPr id="17" name="Shape 15"/>
          <p:cNvSpPr/>
          <p:nvPr/>
        </p:nvSpPr>
        <p:spPr>
          <a:xfrm>
            <a:off x="822960" y="4142232"/>
            <a:ext cx="10543032" cy="12802"/>
          </a:xfrm>
          <a:prstGeom prst="rect">
            <a:avLst/>
          </a:prstGeom>
          <a:solidFill>
            <a:srgbClr val="E0E0E0"/>
          </a:solidFill>
          <a:ln/>
        </p:spPr>
      </p:sp>
      <p:sp>
        <p:nvSpPr>
          <p:cNvPr id="18" name="Text 16"/>
          <p:cNvSpPr/>
          <p:nvPr/>
        </p:nvSpPr>
        <p:spPr>
          <a:xfrm>
            <a:off x="822960" y="4224528"/>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audit</a:t>
            </a:r>
            <a:endParaRPr lang="en-US" sz="1350" dirty="0"/>
          </a:p>
        </p:txBody>
      </p:sp>
      <p:sp>
        <p:nvSpPr>
          <p:cNvPr id="19" name="Text 17"/>
          <p:cNvSpPr/>
          <p:nvPr/>
        </p:nvSpPr>
        <p:spPr>
          <a:xfrm>
            <a:off x="5760720" y="4224528"/>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mesure le lien réel accessible depuis le poste</a:t>
            </a:r>
            <a:endParaRPr lang="en-US" sz="1350" dirty="0"/>
          </a:p>
        </p:txBody>
      </p:sp>
      <p:sp>
        <p:nvSpPr>
          <p:cNvPr id="20" name="Shape 18"/>
          <p:cNvSpPr/>
          <p:nvPr/>
        </p:nvSpPr>
        <p:spPr>
          <a:xfrm>
            <a:off x="822960" y="4672584"/>
            <a:ext cx="10543032" cy="12802"/>
          </a:xfrm>
          <a:prstGeom prst="rect">
            <a:avLst/>
          </a:prstGeom>
          <a:solidFill>
            <a:srgbClr val="E0E0E0"/>
          </a:solidFill>
          <a:ln/>
        </p:spPr>
      </p:sp>
      <p:sp>
        <p:nvSpPr>
          <p:cNvPr id="21" name="Text 19"/>
          <p:cNvSpPr/>
          <p:nvPr/>
        </p:nvSpPr>
        <p:spPr>
          <a:xfrm>
            <a:off x="822960" y="4754880"/>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verify</a:t>
            </a:r>
            <a:endParaRPr lang="en-US" sz="1350" dirty="0"/>
          </a:p>
        </p:txBody>
      </p:sp>
      <p:sp>
        <p:nvSpPr>
          <p:cNvPr id="22" name="Text 20"/>
          <p:cNvSpPr/>
          <p:nvPr/>
        </p:nvSpPr>
        <p:spPr>
          <a:xfrm>
            <a:off x="5760720" y="4754880"/>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recalcule les empreintes des archives sur la VM</a:t>
            </a:r>
            <a:endParaRPr lang="en-US" sz="1350" dirty="0"/>
          </a:p>
        </p:txBody>
      </p:sp>
      <p:sp>
        <p:nvSpPr>
          <p:cNvPr id="23" name="Shape 21"/>
          <p:cNvSpPr/>
          <p:nvPr/>
        </p:nvSpPr>
        <p:spPr>
          <a:xfrm>
            <a:off x="822960" y="5202936"/>
            <a:ext cx="10543032" cy="12802"/>
          </a:xfrm>
          <a:prstGeom prst="rect">
            <a:avLst/>
          </a:prstGeom>
          <a:solidFill>
            <a:srgbClr val="E0E0E0"/>
          </a:solidFill>
          <a:ln/>
        </p:spPr>
      </p:sp>
      <p:sp>
        <p:nvSpPr>
          <p:cNvPr id="24" name="Text 22"/>
          <p:cNvSpPr/>
          <p:nvPr/>
        </p:nvSpPr>
        <p:spPr>
          <a:xfrm>
            <a:off x="822960" y="5285232"/>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figures</a:t>
            </a:r>
            <a:endParaRPr lang="en-US" sz="1350" dirty="0"/>
          </a:p>
        </p:txBody>
      </p:sp>
      <p:sp>
        <p:nvSpPr>
          <p:cNvPr id="25" name="Text 23"/>
          <p:cNvSpPr/>
          <p:nvPr/>
        </p:nvSpPr>
        <p:spPr>
          <a:xfrm>
            <a:off x="5760720" y="5285232"/>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régénère les figures depuis les archives</a:t>
            </a:r>
            <a:endParaRPr lang="en-US" sz="1350" dirty="0"/>
          </a:p>
        </p:txBody>
      </p:sp>
      <p:sp>
        <p:nvSpPr>
          <p:cNvPr id="26" name="Shape 24"/>
          <p:cNvSpPr/>
          <p:nvPr/>
        </p:nvSpPr>
        <p:spPr>
          <a:xfrm>
            <a:off x="822960" y="5733288"/>
            <a:ext cx="10543032" cy="12802"/>
          </a:xfrm>
          <a:prstGeom prst="rect">
            <a:avLst/>
          </a:prstGeom>
          <a:solidFill>
            <a:srgbClr val="E0E0E0"/>
          </a:solidFill>
          <a:ln/>
        </p:spPr>
      </p:sp>
      <p:sp>
        <p:nvSpPr>
          <p:cNvPr id="27" name="Text 25"/>
          <p:cNvSpPr/>
          <p:nvPr/>
        </p:nvSpPr>
        <p:spPr>
          <a:xfrm>
            <a:off x="822960" y="5815584"/>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tui</a:t>
            </a:r>
            <a:endParaRPr lang="en-US" sz="1350" dirty="0"/>
          </a:p>
        </p:txBody>
      </p:sp>
      <p:sp>
        <p:nvSpPr>
          <p:cNvPr id="28" name="Text 26"/>
          <p:cNvSpPr/>
          <p:nvPr/>
        </p:nvSpPr>
        <p:spPr>
          <a:xfrm>
            <a:off x="5760720" y="5815584"/>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tableau de bord terminal en cinq onglets</a:t>
            </a:r>
            <a:endParaRPr lang="en-US" sz="1350" dirty="0"/>
          </a:p>
        </p:txBody>
      </p:sp>
      <p:sp>
        <p:nvSpPr>
          <p:cNvPr id="29" name="Text 27"/>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Kit : 18 actions, doctor à backup · codes de sortie documentés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POURQUOI PAS FLENT OU IPERF3 ?</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outil public perd une pièce du besoin : l'extrémité, la victime, la campagne ou l'archive.</a:t>
            </a:r>
            <a:endParaRPr lang="en-US" sz="2400" dirty="0"/>
          </a:p>
        </p:txBody>
      </p:sp>
      <p:sp>
        <p:nvSpPr>
          <p:cNvPr id="5" name="Shape 3"/>
          <p:cNvSpPr/>
          <p:nvPr/>
        </p:nvSpPr>
        <p:spPr>
          <a:xfrm>
            <a:off x="822960" y="2039112"/>
            <a:ext cx="10543032" cy="12802"/>
          </a:xfrm>
          <a:prstGeom prst="rect">
            <a:avLst/>
          </a:prstGeom>
          <a:solidFill>
            <a:srgbClr val="E0E0E0"/>
          </a:solidFill>
          <a:ln/>
        </p:spPr>
      </p:sp>
      <p:sp>
        <p:nvSpPr>
          <p:cNvPr id="6" name="Text 4"/>
          <p:cNvSpPr/>
          <p:nvPr/>
        </p:nvSpPr>
        <p:spPr>
          <a:xfrm>
            <a:off x="822960" y="2148840"/>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Flent</a:t>
            </a:r>
            <a:endParaRPr lang="en-US" sz="1500" dirty="0"/>
          </a:p>
        </p:txBody>
      </p:sp>
      <p:sp>
        <p:nvSpPr>
          <p:cNvPr id="7" name="Text 5"/>
          <p:cNvSpPr/>
          <p:nvPr/>
        </p:nvSpPr>
        <p:spPr>
          <a:xfrm>
            <a:off x="3246120" y="2148840"/>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mesure la latence sous charge, mais exige des exécutables aux deux extrémités : un client institutionnel ne l'obtient pas de son opérateur.</a:t>
            </a:r>
            <a:endParaRPr lang="en-US" sz="1450" dirty="0"/>
          </a:p>
        </p:txBody>
      </p:sp>
      <p:sp>
        <p:nvSpPr>
          <p:cNvPr id="8" name="Shape 6"/>
          <p:cNvSpPr/>
          <p:nvPr/>
        </p:nvSpPr>
        <p:spPr>
          <a:xfrm>
            <a:off x="822960" y="2880360"/>
            <a:ext cx="10543032" cy="12802"/>
          </a:xfrm>
          <a:prstGeom prst="rect">
            <a:avLst/>
          </a:prstGeom>
          <a:solidFill>
            <a:srgbClr val="E0E0E0"/>
          </a:solidFill>
          <a:ln/>
        </p:spPr>
      </p:sp>
      <p:sp>
        <p:nvSpPr>
          <p:cNvPr id="9" name="Text 7"/>
          <p:cNvSpPr/>
          <p:nvPr/>
        </p:nvSpPr>
        <p:spPr>
          <a:xfrm>
            <a:off x="822960" y="2990088"/>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iperf3</a:t>
            </a:r>
            <a:endParaRPr lang="en-US" sz="1500" dirty="0"/>
          </a:p>
        </p:txBody>
      </p:sp>
      <p:sp>
        <p:nvSpPr>
          <p:cNvPr id="10" name="Text 8"/>
          <p:cNvSpPr/>
          <p:nvPr/>
        </p:nvSpPr>
        <p:spPr>
          <a:xfrm>
            <a:off x="3246120" y="2990088"/>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quantifie la capacité avec finesse, mais perd la victime : il ne rapporte pas la latence subie par le trafic concurrent.</a:t>
            </a:r>
            <a:endParaRPr lang="en-US" sz="1450" dirty="0"/>
          </a:p>
        </p:txBody>
      </p:sp>
      <p:sp>
        <p:nvSpPr>
          <p:cNvPr id="11" name="Shape 9"/>
          <p:cNvSpPr/>
          <p:nvPr/>
        </p:nvSpPr>
        <p:spPr>
          <a:xfrm>
            <a:off x="822960" y="3721608"/>
            <a:ext cx="10543032" cy="12802"/>
          </a:xfrm>
          <a:prstGeom prst="rect">
            <a:avLst/>
          </a:prstGeom>
          <a:solidFill>
            <a:srgbClr val="E0E0E0"/>
          </a:solidFill>
          <a:ln/>
        </p:spPr>
      </p:sp>
      <p:sp>
        <p:nvSpPr>
          <p:cNvPr id="12" name="Text 10"/>
          <p:cNvSpPr/>
          <p:nvPr/>
        </p:nvSpPr>
        <p:spPr>
          <a:xfrm>
            <a:off x="822960" y="3831336"/>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mahimahi</a:t>
            </a:r>
            <a:endParaRPr lang="en-US" sz="1500" dirty="0"/>
          </a:p>
        </p:txBody>
      </p:sp>
      <p:sp>
        <p:nvSpPr>
          <p:cNvPr id="13" name="Text 11"/>
          <p:cNvSpPr/>
          <p:nvPr/>
        </p:nvSpPr>
        <p:spPr>
          <a:xfrm>
            <a:off x="3246120" y="3831336"/>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émule des liens localement, mais vise le test de pages web, pas la comparaison systématique de disciplines de file.</a:t>
            </a:r>
            <a:endParaRPr lang="en-US" sz="1450" dirty="0"/>
          </a:p>
        </p:txBody>
      </p:sp>
      <p:sp>
        <p:nvSpPr>
          <p:cNvPr id="14" name="Shape 12"/>
          <p:cNvSpPr/>
          <p:nvPr/>
        </p:nvSpPr>
        <p:spPr>
          <a:xfrm>
            <a:off x="822960" y="4562856"/>
            <a:ext cx="10543032" cy="12802"/>
          </a:xfrm>
          <a:prstGeom prst="rect">
            <a:avLst/>
          </a:prstGeom>
          <a:solidFill>
            <a:srgbClr val="E0E0E0"/>
          </a:solidFill>
          <a:ln/>
        </p:spPr>
      </p:sp>
      <p:sp>
        <p:nvSpPr>
          <p:cNvPr id="15" name="Text 13"/>
          <p:cNvSpPr/>
          <p:nvPr/>
        </p:nvSpPr>
        <p:spPr>
          <a:xfrm>
            <a:off x="822960" y="4672584"/>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Tests de débit</a:t>
            </a:r>
            <a:endParaRPr lang="en-US" sz="1500" dirty="0"/>
          </a:p>
        </p:txBody>
      </p:sp>
      <p:sp>
        <p:nvSpPr>
          <p:cNvPr id="16" name="Text 14"/>
          <p:cNvSpPr/>
          <p:nvPr/>
        </p:nvSpPr>
        <p:spPr>
          <a:xfrm>
            <a:off x="3246120" y="4672584"/>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un chiffre ponctuel : sans référence de charge, sans répétition, sans archive.</a:t>
            </a:r>
            <a:endParaRPr lang="en-US" sz="1450" dirty="0"/>
          </a:p>
        </p:txBody>
      </p:sp>
      <p:sp>
        <p:nvSpPr>
          <p:cNvPr id="17" name="Shape 15"/>
          <p:cNvSpPr/>
          <p:nvPr/>
        </p:nvSpPr>
        <p:spPr>
          <a:xfrm>
            <a:off x="822960" y="5404104"/>
            <a:ext cx="10543032" cy="12802"/>
          </a:xfrm>
          <a:prstGeom prst="rect">
            <a:avLst/>
          </a:prstGeom>
          <a:solidFill>
            <a:srgbClr val="E0E0E0"/>
          </a:solidFill>
          <a:ln/>
        </p:spPr>
      </p:sp>
      <p:sp>
        <p:nvSpPr>
          <p:cNvPr id="18" name="Text 16"/>
          <p:cNvSpPr/>
          <p:nvPr/>
        </p:nvSpPr>
        <p:spPr>
          <a:xfrm>
            <a:off x="822960" y="5513832"/>
            <a:ext cx="2286000" cy="731520"/>
          </a:xfrm>
          <a:prstGeom prst="rect">
            <a:avLst/>
          </a:prstGeom>
          <a:noFill/>
          <a:ln/>
        </p:spPr>
        <p:txBody>
          <a:bodyPr wrap="square" lIns="0" tIns="0" rIns="0" bIns="0" rtlCol="0" anchor="t"/>
          <a:lstStyle/>
          <a:p>
            <a:pPr indent="0" marL="0">
              <a:buNone/>
            </a:pPr>
            <a:r>
              <a:rPr lang="en-US" sz="1500" b="1" dirty="0">
                <a:solidFill>
                  <a:srgbClr val="1C69D4"/>
                </a:solidFill>
                <a:latin typeface="Arial" pitchFamily="34" charset="0"/>
                <a:ea typeface="Arial" pitchFamily="34" charset="-122"/>
                <a:cs typeface="Arial" pitchFamily="34" charset="-120"/>
              </a:rPr>
              <a:t>Ce travail</a:t>
            </a:r>
            <a:endParaRPr lang="en-US" sz="1500" dirty="0"/>
          </a:p>
        </p:txBody>
      </p:sp>
      <p:sp>
        <p:nvSpPr>
          <p:cNvPr id="19" name="Text 17"/>
          <p:cNvSpPr/>
          <p:nvPr/>
        </p:nvSpPr>
        <p:spPr>
          <a:xfrm>
            <a:off x="3246120" y="5513832"/>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observation côté client, expérimentation reproductible, archives gelées, tarifs réels : Flent valide le socle, l'outil l'étend au cas malgache.</a:t>
            </a:r>
            <a:endParaRPr lang="en-US" sz="145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Principe latence-sous-charge : RFC 8290 · QDI ≈ le spread publié par Flent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MÉTRIQUES ET STANDARDS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métrique prolonge un standard public, sauf le coût, la contribution locale.</a:t>
            </a:r>
            <a:endParaRPr lang="en-US" sz="2400" dirty="0"/>
          </a:p>
        </p:txBody>
      </p:sp>
      <p:sp>
        <p:nvSpPr>
          <p:cNvPr id="5" name="Shape 3"/>
          <p:cNvSpPr/>
          <p:nvPr/>
        </p:nvSpPr>
        <p:spPr>
          <a:xfrm>
            <a:off x="822960" y="2249424"/>
            <a:ext cx="10543032" cy="12802"/>
          </a:xfrm>
          <a:prstGeom prst="rect">
            <a:avLst/>
          </a:prstGeom>
          <a:solidFill>
            <a:srgbClr val="E0E0E0"/>
          </a:solidFill>
          <a:ln/>
        </p:spPr>
      </p:sp>
      <p:sp>
        <p:nvSpPr>
          <p:cNvPr id="6" name="Text 4"/>
          <p:cNvSpPr/>
          <p:nvPr/>
        </p:nvSpPr>
        <p:spPr>
          <a:xfrm>
            <a:off x="822960" y="237744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small p95 sous charge</a:t>
            </a:r>
            <a:endParaRPr lang="en-US" sz="1700" dirty="0"/>
          </a:p>
        </p:txBody>
      </p:sp>
      <p:sp>
        <p:nvSpPr>
          <p:cNvPr id="7" name="Text 5"/>
          <p:cNvSpPr/>
          <p:nvPr/>
        </p:nvSpPr>
        <p:spPr>
          <a:xfrm>
            <a:off x="4983480" y="237744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RFC 8290 : la latence sous charge, angle mort des outils</a:t>
            </a:r>
            <a:endParaRPr lang="en-US" sz="1600" dirty="0"/>
          </a:p>
        </p:txBody>
      </p:sp>
      <p:sp>
        <p:nvSpPr>
          <p:cNvPr id="8" name="Shape 6"/>
          <p:cNvSpPr/>
          <p:nvPr/>
        </p:nvSpPr>
        <p:spPr>
          <a:xfrm>
            <a:off x="822960" y="3209544"/>
            <a:ext cx="10543032" cy="12802"/>
          </a:xfrm>
          <a:prstGeom prst="rect">
            <a:avLst/>
          </a:prstGeom>
          <a:solidFill>
            <a:srgbClr val="E0E0E0"/>
          </a:solidFill>
          <a:ln/>
        </p:spPr>
      </p:sp>
      <p:sp>
        <p:nvSpPr>
          <p:cNvPr id="9" name="Text 7"/>
          <p:cNvSpPr/>
          <p:nvPr/>
        </p:nvSpPr>
        <p:spPr>
          <a:xfrm>
            <a:off x="822960" y="333756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QDI, écart p95 − p50</a:t>
            </a:r>
            <a:endParaRPr lang="en-US" sz="1700" dirty="0"/>
          </a:p>
        </p:txBody>
      </p:sp>
      <p:sp>
        <p:nvSpPr>
          <p:cNvPr id="10" name="Text 8"/>
          <p:cNvSpPr/>
          <p:nvPr/>
        </p:nvSpPr>
        <p:spPr>
          <a:xfrm>
            <a:off x="4983480" y="333756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l'étalement publié par Flent sous le nom de spread</a:t>
            </a:r>
            <a:endParaRPr lang="en-US" sz="1600" dirty="0"/>
          </a:p>
        </p:txBody>
      </p:sp>
      <p:sp>
        <p:nvSpPr>
          <p:cNvPr id="11" name="Shape 9"/>
          <p:cNvSpPr/>
          <p:nvPr/>
        </p:nvSpPr>
        <p:spPr>
          <a:xfrm>
            <a:off x="822960" y="4169664"/>
            <a:ext cx="10543032" cy="12802"/>
          </a:xfrm>
          <a:prstGeom prst="rect">
            <a:avLst/>
          </a:prstGeom>
          <a:solidFill>
            <a:srgbClr val="E0E0E0"/>
          </a:solidFill>
          <a:ln/>
        </p:spPr>
      </p:sp>
      <p:sp>
        <p:nvSpPr>
          <p:cNvPr id="12" name="Text 10"/>
          <p:cNvSpPr/>
          <p:nvPr/>
        </p:nvSpPr>
        <p:spPr>
          <a:xfrm>
            <a:off x="822960" y="429768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Respect d'échéance</a:t>
            </a:r>
            <a:endParaRPr lang="en-US" sz="1700" dirty="0"/>
          </a:p>
        </p:txBody>
      </p:sp>
      <p:sp>
        <p:nvSpPr>
          <p:cNvPr id="13" name="Text 11"/>
          <p:cNvSpPr/>
          <p:nvPr/>
        </p:nvSpPr>
        <p:spPr>
          <a:xfrm>
            <a:off x="4983480" y="429768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un objectif de niveau de service (SLO) rendu mesurable</a:t>
            </a:r>
            <a:endParaRPr lang="en-US" sz="1600" dirty="0"/>
          </a:p>
        </p:txBody>
      </p:sp>
      <p:sp>
        <p:nvSpPr>
          <p:cNvPr id="14" name="Shape 12"/>
          <p:cNvSpPr/>
          <p:nvPr/>
        </p:nvSpPr>
        <p:spPr>
          <a:xfrm>
            <a:off x="822960" y="5129784"/>
            <a:ext cx="10543032" cy="12802"/>
          </a:xfrm>
          <a:prstGeom prst="rect">
            <a:avLst/>
          </a:prstGeom>
          <a:solidFill>
            <a:srgbClr val="E0E0E0"/>
          </a:solidFill>
          <a:ln/>
        </p:spPr>
      </p:sp>
      <p:sp>
        <p:nvSpPr>
          <p:cNvPr id="15" name="Text 13"/>
          <p:cNvSpPr/>
          <p:nvPr/>
        </p:nvSpPr>
        <p:spPr>
          <a:xfrm>
            <a:off x="822960" y="525780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Coût en ariary/heure</a:t>
            </a:r>
            <a:endParaRPr lang="en-US" sz="1700" dirty="0"/>
          </a:p>
        </p:txBody>
      </p:sp>
      <p:sp>
        <p:nvSpPr>
          <p:cNvPr id="16" name="Text 14"/>
          <p:cNvSpPr/>
          <p:nvPr/>
        </p:nvSpPr>
        <p:spPr>
          <a:xfrm>
            <a:off x="4983480" y="525780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absent de la littérature : la contribution du contexte prépayé</a:t>
            </a:r>
            <a:endParaRPr lang="en-US" sz="1600" dirty="0"/>
          </a:p>
        </p:txBody>
      </p:sp>
      <p:sp>
        <p:nvSpPr>
          <p:cNvPr id="17" name="Text 15"/>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Méthode UIT pour la voix, tarifs publics pour le coût : tout est sourcé</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SOURCES TARIFAIRES 2026</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tarif est public, daté, et le palier est un paramètre, pas une constante.</a:t>
            </a:r>
            <a:endParaRPr lang="en-US" sz="2400" dirty="0"/>
          </a:p>
        </p:txBody>
      </p:sp>
      <p:sp>
        <p:nvSpPr>
          <p:cNvPr id="5" name="Shape 3"/>
          <p:cNvSpPr/>
          <p:nvPr/>
        </p:nvSpPr>
        <p:spPr>
          <a:xfrm>
            <a:off x="822960" y="2176272"/>
            <a:ext cx="10543032" cy="12802"/>
          </a:xfrm>
          <a:prstGeom prst="rect">
            <a:avLst/>
          </a:prstGeom>
          <a:solidFill>
            <a:srgbClr val="E0E0E0"/>
          </a:solidFill>
          <a:ln/>
        </p:spPr>
      </p:sp>
      <p:sp>
        <p:nvSpPr>
          <p:cNvPr id="6" name="Text 4"/>
          <p:cNvSpPr/>
          <p:nvPr/>
        </p:nvSpPr>
        <p:spPr>
          <a:xfrm>
            <a:off x="822960" y="2286000"/>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Net Month 25000</a:t>
            </a:r>
            <a:endParaRPr lang="en-US" sz="1500" dirty="0"/>
          </a:p>
        </p:txBody>
      </p:sp>
      <p:sp>
        <p:nvSpPr>
          <p:cNvPr id="7" name="Text 5"/>
          <p:cNvSpPr/>
          <p:nvPr/>
        </p:nvSpPr>
        <p:spPr>
          <a:xfrm>
            <a:off x="4754880" y="2286000"/>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25 000 Ar · 4,5 Go · 30 j · 5 556 Ar/Go : le palier par défaut</a:t>
            </a:r>
            <a:endParaRPr lang="en-US" sz="1500" dirty="0"/>
          </a:p>
        </p:txBody>
      </p:sp>
      <p:sp>
        <p:nvSpPr>
          <p:cNvPr id="8" name="Shape 6"/>
          <p:cNvSpPr/>
          <p:nvPr/>
        </p:nvSpPr>
        <p:spPr>
          <a:xfrm>
            <a:off x="822960" y="3017520"/>
            <a:ext cx="10543032" cy="12802"/>
          </a:xfrm>
          <a:prstGeom prst="rect">
            <a:avLst/>
          </a:prstGeom>
          <a:solidFill>
            <a:srgbClr val="E0E0E0"/>
          </a:solidFill>
          <a:ln/>
        </p:spPr>
      </p:sp>
      <p:sp>
        <p:nvSpPr>
          <p:cNvPr id="9" name="Text 7"/>
          <p:cNvSpPr/>
          <p:nvPr/>
        </p:nvSpPr>
        <p:spPr>
          <a:xfrm>
            <a:off x="822960" y="3127248"/>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Ye'low One</a:t>
            </a:r>
            <a:endParaRPr lang="en-US" sz="1500" dirty="0"/>
          </a:p>
        </p:txBody>
      </p:sp>
      <p:sp>
        <p:nvSpPr>
          <p:cNvPr id="10" name="Text 8"/>
          <p:cNvSpPr/>
          <p:nvPr/>
        </p:nvSpPr>
        <p:spPr>
          <a:xfrm>
            <a:off x="4754880" y="3127248"/>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1 000 Ar · 1 Go · 24 h · 1 000 Ar/Go : le meilleur rapport</a:t>
            </a:r>
            <a:endParaRPr lang="en-US" sz="1500" dirty="0"/>
          </a:p>
        </p:txBody>
      </p:sp>
      <p:sp>
        <p:nvSpPr>
          <p:cNvPr id="11" name="Shape 9"/>
          <p:cNvSpPr/>
          <p:nvPr/>
        </p:nvSpPr>
        <p:spPr>
          <a:xfrm>
            <a:off x="822960" y="3858768"/>
            <a:ext cx="10543032" cy="12802"/>
          </a:xfrm>
          <a:prstGeom prst="rect">
            <a:avLst/>
          </a:prstGeom>
          <a:solidFill>
            <a:srgbClr val="E0E0E0"/>
          </a:solidFill>
          <a:ln/>
        </p:spPr>
      </p:sp>
      <p:sp>
        <p:nvSpPr>
          <p:cNvPr id="12" name="Text 10"/>
          <p:cNvSpPr/>
          <p:nvPr/>
        </p:nvSpPr>
        <p:spPr>
          <a:xfrm>
            <a:off x="822960" y="3968496"/>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Fibre IN 100 Go</a:t>
            </a:r>
            <a:endParaRPr lang="en-US" sz="1500" dirty="0"/>
          </a:p>
        </p:txBody>
      </p:sp>
      <p:sp>
        <p:nvSpPr>
          <p:cNvPr id="13" name="Text 11"/>
          <p:cNvSpPr/>
          <p:nvPr/>
        </p:nvSpPr>
        <p:spPr>
          <a:xfrm>
            <a:off x="4754880" y="3968496"/>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49 000 Ar/mois · 490 Ar/Go : la fibre institutionnelle</a:t>
            </a:r>
            <a:endParaRPr lang="en-US" sz="1500" dirty="0"/>
          </a:p>
        </p:txBody>
      </p:sp>
      <p:sp>
        <p:nvSpPr>
          <p:cNvPr id="14" name="Shape 12"/>
          <p:cNvSpPr/>
          <p:nvPr/>
        </p:nvSpPr>
        <p:spPr>
          <a:xfrm>
            <a:off x="822960" y="4700016"/>
            <a:ext cx="10543032" cy="12802"/>
          </a:xfrm>
          <a:prstGeom prst="rect">
            <a:avLst/>
          </a:prstGeom>
          <a:solidFill>
            <a:srgbClr val="E0E0E0"/>
          </a:solidFill>
          <a:ln/>
        </p:spPr>
      </p:sp>
      <p:sp>
        <p:nvSpPr>
          <p:cNvPr id="15" name="Text 13"/>
          <p:cNvSpPr/>
          <p:nvPr/>
        </p:nvSpPr>
        <p:spPr>
          <a:xfrm>
            <a:off x="822960" y="4809744"/>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Starlink résidentiel</a:t>
            </a:r>
            <a:endParaRPr lang="en-US" sz="1500" dirty="0"/>
          </a:p>
        </p:txBody>
      </p:sp>
      <p:sp>
        <p:nvSpPr>
          <p:cNvPr id="16" name="Text 14"/>
          <p:cNvSpPr/>
          <p:nvPr/>
        </p:nvSpPr>
        <p:spPr>
          <a:xfrm>
            <a:off x="4754880" y="4809744"/>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226 000 Ar/mois hors matériel : presse 2025</a:t>
            </a:r>
            <a:endParaRPr lang="en-US" sz="1500" dirty="0"/>
          </a:p>
        </p:txBody>
      </p:sp>
      <p:sp>
        <p:nvSpPr>
          <p:cNvPr id="17" name="Shape 15"/>
          <p:cNvSpPr/>
          <p:nvPr/>
        </p:nvSpPr>
        <p:spPr>
          <a:xfrm>
            <a:off x="822960" y="5541264"/>
            <a:ext cx="10543032" cy="12802"/>
          </a:xfrm>
          <a:prstGeom prst="rect">
            <a:avLst/>
          </a:prstGeom>
          <a:solidFill>
            <a:srgbClr val="E0E0E0"/>
          </a:solidFill>
          <a:ln/>
        </p:spPr>
      </p:sp>
      <p:sp>
        <p:nvSpPr>
          <p:cNvPr id="18" name="Text 16"/>
          <p:cNvSpPr/>
          <p:nvPr/>
        </p:nvSpPr>
        <p:spPr>
          <a:xfrm>
            <a:off x="822960" y="5650992"/>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Renversement des paliers</a:t>
            </a:r>
            <a:endParaRPr lang="en-US" sz="1500" dirty="0"/>
          </a:p>
        </p:txBody>
      </p:sp>
      <p:sp>
        <p:nvSpPr>
          <p:cNvPr id="19" name="Text 17"/>
          <p:cNvSpPr/>
          <p:nvPr/>
        </p:nvSpPr>
        <p:spPr>
          <a:xfrm>
            <a:off x="4754880" y="5650992"/>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le journalier coûte cinq fois moins au Go : le choix de palier décide du chiffrage</a:t>
            </a:r>
            <a:endParaRPr lang="en-US" sz="150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Grilles publiques yas.mg · test verrouillé : 4,5 Go gaspillés = 500 040 Ar/h au palier mensuel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banc d'essai et une méthode d'audit pour la protection du trafic critique</dc:title>
  <dc:subject>PptxGenJS Presentation</dc:subject>
  <dc:creator>Meteolink</dc:creator>
  <cp:lastModifiedBy>Meteolink</cp:lastModifiedBy>
  <cp:revision>1</cp:revision>
  <dcterms:created xsi:type="dcterms:W3CDTF">2026-09-04T13:46:18Z</dcterms:created>
  <dcterms:modified xsi:type="dcterms:W3CDTF">2026-09-04T13:46:18Z</dcterms:modified>
</cp:coreProperties>
</file>