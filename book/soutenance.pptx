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Monsieur le président, mesdames et messieurs les membres du jury. Je vais vous présenter un travail conduit à Météo Madagascar : comment protéger le trafic critique quand il partage des liens d'accès prépayés avec des téléchargements massifs. Trente secondes, le titre, puis j'entre.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réseau de Météo Madagascar est vital : les alertes cyclones partent par ces liens. Mais la contrainte forte est économique : la 4G se vend prépayée. Vingt-cinq mille ariary achètent quatre virgule cinq gigaoctets par mois : cinq mille cinq cent cinquante-six ariary le gigaoctet. Sur ces liens, chaque retransmission due à la congestion est un octet payé deux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phénomène s'appelle le bufferbloat, documenté depuis 2011. Le débit ne baisse pas : c'est le temps de réponse qui part. Pendant un téléchargement, la file d'attente du routeur grossit, et les petites requêtes, elles, attendent. Sur nos bancs, nous avons mesuré trois cent vingt-huit millisecondes de latence de queue dans le pire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résultat central du travail. Profil cellulaire, échéance de deux cent vingt millisecondes, transfert massif en cours. À gauche, la file simple d'origine : soixante pour cent des requêtes seulement passent à temps. À droite, les disciplines actives : quatre-vingt-seize et quatre-vingt-dix-huit pour cent. Même charge, même débit utile. C'est la mesure qui fonde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banc s'installe sur le poste client, pas sur le réseau. Une paire d'interfaces virtuelles reconstitue le lien : délai, gigue, perte du profil visé. La discipline de file testée s'applique à l'émission. Aucun équipement de production n'est modifié, et deux exécutions de la même campagne se comparent à conditions identiques.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d'être compté, chaque mesure passe huit portes : la cible répond, la charge a vraiment démarré, la latence est physiquement plausible, le débit cohérent, aucune ligne dupliquée, le repos était stable, le processeur au repos. Ce qui échoue part en quarantaine, et on le publie : cent cinquante-quatre lignes rejetées pour quatre-vingt-trois valides. Le ratio est dans le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tient dans un seul binaire : il se copie, il se lance, tout est dedans. Chaque mesure est gelée avec son empreinte SHA-256 : n'importe quel lecteur peut vérifier que les fichiers n'ont pas bougé. Et le banc survit aux coupures de courant : la campagne reprend où elle s'était arrêtée, sans perdre une seule ligne déjà gelée.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tableau de bord pendant une campagne. La vue Live publie dix instantanés par seconde : latence des sondes critiques, débit du transfert, paquets écartés. Le mur central compare la configuration en cours à la référence gelée. L'écart se creuse en direct quand la file dérive : l'opérateur voit la conclusion se dessiner avant même la première ligne gelée.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régularité compte autant que la latence. L'écart entre le p95 et la médiane tombe de cinquante-deux à environ treize millisecondes avec une discipline active. Concrètement : sur un lien régulier, un seuil d'alerte fonctionne ; sur un lien erratique, le même seuil sonne en permanence ou ne sonne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traduire la latence en qualité perçue, le modèle E de l'UIT donne un score R de zéro à cent. Au repos : la fibre et l'orbite basse passent la barre de quatre-vingts, l'appel excellent ; le cellulaire s'y maintient de justesse ; le satellite géostationnaire reste vers soixante et onze, et aucune configuration de file ne déplacera son délai de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L'orbite basse change la nature du problème. Le satellite géostationnaire impose six cents millisecondes de physique qu'aucune file ne déplace. L'orbite basse descend à quarante : la latence devient utilisable, mais la gigue des relais entre satellites, elle, se mesure et se surveille. Sur nos trois cellules P4, le score de voix avoisine quatre-vingt-douze.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octet retransmis est un octet payé deux fois. La mesure chiffre le gaspillage en ariary par heure, au tarif réel du forfait. La lecture se fait en regard : la file simple gaspille le moins en octets, mais elle rate quarante pour cent des échéances. Les disciplines actives gaspillent plus, parce qu'elles écartent des paquets pour protéger la latence. Le choix appartient à la direction, avec les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campagne, la vue Résultats classe les cellules gelées et calcule, pour chacune, un verdict en mots ordinaires avec sa prescription de configuration. La direction ne lit pas des millisecondes : elle lit des engagements tenus ou manqués, et le prix de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prescription tient en une ligne de configuration sur le routeur du site : CAKE, capacité calée juste sous la capacité mesurée du lien. Le déploiement se fait en fenêtre de maintenance, avec une mesure avant et après. Et l'instrument devient sentinelle : toute requête qui dépasse l'échéance alerte au journal de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apports. Un instrument : un binaire qui conduit l'audit, le banc et la vérification. Des résultats : les premières mesures comparatives de disciplines de file sur des profils de liens malgaches, converties en ariary. Et une méthode : chaque affirmation du mémoire se ramène à des fichiers gelés, horodatés, empreintés, que le lecteur peut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sont assumées et publiées. Les métriques visent la latence du trafic critique, pas l'équité entre flux. Les cellules finales ne comptent qu'une répétition. La fenêtre de charge dure deux minutes, pas une journée. Le trafic est synthétique, le banc ne reproduit pas la couche radio. Ces bornes ne fragilisent pas les comparaisons, qui se font à conditions identiques ; elles en délimitent le champ.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 sur le lien cellulaire, la discipline active fait passer le respect d'échéance de soixante à quatre-vingt-dix-huit pour cent, au même débit. La protection ne coûte pas du débit, elle coûte quelques paquets écartés, chiffrés en ariary. Le même abonnement prépayé, correctement configuré, transporte les alertes à l'heure et les modèles à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de votre attention. Merci à Météo Madagascar pour l'accueil, à mes encadrants pour la direction du travail, et aux membres du jury pour leur lecture. Je suis à votre disposition pour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les définitions exactes des métriques, telles qu'elles figurent dans la partie théorique du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les huit portes avec leurs conditions exactes d'implémentation, tirées du moteur de campagne.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la matrice expérimentale. Trois disciplines, deux contrôles de congestion, quatre profils, répétitions par cellule. Le croisement complet fait trente-six événements pour deux profils.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le schéma du fichier aqm_eval.csv, une ligne par événement, avec le manifeste SHA-256 du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les commandes de l'instrument, du diagnostic à la vérification. Une journée complète tient en une poignée de gestes.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la position par rapport aux outils publics. Flent exige l'équipement, iperf3 perd la victime, mahimahi perd la campagne, les tests grand public perdent tout sauf le chiffre.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chaque métrique prolonge un standard public, sauf le coût en ariary, qui est la contribution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les sources tarifaires datées, publiées dans la recherche de prix du mémoire. Le palier mensuel, pire rapport du catalogue, est le défaut retenu pour cohérence avec les liens cellulaires.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62984" cy="54864"/>
          </a:xfrm>
          <a:prstGeom prst="rect">
            <a:avLst/>
          </a:prstGeom>
          <a:solidFill>
            <a:srgbClr val="0066B1"/>
          </a:solidFill>
          <a:ln/>
        </p:spPr>
      </p:sp>
      <p:sp>
        <p:nvSpPr>
          <p:cNvPr id="3" name="Shape 1"/>
          <p:cNvSpPr/>
          <p:nvPr/>
        </p:nvSpPr>
        <p:spPr>
          <a:xfrm>
            <a:off x="4062984" y="0"/>
            <a:ext cx="4062984" cy="54864"/>
          </a:xfrm>
          <a:prstGeom prst="rect">
            <a:avLst/>
          </a:prstGeom>
          <a:solidFill>
            <a:srgbClr val="1C69D4"/>
          </a:solidFill>
          <a:ln/>
        </p:spPr>
      </p:sp>
      <p:sp>
        <p:nvSpPr>
          <p:cNvPr id="4" name="Shape 2"/>
          <p:cNvSpPr/>
          <p:nvPr/>
        </p:nvSpPr>
        <p:spPr>
          <a:xfrm>
            <a:off x="8125968" y="0"/>
            <a:ext cx="4062984" cy="54864"/>
          </a:xfrm>
          <a:prstGeom prst="rect">
            <a:avLst/>
          </a:prstGeom>
          <a:solidFill>
            <a:srgbClr val="E22718"/>
          </a:solidFill>
          <a:ln/>
        </p:spPr>
      </p:sp>
      <p:sp>
        <p:nvSpPr>
          <p:cNvPr id="5" name="Text 3"/>
          <p:cNvSpPr/>
          <p:nvPr/>
        </p:nvSpPr>
        <p:spPr>
          <a:xfrm>
            <a:off x="658368" y="1371600"/>
            <a:ext cx="10872216" cy="365760"/>
          </a:xfrm>
          <a:prstGeom prst="rect">
            <a:avLst/>
          </a:prstGeom>
          <a:noFill/>
          <a:ln/>
        </p:spPr>
        <p:txBody>
          <a:bodyPr wrap="square" lIns="0" tIns="0" rIns="0" bIns="0" rtlCol="0" anchor="ctr"/>
          <a:lstStyle/>
          <a:p>
            <a:pPr indent="0" marL="0">
              <a:buNone/>
            </a:pPr>
            <a:r>
              <a:rPr lang="en-US" sz="1400" b="1" spc="200" kern="0" dirty="0">
                <a:solidFill>
                  <a:srgbClr val="1C69D4"/>
                </a:solidFill>
                <a:latin typeface="Arial" pitchFamily="34" charset="0"/>
                <a:ea typeface="Arial" pitchFamily="34" charset="-122"/>
                <a:cs typeface="Arial" pitchFamily="34" charset="-120"/>
              </a:rPr>
              <a:t>MÉTÉO MADAGASCAR · MASTER INFORMATIQUE · 2026</a:t>
            </a:r>
            <a:endParaRPr lang="en-US" sz="1400" dirty="0"/>
          </a:p>
        </p:txBody>
      </p:sp>
      <p:sp>
        <p:nvSpPr>
          <p:cNvPr id="6" name="Text 4"/>
          <p:cNvSpPr/>
          <p:nvPr/>
        </p:nvSpPr>
        <p:spPr>
          <a:xfrm>
            <a:off x="658368" y="1965960"/>
            <a:ext cx="10872216" cy="2011680"/>
          </a:xfrm>
          <a:prstGeom prst="rect">
            <a:avLst/>
          </a:prstGeom>
          <a:noFill/>
          <a:ln/>
        </p:spPr>
        <p:txBody>
          <a:bodyPr wrap="square" lIns="0" tIns="0" rIns="0" bIns="0" rtlCol="0" anchor="t"/>
          <a:lstStyle/>
          <a:p>
            <a:pPr indent="0" marL="0">
              <a:lnSpc>
                <a:spcPts val="5200"/>
              </a:lnSpc>
              <a:buNone/>
            </a:pPr>
            <a:r>
              <a:rPr lang="en-US" sz="4400" b="1" dirty="0">
                <a:solidFill>
                  <a:srgbClr val="111111"/>
                </a:solidFill>
                <a:latin typeface="Arial" pitchFamily="34" charset="0"/>
                <a:ea typeface="Arial" pitchFamily="34" charset="-122"/>
                <a:cs typeface="Arial" pitchFamily="34" charset="-120"/>
              </a:rPr>
              <a:t>PROTÉGER LE TRAFIC CRITIQUE</a:t>
            </a:r>
            <a:endParaRPr lang="en-US" sz="4400" dirty="0"/>
          </a:p>
          <a:p>
            <a:pPr indent="0" marL="0">
              <a:lnSpc>
                <a:spcPts val="5200"/>
              </a:lnSpc>
              <a:buNone/>
            </a:pPr>
            <a:r>
              <a:rPr lang="en-US" sz="4400" b="1" dirty="0">
                <a:solidFill>
                  <a:srgbClr val="111111"/>
                </a:solidFill>
                <a:latin typeface="Arial" pitchFamily="34" charset="0"/>
                <a:ea typeface="Arial" pitchFamily="34" charset="-122"/>
                <a:cs typeface="Arial" pitchFamily="34" charset="-120"/>
              </a:rPr>
              <a:t>SUR LES LIENS D'ACCÈS PRÉPAYÉS</a:t>
            </a:r>
            <a:endParaRPr lang="en-US" sz="4400" dirty="0"/>
          </a:p>
        </p:txBody>
      </p:sp>
      <p:sp>
        <p:nvSpPr>
          <p:cNvPr id="7" name="Text 5"/>
          <p:cNvSpPr/>
          <p:nvPr/>
        </p:nvSpPr>
        <p:spPr>
          <a:xfrm>
            <a:off x="658368" y="4160520"/>
            <a:ext cx="8988552" cy="82296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Un banc d'essai et une méthode d'audit pour la discipline de file des liens d'accès malgaches</a:t>
            </a:r>
            <a:endParaRPr lang="en-US" sz="2000" dirty="0"/>
          </a:p>
        </p:txBody>
      </p:sp>
      <p:sp>
        <p:nvSpPr>
          <p:cNvPr id="8" name="Text 6"/>
          <p:cNvSpPr/>
          <p:nvPr/>
        </p:nvSpPr>
        <p:spPr>
          <a:xfrm>
            <a:off x="658368" y="5760720"/>
            <a:ext cx="10872216" cy="365760"/>
          </a:xfrm>
          <a:prstGeom prst="rect">
            <a:avLst/>
          </a:prstGeom>
          <a:noFill/>
          <a:ln/>
        </p:spPr>
        <p:txBody>
          <a:bodyPr wrap="square" lIns="0" tIns="0" rIns="0" bIns="0" rtlCol="0" anchor="ctr"/>
          <a:lstStyle/>
          <a:p>
            <a:pPr indent="0" marL="0">
              <a:buNone/>
            </a:pPr>
            <a:r>
              <a:rPr lang="en-US" sz="1400" dirty="0">
                <a:solidFill>
                  <a:srgbClr val="8A8A8A"/>
                </a:solidFill>
                <a:latin typeface="Arial" pitchFamily="34" charset="0"/>
                <a:ea typeface="Arial" pitchFamily="34" charset="-122"/>
                <a:cs typeface="Arial" pitchFamily="34" charset="-120"/>
              </a:rPr>
              <a:t>Candidat · Encadrement · Mention Informatique, Université d'Antananarivo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02</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 CONTEXTE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UN RÉSEAU VITAL,</a:t>
            </a:r>
            <a:endParaRPr lang="en-US" sz="4000" dirty="0"/>
          </a:p>
          <a:p>
            <a:pPr indent="0" marL="0">
              <a:buNone/>
            </a:pPr>
            <a:r>
              <a:rPr lang="en-US" sz="4000" b="1" dirty="0">
                <a:solidFill>
                  <a:srgbClr val="111111"/>
                </a:solidFill>
                <a:latin typeface="Arial" pitchFamily="34" charset="0"/>
                <a:ea typeface="Arial" pitchFamily="34" charset="-122"/>
                <a:cs typeface="Arial" pitchFamily="34" charset="-120"/>
              </a:rPr>
              <a:t>UN BUDGET PRÉPAYÉ</a:t>
            </a:r>
            <a:endParaRPr lang="en-US" sz="4000" dirty="0"/>
          </a:p>
        </p:txBody>
      </p:sp>
      <p:sp>
        <p:nvSpPr>
          <p:cNvPr id="5" name="Text 3"/>
          <p:cNvSpPr/>
          <p:nvPr/>
        </p:nvSpPr>
        <p:spPr>
          <a:xfrm>
            <a:off x="658368" y="2103120"/>
            <a:ext cx="10872216" cy="1463040"/>
          </a:xfrm>
          <a:prstGeom prst="rect">
            <a:avLst/>
          </a:prstGeom>
          <a:noFill/>
          <a:ln/>
        </p:spPr>
        <p:txBody>
          <a:bodyPr wrap="square" lIns="0" tIns="0" rIns="0" bIns="0" rtlCol="0" anchor="t"/>
          <a:lstStyle/>
          <a:p>
            <a:pPr indent="0" marL="0">
              <a:buNone/>
            </a:pPr>
            <a:r>
              <a:rPr lang="en-US" sz="2400" dirty="0">
                <a:solidFill>
                  <a:srgbClr val="3A3A3A"/>
                </a:solidFill>
                <a:latin typeface="Arial" pitchFamily="34" charset="0"/>
                <a:ea typeface="Arial" pitchFamily="34" charset="-122"/>
                <a:cs typeface="Arial" pitchFamily="34" charset="-120"/>
              </a:rPr>
              <a:t>Les relevés des stations, les alertes cyclones et les consultations de tableaux de bord partagent les mêmes liens d'accès que les images satellite : fibre au siège, 4G dans les régions, satellite dans les stations isolées.</a:t>
            </a:r>
            <a:endParaRPr lang="en-US" sz="2400" dirty="0"/>
          </a:p>
        </p:txBody>
      </p:sp>
      <p:sp>
        <p:nvSpPr>
          <p:cNvPr id="6" name="Text 4"/>
          <p:cNvSpPr/>
          <p:nvPr/>
        </p:nvSpPr>
        <p:spPr>
          <a:xfrm>
            <a:off x="658368" y="3977640"/>
            <a:ext cx="3840480" cy="1051560"/>
          </a:xfrm>
          <a:prstGeom prst="rect">
            <a:avLst/>
          </a:prstGeom>
          <a:noFill/>
          <a:ln/>
        </p:spPr>
        <p:txBody>
          <a:bodyPr wrap="square" lIns="0" tIns="0" rIns="0" bIns="0" rtlCol="0" anchor="ctr"/>
          <a:lstStyle/>
          <a:p>
            <a:pPr algn="ctr" indent="0" marL="0">
              <a:buNone/>
            </a:pPr>
            <a:r>
              <a:rPr lang="en-US" sz="5400" b="1" dirty="0">
                <a:solidFill>
                  <a:srgbClr val="1C69D4"/>
                </a:solidFill>
                <a:latin typeface="Arial" pitchFamily="34" charset="0"/>
                <a:ea typeface="Arial" pitchFamily="34" charset="-122"/>
                <a:cs typeface="Arial" pitchFamily="34" charset="-120"/>
              </a:rPr>
              <a:t>25 000 Ar</a:t>
            </a:r>
            <a:endParaRPr lang="en-US" sz="5400" dirty="0"/>
          </a:p>
        </p:txBody>
      </p:sp>
      <p:sp>
        <p:nvSpPr>
          <p:cNvPr id="7" name="Text 5"/>
          <p:cNvSpPr/>
          <p:nvPr/>
        </p:nvSpPr>
        <p:spPr>
          <a:xfrm>
            <a:off x="658368" y="5029200"/>
            <a:ext cx="3840480" cy="685800"/>
          </a:xfrm>
          <a:prstGeom prst="rect">
            <a:avLst/>
          </a:prstGeom>
          <a:noFill/>
          <a:ln/>
        </p:spPr>
        <p:txBody>
          <a:bodyPr wrap="square" lIns="0" tIns="0" rIns="0" bIns="0" rtlCol="0" anchor="t"/>
          <a:lstStyle/>
          <a:p>
            <a:pPr algn="ctr" indent="0" marL="0">
              <a:buNone/>
            </a:pPr>
            <a:r>
              <a:rPr lang="en-US" sz="1700" dirty="0">
                <a:solidFill>
                  <a:srgbClr val="3A3A3A"/>
                </a:solidFill>
                <a:latin typeface="Arial" pitchFamily="34" charset="0"/>
                <a:ea typeface="Arial" pitchFamily="34" charset="-122"/>
                <a:cs typeface="Arial" pitchFamily="34" charset="-120"/>
              </a:rPr>
              <a:t>le forfait mensuel de référence : 4,5 Go prépayés, opérateur principal, 2026</a:t>
            </a:r>
            <a:endParaRPr lang="en-US" sz="1700" dirty="0"/>
          </a:p>
        </p:txBody>
      </p:sp>
      <p:sp>
        <p:nvSpPr>
          <p:cNvPr id="8" name="Text 6"/>
          <p:cNvSpPr/>
          <p:nvPr/>
        </p:nvSpPr>
        <p:spPr>
          <a:xfrm>
            <a:off x="4315968" y="3977640"/>
            <a:ext cx="3840480" cy="1051560"/>
          </a:xfrm>
          <a:prstGeom prst="rect">
            <a:avLst/>
          </a:prstGeom>
          <a:noFill/>
          <a:ln/>
        </p:spPr>
        <p:txBody>
          <a:bodyPr wrap="square" lIns="0" tIns="0" rIns="0" bIns="0" rtlCol="0" anchor="ctr"/>
          <a:lstStyle/>
          <a:p>
            <a:pPr algn="ctr" indent="0" marL="0">
              <a:buNone/>
            </a:pPr>
            <a:r>
              <a:rPr lang="en-US" sz="5400" b="1" dirty="0">
                <a:solidFill>
                  <a:srgbClr val="1C69D4"/>
                </a:solidFill>
                <a:latin typeface="Arial" pitchFamily="34" charset="0"/>
                <a:ea typeface="Arial" pitchFamily="34" charset="-122"/>
                <a:cs typeface="Arial" pitchFamily="34" charset="-120"/>
              </a:rPr>
              <a:t>5 556 Ar/Go</a:t>
            </a:r>
            <a:endParaRPr lang="en-US" sz="5400" dirty="0"/>
          </a:p>
        </p:txBody>
      </p:sp>
      <p:sp>
        <p:nvSpPr>
          <p:cNvPr id="9" name="Text 7"/>
          <p:cNvSpPr/>
          <p:nvPr/>
        </p:nvSpPr>
        <p:spPr>
          <a:xfrm>
            <a:off x="4315968" y="5029200"/>
            <a:ext cx="3840480" cy="685800"/>
          </a:xfrm>
          <a:prstGeom prst="rect">
            <a:avLst/>
          </a:prstGeom>
          <a:noFill/>
          <a:ln/>
        </p:spPr>
        <p:txBody>
          <a:bodyPr wrap="square" lIns="0" tIns="0" rIns="0" bIns="0" rtlCol="0" anchor="t"/>
          <a:lstStyle/>
          <a:p>
            <a:pPr algn="ctr" indent="0" marL="0">
              <a:buNone/>
            </a:pPr>
            <a:r>
              <a:rPr lang="en-US" sz="1700" dirty="0">
                <a:solidFill>
                  <a:srgbClr val="3A3A3A"/>
                </a:solidFill>
                <a:latin typeface="Arial" pitchFamily="34" charset="0"/>
                <a:ea typeface="Arial" pitchFamily="34" charset="-122"/>
                <a:cs typeface="Arial" pitchFamily="34" charset="-120"/>
              </a:rPr>
              <a:t>le prix du gigaoctet sur ce palier, le pire rapport du catalogue</a:t>
            </a:r>
            <a:endParaRPr lang="en-US" sz="1700" dirty="0"/>
          </a:p>
        </p:txBody>
      </p:sp>
      <p:sp>
        <p:nvSpPr>
          <p:cNvPr id="10" name="Text 8"/>
          <p:cNvSpPr/>
          <p:nvPr/>
        </p:nvSpPr>
        <p:spPr>
          <a:xfrm>
            <a:off x="7973568" y="3977640"/>
            <a:ext cx="3840480" cy="1051560"/>
          </a:xfrm>
          <a:prstGeom prst="rect">
            <a:avLst/>
          </a:prstGeom>
          <a:noFill/>
          <a:ln/>
        </p:spPr>
        <p:txBody>
          <a:bodyPr wrap="square" lIns="0" tIns="0" rIns="0" bIns="0" rtlCol="0" anchor="ctr"/>
          <a:lstStyle/>
          <a:p>
            <a:pPr algn="ctr" indent="0" marL="0">
              <a:buNone/>
            </a:pPr>
            <a:r>
              <a:rPr lang="en-US" sz="5400" b="1" dirty="0">
                <a:solidFill>
                  <a:srgbClr val="111111"/>
                </a:solidFill>
                <a:latin typeface="Arial" pitchFamily="34" charset="0"/>
                <a:ea typeface="Arial" pitchFamily="34" charset="-122"/>
                <a:cs typeface="Arial" pitchFamily="34" charset="-120"/>
              </a:rPr>
              <a:t>x2</a:t>
            </a:r>
            <a:endParaRPr lang="en-US" sz="5400" dirty="0"/>
          </a:p>
        </p:txBody>
      </p:sp>
      <p:sp>
        <p:nvSpPr>
          <p:cNvPr id="11" name="Text 9"/>
          <p:cNvSpPr/>
          <p:nvPr/>
        </p:nvSpPr>
        <p:spPr>
          <a:xfrm>
            <a:off x="7973568" y="5029200"/>
            <a:ext cx="3840480" cy="685800"/>
          </a:xfrm>
          <a:prstGeom prst="rect">
            <a:avLst/>
          </a:prstGeom>
          <a:noFill/>
          <a:ln/>
        </p:spPr>
        <p:txBody>
          <a:bodyPr wrap="square" lIns="0" tIns="0" rIns="0" bIns="0" rtlCol="0" anchor="t"/>
          <a:lstStyle/>
          <a:p>
            <a:pPr algn="ctr" indent="0" marL="0">
              <a:buNone/>
            </a:pPr>
            <a:r>
              <a:rPr lang="en-US" sz="1700" dirty="0">
                <a:solidFill>
                  <a:srgbClr val="3A3A3A"/>
                </a:solidFill>
                <a:latin typeface="Arial" pitchFamily="34" charset="0"/>
                <a:ea typeface="Arial" pitchFamily="34" charset="-122"/>
                <a:cs typeface="Arial" pitchFamily="34" charset="-120"/>
              </a:rPr>
              <a:t>chaque octet retransmis par la congestion est payé deux fois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03</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 PROBLÈME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LE PÉAGE EMBOUTEILLÉ</a:t>
            </a:r>
            <a:endParaRPr lang="en-US" sz="4000" dirty="0"/>
          </a:p>
        </p:txBody>
      </p:sp>
      <p:sp>
        <p:nvSpPr>
          <p:cNvPr id="5" name="Text 3"/>
          <p:cNvSpPr/>
          <p:nvPr/>
        </p:nvSpPr>
        <p:spPr>
          <a:xfrm>
            <a:off x="658368" y="1783080"/>
            <a:ext cx="5852160" cy="2011680"/>
          </a:xfrm>
          <a:prstGeom prst="rect">
            <a:avLst/>
          </a:prstGeom>
          <a:noFill/>
          <a:ln/>
        </p:spPr>
        <p:txBody>
          <a:bodyPr wrap="square" lIns="0" tIns="0" rIns="0" bIns="0" rtlCol="0" anchor="t"/>
          <a:lstStyle/>
          <a:p>
            <a:pPr indent="0" marL="0">
              <a:buNone/>
            </a:pPr>
            <a:r>
              <a:rPr lang="en-US" sz="2200" dirty="0">
                <a:solidFill>
                  <a:srgbClr val="3A3A3A"/>
                </a:solidFill>
                <a:latin typeface="Arial" pitchFamily="34" charset="0"/>
                <a:ea typeface="Arial" pitchFamily="34" charset="-122"/>
                <a:cs typeface="Arial" pitchFamily="34" charset="-120"/>
              </a:rPr>
              <a:t>Un transfert massif sature le lien. La file d'attente du routeur grossit : le débit reste, la latence explose. Les petites requêtes attendent derrière les gros paquets.</a:t>
            </a:r>
            <a:endParaRPr lang="en-US" sz="2200" dirty="0"/>
          </a:p>
        </p:txBody>
      </p:sp>
      <p:sp>
        <p:nvSpPr>
          <p:cNvPr id="6" name="Shape 4"/>
          <p:cNvSpPr/>
          <p:nvPr/>
        </p:nvSpPr>
        <p:spPr>
          <a:xfrm>
            <a:off x="822960" y="4206240"/>
            <a:ext cx="3108960" cy="868680"/>
          </a:xfrm>
          <a:prstGeom prst="rect">
            <a:avLst/>
          </a:prstGeom>
          <a:solidFill>
            <a:srgbClr val="F4F6F8"/>
          </a:solidFill>
          <a:ln w="12700">
            <a:solidFill>
              <a:srgbClr val="C9CFD6"/>
            </a:solidFill>
            <a:prstDash val="solid"/>
          </a:ln>
        </p:spPr>
      </p:sp>
      <p:sp>
        <p:nvSpPr>
          <p:cNvPr id="7" name="Text 5"/>
          <p:cNvSpPr/>
          <p:nvPr/>
        </p:nvSpPr>
        <p:spPr>
          <a:xfrm>
            <a:off x="822960" y="4206240"/>
            <a:ext cx="3108960" cy="868680"/>
          </a:xfrm>
          <a:prstGeom prst="rect">
            <a:avLst/>
          </a:prstGeom>
          <a:noFill/>
          <a:ln/>
        </p:spPr>
        <p:txBody>
          <a:bodyPr wrap="square" lIns="0" tIns="0" rIns="0" bIns="0" rtlCol="0" anchor="ctr"/>
          <a:lstStyle/>
          <a:p>
            <a:pPr algn="ctr" indent="0" marL="0">
              <a:buNone/>
            </a:pPr>
            <a:r>
              <a:rPr lang="en-US" sz="1500" b="1" dirty="0">
                <a:solidFill>
                  <a:srgbClr val="3A3A3A"/>
                </a:solidFill>
                <a:latin typeface="Arial" pitchFamily="34" charset="0"/>
                <a:ea typeface="Arial" pitchFamily="34" charset="-122"/>
                <a:cs typeface="Arial" pitchFamily="34" charset="-120"/>
              </a:rPr>
              <a:t>Requête critique</a:t>
            </a:r>
            <a:endParaRPr lang="en-US" sz="1500" dirty="0"/>
          </a:p>
          <a:p>
            <a:pPr algn="ctr" indent="0" marL="0">
              <a:buNone/>
            </a:pPr>
            <a:r>
              <a:rPr lang="en-US" sz="1500" b="1" dirty="0">
                <a:solidFill>
                  <a:srgbClr val="3A3A3A"/>
                </a:solidFill>
                <a:latin typeface="Arial" pitchFamily="34" charset="0"/>
                <a:ea typeface="Arial" pitchFamily="34" charset="-122"/>
                <a:cs typeface="Arial" pitchFamily="34" charset="-120"/>
              </a:rPr>
              <a:t>32 o</a:t>
            </a:r>
            <a:endParaRPr lang="en-US" sz="1500" dirty="0"/>
          </a:p>
        </p:txBody>
      </p:sp>
      <p:sp>
        <p:nvSpPr>
          <p:cNvPr id="8" name="Shape 6"/>
          <p:cNvSpPr/>
          <p:nvPr/>
        </p:nvSpPr>
        <p:spPr>
          <a:xfrm>
            <a:off x="4754880" y="4206240"/>
            <a:ext cx="3108960" cy="868680"/>
          </a:xfrm>
          <a:prstGeom prst="rect">
            <a:avLst/>
          </a:prstGeom>
          <a:solidFill>
            <a:srgbClr val="E8EEF7"/>
          </a:solidFill>
          <a:ln w="12700">
            <a:solidFill>
              <a:srgbClr val="C9CFD6"/>
            </a:solidFill>
            <a:prstDash val="solid"/>
          </a:ln>
        </p:spPr>
      </p:sp>
      <p:sp>
        <p:nvSpPr>
          <p:cNvPr id="9" name="Text 7"/>
          <p:cNvSpPr/>
          <p:nvPr/>
        </p:nvSpPr>
        <p:spPr>
          <a:xfrm>
            <a:off x="4754880" y="4206240"/>
            <a:ext cx="3108960" cy="868680"/>
          </a:xfrm>
          <a:prstGeom prst="rect">
            <a:avLst/>
          </a:prstGeom>
          <a:noFill/>
          <a:ln/>
        </p:spPr>
        <p:txBody>
          <a:bodyPr wrap="square" lIns="0" tIns="0" rIns="0" bIns="0" rtlCol="0" anchor="ctr"/>
          <a:lstStyle/>
          <a:p>
            <a:pPr algn="ctr" indent="0" marL="0">
              <a:buNone/>
            </a:pPr>
            <a:r>
              <a:rPr lang="en-US" sz="1500" dirty="0">
                <a:solidFill>
                  <a:srgbClr val="1C69D4"/>
                </a:solidFill>
                <a:latin typeface="Arial" pitchFamily="34" charset="0"/>
                <a:ea typeface="Arial" pitchFamily="34" charset="-122"/>
                <a:cs typeface="Arial" pitchFamily="34" charset="-120"/>
              </a:rPr>
              <a:t>Transfert massif</a:t>
            </a:r>
            <a:endParaRPr lang="en-US" sz="1500" dirty="0"/>
          </a:p>
          <a:p>
            <a:pPr algn="ctr" indent="0" marL="0">
              <a:buNone/>
            </a:pPr>
            <a:r>
              <a:rPr lang="en-US" sz="1500" dirty="0">
                <a:solidFill>
                  <a:srgbClr val="1C69D4"/>
                </a:solidFill>
                <a:latin typeface="Arial" pitchFamily="34" charset="0"/>
                <a:ea typeface="Arial" pitchFamily="34" charset="-122"/>
                <a:cs typeface="Arial" pitchFamily="34" charset="-120"/>
              </a:rPr>
              <a:t>Go</a:t>
            </a:r>
            <a:endParaRPr lang="en-US" sz="1500" dirty="0"/>
          </a:p>
        </p:txBody>
      </p:sp>
      <p:sp>
        <p:nvSpPr>
          <p:cNvPr id="10" name="Shape 8"/>
          <p:cNvSpPr/>
          <p:nvPr/>
        </p:nvSpPr>
        <p:spPr>
          <a:xfrm>
            <a:off x="8686800" y="4206240"/>
            <a:ext cx="3108960" cy="868680"/>
          </a:xfrm>
          <a:prstGeom prst="rect">
            <a:avLst/>
          </a:prstGeom>
          <a:solidFill>
            <a:srgbClr val="F4F6F8"/>
          </a:solidFill>
          <a:ln w="12700">
            <a:solidFill>
              <a:srgbClr val="C9CFD6"/>
            </a:solidFill>
            <a:prstDash val="solid"/>
          </a:ln>
        </p:spPr>
      </p:sp>
      <p:sp>
        <p:nvSpPr>
          <p:cNvPr id="11" name="Text 9"/>
          <p:cNvSpPr/>
          <p:nvPr/>
        </p:nvSpPr>
        <p:spPr>
          <a:xfrm>
            <a:off x="8686800" y="4206240"/>
            <a:ext cx="3108960" cy="868680"/>
          </a:xfrm>
          <a:prstGeom prst="rect">
            <a:avLst/>
          </a:prstGeom>
          <a:noFill/>
          <a:ln/>
        </p:spPr>
        <p:txBody>
          <a:bodyPr wrap="square" lIns="0" tIns="0" rIns="0" bIns="0" rtlCol="0" anchor="ctr"/>
          <a:lstStyle/>
          <a:p>
            <a:pPr algn="ctr" indent="0" marL="0">
              <a:buNone/>
            </a:pPr>
            <a:r>
              <a:rPr lang="en-US" sz="1500" b="1" dirty="0">
                <a:solidFill>
                  <a:srgbClr val="3A3A3A"/>
                </a:solidFill>
                <a:latin typeface="Arial" pitchFamily="34" charset="0"/>
                <a:ea typeface="Arial" pitchFamily="34" charset="-122"/>
                <a:cs typeface="Arial" pitchFamily="34" charset="-120"/>
              </a:rPr>
              <a:t>Requête critique</a:t>
            </a:r>
            <a:endParaRPr lang="en-US" sz="1500" dirty="0"/>
          </a:p>
          <a:p>
            <a:pPr algn="ctr" indent="0" marL="0">
              <a:buNone/>
            </a:pPr>
            <a:r>
              <a:rPr lang="en-US" sz="1500" b="1" dirty="0">
                <a:solidFill>
                  <a:srgbClr val="3A3A3A"/>
                </a:solidFill>
                <a:latin typeface="Arial" pitchFamily="34" charset="0"/>
                <a:ea typeface="Arial" pitchFamily="34" charset="-122"/>
                <a:cs typeface="Arial" pitchFamily="34" charset="-120"/>
              </a:rPr>
              <a:t>32 o</a:t>
            </a:r>
            <a:endParaRPr lang="en-US" sz="1500" dirty="0"/>
          </a:p>
        </p:txBody>
      </p:sp>
      <p:sp>
        <p:nvSpPr>
          <p:cNvPr id="12" name="Shape 10"/>
          <p:cNvSpPr/>
          <p:nvPr/>
        </p:nvSpPr>
        <p:spPr>
          <a:xfrm>
            <a:off x="3931920" y="4640580"/>
            <a:ext cx="777240" cy="0"/>
          </a:xfrm>
          <a:prstGeom prst="line">
            <a:avLst/>
          </a:prstGeom>
          <a:noFill/>
          <a:ln w="25400">
            <a:solidFill>
              <a:srgbClr val="C9CFD6"/>
            </a:solidFill>
            <a:prstDash val="solid"/>
            <a:tailEnd type="triangle"/>
          </a:ln>
        </p:spPr>
      </p:sp>
      <p:sp>
        <p:nvSpPr>
          <p:cNvPr id="13" name="Shape 11"/>
          <p:cNvSpPr/>
          <p:nvPr/>
        </p:nvSpPr>
        <p:spPr>
          <a:xfrm>
            <a:off x="7863840" y="4640580"/>
            <a:ext cx="777240" cy="0"/>
          </a:xfrm>
          <a:prstGeom prst="line">
            <a:avLst/>
          </a:prstGeom>
          <a:noFill/>
          <a:ln w="25400">
            <a:solidFill>
              <a:srgbClr val="C9CFD6"/>
            </a:solidFill>
            <a:prstDash val="solid"/>
            <a:tailEnd type="triangle"/>
          </a:ln>
        </p:spPr>
      </p:sp>
      <p:sp>
        <p:nvSpPr>
          <p:cNvPr id="14" name="Text 12"/>
          <p:cNvSpPr/>
          <p:nvPr/>
        </p:nvSpPr>
        <p:spPr>
          <a:xfrm>
            <a:off x="822960" y="5532120"/>
            <a:ext cx="10515600" cy="457200"/>
          </a:xfrm>
          <a:prstGeom prst="rect">
            <a:avLst/>
          </a:prstGeom>
          <a:noFill/>
          <a:ln/>
        </p:spPr>
        <p:txBody>
          <a:bodyPr wrap="square" lIns="0" tIns="0" rIns="0" bIns="0" rtlCol="0" anchor="ctr"/>
          <a:lstStyle/>
          <a:p>
            <a:pPr algn="ctr" indent="0" marL="0">
              <a:buNone/>
            </a:pPr>
            <a:r>
              <a:rPr lang="en-US" sz="1600" b="1" dirty="0">
                <a:solidFill>
                  <a:srgbClr val="1C69D4"/>
                </a:solidFill>
                <a:latin typeface="Arial" pitchFamily="34" charset="0"/>
                <a:ea typeface="Arial" pitchFamily="34" charset="-122"/>
                <a:cs typeface="Arial" pitchFamily="34" charset="-120"/>
              </a:rPr>
              <a:t>FILE D'ATTENTE : 328 ms de latence de queue mesurées sous charge sans discipline active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04</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 RÉSULTAT CENTRAL</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60 % CONTRE 98 %, SOUS LA MÊME CHARGE</a:t>
            </a:r>
            <a:endParaRPr lang="en-US" sz="3600" dirty="0"/>
          </a:p>
        </p:txBody>
      </p:sp>
      <p:pic>
        <p:nvPicPr>
          <p:cNvPr id="5" name="Image 0" descr="C:\cgo\book\figures\figR2-deadline.png">    </p:cNvPr>
          <p:cNvPicPr>
            <a:picLocks noChangeAspect="1"/>
          </p:cNvPicPr>
          <p:nvPr/>
        </p:nvPicPr>
        <p:blipFill>
          <a:blip r:embed="rId1"/>
          <a:stretch>
            <a:fillRect/>
          </a:stretch>
        </p:blipFill>
        <p:spPr>
          <a:xfrm>
            <a:off x="2784746" y="1554480"/>
            <a:ext cx="6619461" cy="3383280"/>
          </a:xfrm>
          <a:prstGeom prst="rect">
            <a:avLst/>
          </a:prstGeom>
        </p:spPr>
      </p:pic>
      <p:sp>
        <p:nvSpPr>
          <p:cNvPr id="6" name="Text 3"/>
          <p:cNvSpPr/>
          <p:nvPr/>
        </p:nvSpPr>
        <p:spPr>
          <a:xfrm>
            <a:off x="658368" y="5257800"/>
            <a:ext cx="10872216" cy="365760"/>
          </a:xfrm>
          <a:prstGeom prst="rect">
            <a:avLst/>
          </a:prstGeom>
          <a:noFill/>
          <a:ln/>
        </p:spPr>
        <p:txBody>
          <a:bodyPr wrap="square" lIns="0" tIns="0" rIns="0" bIns="0" rtlCol="0" anchor="t"/>
          <a:lstStyle/>
          <a:p>
            <a:pPr algn="l" indent="0" marL="0">
              <a:buNone/>
            </a:pPr>
            <a:r>
              <a:rPr lang="en-US" sz="1600" i="1" dirty="0">
                <a:solidFill>
                  <a:srgbClr val="8A8A8A"/>
                </a:solidFill>
                <a:latin typeface="Arial" pitchFamily="34" charset="0"/>
                <a:ea typeface="Arial" pitchFamily="34" charset="-122"/>
                <a:cs typeface="Arial" pitchFamily="34" charset="-120"/>
              </a:rPr>
              <a:t>Respect de l'échéance à 220 ms, profil cellulaire P2 sous BBR : pfifo_fast 60,2 % · fq_codel 96,2 % · CAKE 98,1 %</a:t>
            </a:r>
            <a:endParaRPr lang="en-US" sz="1600" dirty="0"/>
          </a:p>
        </p:txBody>
      </p:sp>
      <p:sp>
        <p:nvSpPr>
          <p:cNvPr id="7" name="Text 4"/>
          <p:cNvSpPr/>
          <p:nvPr/>
        </p:nvSpPr>
        <p:spPr>
          <a:xfrm>
            <a:off x="658368" y="5760720"/>
            <a:ext cx="10872216" cy="82296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La file simple perd 40 % des requêtes critiques. Les disciplines actives les sauvent presque toutes, au même débit.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05</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MÉTHODE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800" b="1" dirty="0">
                <a:solidFill>
                  <a:srgbClr val="111111"/>
                </a:solidFill>
                <a:latin typeface="Arial" pitchFamily="34" charset="0"/>
                <a:ea typeface="Arial" pitchFamily="34" charset="-122"/>
                <a:cs typeface="Arial" pitchFamily="34" charset="-120"/>
              </a:rPr>
              <a:t>LE BANC S'INSTALLE</a:t>
            </a:r>
            <a:endParaRPr lang="en-US" sz="3800" dirty="0"/>
          </a:p>
          <a:p>
            <a:pPr indent="0" marL="0">
              <a:buNone/>
            </a:pPr>
            <a:r>
              <a:rPr lang="en-US" sz="3800" b="1" dirty="0">
                <a:solidFill>
                  <a:srgbClr val="111111"/>
                </a:solidFill>
                <a:latin typeface="Arial" pitchFamily="34" charset="0"/>
                <a:ea typeface="Arial" pitchFamily="34" charset="-122"/>
                <a:cs typeface="Arial" pitchFamily="34" charset="-120"/>
              </a:rPr>
              <a:t>SUR LE POSTE CLIENT</a:t>
            </a:r>
            <a:endParaRPr lang="en-US" sz="3800" dirty="0"/>
          </a:p>
        </p:txBody>
      </p:sp>
      <p:pic>
        <p:nvPicPr>
          <p:cNvPr id="5" name="Image 0" descr="C:\cgo\book\figures\figR1-topologie.png">    </p:cNvPr>
          <p:cNvPicPr>
            <a:picLocks noChangeAspect="1"/>
          </p:cNvPicPr>
          <p:nvPr/>
        </p:nvPicPr>
        <p:blipFill>
          <a:blip r:embed="rId1"/>
          <a:stretch>
            <a:fillRect/>
          </a:stretch>
        </p:blipFill>
        <p:spPr>
          <a:xfrm>
            <a:off x="2737665" y="2148840"/>
            <a:ext cx="6713621" cy="2834640"/>
          </a:xfrm>
          <a:prstGeom prst="rect">
            <a:avLst/>
          </a:prstGeom>
        </p:spPr>
      </p:pic>
      <p:sp>
        <p:nvSpPr>
          <p:cNvPr id="6" name="Text 3"/>
          <p:cNvSpPr/>
          <p:nvPr/>
        </p:nvSpPr>
        <p:spPr>
          <a:xfrm>
            <a:off x="658368" y="5257800"/>
            <a:ext cx="10872216" cy="365760"/>
          </a:xfrm>
          <a:prstGeom prst="rect">
            <a:avLst/>
          </a:prstGeom>
          <a:noFill/>
          <a:ln/>
        </p:spPr>
        <p:txBody>
          <a:bodyPr wrap="square" lIns="0" tIns="0" rIns="0" bIns="0" rtlCol="0" anchor="t"/>
          <a:lstStyle/>
          <a:p>
            <a:pPr algn="l" indent="0" marL="0">
              <a:buNone/>
            </a:pPr>
            <a:r>
              <a:rPr lang="en-US" sz="1600" i="1" dirty="0">
                <a:solidFill>
                  <a:srgbClr val="8A8A8A"/>
                </a:solidFill>
                <a:latin typeface="Arial" pitchFamily="34" charset="0"/>
                <a:ea typeface="Arial" pitchFamily="34" charset="-122"/>
                <a:cs typeface="Arial" pitchFamily="34" charset="-120"/>
              </a:rPr>
              <a:t>Une paire de liens virtuels reconstitue le lien d'accès : délai, gigue, perte. Aucune modification de l'infrastructure.</a:t>
            </a:r>
            <a:endParaRPr lang="en-US" sz="1600" dirty="0"/>
          </a:p>
        </p:txBody>
      </p:sp>
      <p:sp>
        <p:nvSpPr>
          <p:cNvPr id="7" name="Text 4"/>
          <p:cNvSpPr/>
          <p:nvPr/>
        </p:nvSpPr>
        <p:spPr>
          <a:xfrm>
            <a:off x="658368" y="5806440"/>
            <a:ext cx="10872216" cy="914400"/>
          </a:xfrm>
          <a:prstGeom prst="rect">
            <a:avLst/>
          </a:prstGeom>
          <a:noFill/>
          <a:ln/>
        </p:spPr>
        <p:txBody>
          <a:bodyPr wrap="square" lIns="0" tIns="0" rIns="0" bIns="0" rtlCol="0" anchor="t"/>
          <a:lstStyle/>
          <a:p>
            <a:pPr indent="0" marL="0">
              <a:buNone/>
            </a:pPr>
            <a:r>
              <a:rPr lang="en-US" sz="1900" dirty="0">
                <a:solidFill>
                  <a:srgbClr val="3A3A3A"/>
                </a:solidFill>
                <a:latin typeface="Arial" pitchFamily="34" charset="0"/>
                <a:ea typeface="Arial" pitchFamily="34" charset="-122"/>
                <a:cs typeface="Arial" pitchFamily="34" charset="-120"/>
              </a:rPr>
              <a:t>L'infrastructure de production reste intacte. Le poste client rejoue le lien d'accès et compare les disciplines dans des conditions strictement identiques.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06</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GARANTIE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800" b="1" dirty="0">
                <a:solidFill>
                  <a:srgbClr val="111111"/>
                </a:solidFill>
                <a:latin typeface="Arial" pitchFamily="34" charset="0"/>
                <a:ea typeface="Arial" pitchFamily="34" charset="-122"/>
                <a:cs typeface="Arial" pitchFamily="34" charset="-120"/>
              </a:rPr>
              <a:t>HUIT PORTES AVANT</a:t>
            </a:r>
            <a:endParaRPr lang="en-US" sz="3800" dirty="0"/>
          </a:p>
          <a:p>
            <a:pPr indent="0" marL="0">
              <a:buNone/>
            </a:pPr>
            <a:r>
              <a:rPr lang="en-US" sz="3800" b="1" dirty="0">
                <a:solidFill>
                  <a:srgbClr val="111111"/>
                </a:solidFill>
                <a:latin typeface="Arial" pitchFamily="34" charset="0"/>
                <a:ea typeface="Arial" pitchFamily="34" charset="-122"/>
                <a:cs typeface="Arial" pitchFamily="34" charset="-120"/>
              </a:rPr>
              <a:t>CHAQUE CHIFFRE</a:t>
            </a:r>
            <a:endParaRPr lang="en-US" sz="3800" dirty="0"/>
          </a:p>
        </p:txBody>
      </p:sp>
      <p:sp>
        <p:nvSpPr>
          <p:cNvPr id="5" name="Text 3"/>
          <p:cNvSpPr/>
          <p:nvPr/>
        </p:nvSpPr>
        <p:spPr>
          <a:xfrm>
            <a:off x="658368" y="2286000"/>
            <a:ext cx="6583680" cy="237744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Chaque événement de mesure franchit huit portes de qualité : cible joignable, charge réellement établie, latence plausible, débit cohérent, aucune ligne dupliquée, référence stable, processeur non saturé.</a:t>
            </a:r>
            <a:endParaRPr lang="en-US" sz="2100" dirty="0"/>
          </a:p>
        </p:txBody>
      </p:sp>
      <p:sp>
        <p:nvSpPr>
          <p:cNvPr id="6" name="Text 4"/>
          <p:cNvSpPr/>
          <p:nvPr/>
        </p:nvSpPr>
        <p:spPr>
          <a:xfrm>
            <a:off x="7589520" y="224028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G0</a:t>
            </a:r>
            <a:endParaRPr lang="en-US" sz="1800" dirty="0"/>
          </a:p>
        </p:txBody>
      </p:sp>
      <p:sp>
        <p:nvSpPr>
          <p:cNvPr id="7" name="Text 5"/>
          <p:cNvSpPr/>
          <p:nvPr/>
        </p:nvSpPr>
        <p:spPr>
          <a:xfrm>
            <a:off x="7589520" y="265176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cible répond</a:t>
            </a:r>
            <a:endParaRPr lang="en-US" sz="1300" dirty="0"/>
          </a:p>
        </p:txBody>
      </p:sp>
      <p:sp>
        <p:nvSpPr>
          <p:cNvPr id="8" name="Text 6"/>
          <p:cNvSpPr/>
          <p:nvPr/>
        </p:nvSpPr>
        <p:spPr>
          <a:xfrm>
            <a:off x="9784080" y="224028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G1</a:t>
            </a:r>
            <a:endParaRPr lang="en-US" sz="1800" dirty="0"/>
          </a:p>
        </p:txBody>
      </p:sp>
      <p:sp>
        <p:nvSpPr>
          <p:cNvPr id="9" name="Text 7"/>
          <p:cNvSpPr/>
          <p:nvPr/>
        </p:nvSpPr>
        <p:spPr>
          <a:xfrm>
            <a:off x="9784080" y="265176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charge démarrée</a:t>
            </a:r>
            <a:endParaRPr lang="en-US" sz="1300" dirty="0"/>
          </a:p>
        </p:txBody>
      </p:sp>
      <p:sp>
        <p:nvSpPr>
          <p:cNvPr id="10" name="Text 8"/>
          <p:cNvSpPr/>
          <p:nvPr/>
        </p:nvSpPr>
        <p:spPr>
          <a:xfrm>
            <a:off x="7589520" y="320040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G2</a:t>
            </a:r>
            <a:endParaRPr lang="en-US" sz="1800" dirty="0"/>
          </a:p>
        </p:txBody>
      </p:sp>
      <p:sp>
        <p:nvSpPr>
          <p:cNvPr id="11" name="Text 9"/>
          <p:cNvSpPr/>
          <p:nvPr/>
        </p:nvSpPr>
        <p:spPr>
          <a:xfrm>
            <a:off x="7589520" y="361188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sondes vivantes</a:t>
            </a:r>
            <a:endParaRPr lang="en-US" sz="1300" dirty="0"/>
          </a:p>
        </p:txBody>
      </p:sp>
      <p:sp>
        <p:nvSpPr>
          <p:cNvPr id="12" name="Text 10"/>
          <p:cNvSpPr/>
          <p:nvPr/>
        </p:nvSpPr>
        <p:spPr>
          <a:xfrm>
            <a:off x="9784080" y="320040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G3</a:t>
            </a:r>
            <a:endParaRPr lang="en-US" sz="1800" dirty="0"/>
          </a:p>
        </p:txBody>
      </p:sp>
      <p:sp>
        <p:nvSpPr>
          <p:cNvPr id="13" name="Text 11"/>
          <p:cNvSpPr/>
          <p:nvPr/>
        </p:nvSpPr>
        <p:spPr>
          <a:xfrm>
            <a:off x="9784080" y="361188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latence plausible</a:t>
            </a:r>
            <a:endParaRPr lang="en-US" sz="1300" dirty="0"/>
          </a:p>
        </p:txBody>
      </p:sp>
      <p:sp>
        <p:nvSpPr>
          <p:cNvPr id="14" name="Text 12"/>
          <p:cNvSpPr/>
          <p:nvPr/>
        </p:nvSpPr>
        <p:spPr>
          <a:xfrm>
            <a:off x="7589520" y="416052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G4</a:t>
            </a:r>
            <a:endParaRPr lang="en-US" sz="1800" dirty="0"/>
          </a:p>
        </p:txBody>
      </p:sp>
      <p:sp>
        <p:nvSpPr>
          <p:cNvPr id="15" name="Text 13"/>
          <p:cNvSpPr/>
          <p:nvPr/>
        </p:nvSpPr>
        <p:spPr>
          <a:xfrm>
            <a:off x="7589520" y="457200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débit cohérent</a:t>
            </a:r>
            <a:endParaRPr lang="en-US" sz="1300" dirty="0"/>
          </a:p>
        </p:txBody>
      </p:sp>
      <p:sp>
        <p:nvSpPr>
          <p:cNvPr id="16" name="Text 14"/>
          <p:cNvSpPr/>
          <p:nvPr/>
        </p:nvSpPr>
        <p:spPr>
          <a:xfrm>
            <a:off x="9784080" y="416052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G5</a:t>
            </a:r>
            <a:endParaRPr lang="en-US" sz="1800" dirty="0"/>
          </a:p>
        </p:txBody>
      </p:sp>
      <p:sp>
        <p:nvSpPr>
          <p:cNvPr id="17" name="Text 15"/>
          <p:cNvSpPr/>
          <p:nvPr/>
        </p:nvSpPr>
        <p:spPr>
          <a:xfrm>
            <a:off x="9784080" y="457200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aucun doublon</a:t>
            </a:r>
            <a:endParaRPr lang="en-US" sz="1300" dirty="0"/>
          </a:p>
        </p:txBody>
      </p:sp>
      <p:sp>
        <p:nvSpPr>
          <p:cNvPr id="18" name="Text 16"/>
          <p:cNvSpPr/>
          <p:nvPr/>
        </p:nvSpPr>
        <p:spPr>
          <a:xfrm>
            <a:off x="7589520" y="512064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G6</a:t>
            </a:r>
            <a:endParaRPr lang="en-US" sz="1800" dirty="0"/>
          </a:p>
        </p:txBody>
      </p:sp>
      <p:sp>
        <p:nvSpPr>
          <p:cNvPr id="19" name="Text 17"/>
          <p:cNvSpPr/>
          <p:nvPr/>
        </p:nvSpPr>
        <p:spPr>
          <a:xfrm>
            <a:off x="7589520" y="553212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repos stable</a:t>
            </a:r>
            <a:endParaRPr lang="en-US" sz="1300" dirty="0"/>
          </a:p>
        </p:txBody>
      </p:sp>
      <p:sp>
        <p:nvSpPr>
          <p:cNvPr id="20" name="Text 18"/>
          <p:cNvSpPr/>
          <p:nvPr/>
        </p:nvSpPr>
        <p:spPr>
          <a:xfrm>
            <a:off x="9784080" y="5120640"/>
            <a:ext cx="685800" cy="457200"/>
          </a:xfrm>
          <a:prstGeom prst="rect">
            <a:avLst/>
          </a:prstGeom>
          <a:noFill/>
          <a:ln/>
        </p:spPr>
        <p:txBody>
          <a:bodyPr wrap="square" lIns="0" tIns="0" rIns="0" bIns="0" rtlCol="0" anchor="ctr"/>
          <a:lstStyle/>
          <a:p>
            <a:pPr indent="0" marL="0">
              <a:buNone/>
            </a:pPr>
            <a:r>
              <a:rPr lang="en-US" sz="1800" b="1" dirty="0">
                <a:solidFill>
                  <a:srgbClr val="1C69D4"/>
                </a:solidFill>
                <a:latin typeface="Arial" pitchFamily="34" charset="0"/>
                <a:ea typeface="Arial" pitchFamily="34" charset="-122"/>
                <a:cs typeface="Arial" pitchFamily="34" charset="-120"/>
              </a:rPr>
              <a:t>G7</a:t>
            </a:r>
            <a:endParaRPr lang="en-US" sz="1800" dirty="0"/>
          </a:p>
        </p:txBody>
      </p:sp>
      <p:sp>
        <p:nvSpPr>
          <p:cNvPr id="21" name="Text 19"/>
          <p:cNvSpPr/>
          <p:nvPr/>
        </p:nvSpPr>
        <p:spPr>
          <a:xfrm>
            <a:off x="9784080" y="5532120"/>
            <a:ext cx="2103120" cy="502920"/>
          </a:xfrm>
          <a:prstGeom prst="rect">
            <a:avLst/>
          </a:prstGeom>
          <a:noFill/>
          <a:ln/>
        </p:spPr>
        <p:txBody>
          <a:bodyPr wrap="square" lIns="0" tIns="0" rIns="0" bIns="0" rtlCol="0" anchor="ctr"/>
          <a:lstStyle/>
          <a:p>
            <a:pPr indent="0" marL="0">
              <a:buNone/>
            </a:pPr>
            <a:r>
              <a:rPr lang="en-US" sz="1300" dirty="0">
                <a:solidFill>
                  <a:srgbClr val="3A3A3A"/>
                </a:solidFill>
                <a:latin typeface="Arial" pitchFamily="34" charset="0"/>
                <a:ea typeface="Arial" pitchFamily="34" charset="-122"/>
                <a:cs typeface="Arial" pitchFamily="34" charset="-120"/>
              </a:rPr>
              <a:t>processeur &lt; 90 %</a:t>
            </a:r>
            <a:endParaRPr lang="en-US" sz="1300" dirty="0"/>
          </a:p>
        </p:txBody>
      </p:sp>
      <p:sp>
        <p:nvSpPr>
          <p:cNvPr id="22" name="Text 20"/>
          <p:cNvSpPr/>
          <p:nvPr/>
        </p:nvSpPr>
        <p:spPr>
          <a:xfrm>
            <a:off x="658368" y="5212080"/>
            <a:ext cx="10872216" cy="91440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Ce qui échoue part en quarantaine, publié tel quel : 154 lignes rejetées pour 83 valides. Le compte fait partie des résultats.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07</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L'INSTRUMENT</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UN BINAIRE, TOUT VÉRIFIABLE</a:t>
            </a:r>
            <a:endParaRPr lang="en-US" sz="4000" dirty="0"/>
          </a:p>
        </p:txBody>
      </p:sp>
      <p:sp>
        <p:nvSpPr>
          <p:cNvPr id="5" name="Text 3"/>
          <p:cNvSpPr/>
          <p:nvPr/>
        </p:nvSpPr>
        <p:spPr>
          <a:xfrm>
            <a:off x="658368" y="1920240"/>
            <a:ext cx="822960" cy="1097280"/>
          </a:xfrm>
          <a:prstGeom prst="rect">
            <a:avLst/>
          </a:prstGeom>
          <a:noFill/>
          <a:ln/>
        </p:spPr>
        <p:txBody>
          <a:bodyPr wrap="square" lIns="0" tIns="0" rIns="0" bIns="0" rtlCol="0" anchor="ctr"/>
          <a:lstStyle/>
          <a:p>
            <a:pPr indent="0" marL="0">
              <a:buNone/>
            </a:pPr>
            <a:r>
              <a:rPr lang="en-US" sz="6000" b="1" dirty="0">
                <a:solidFill>
                  <a:srgbClr val="E1E6ED"/>
                </a:solidFill>
                <a:latin typeface="Arial" pitchFamily="34" charset="0"/>
                <a:ea typeface="Arial" pitchFamily="34" charset="-122"/>
                <a:cs typeface="Arial" pitchFamily="34" charset="-120"/>
              </a:rPr>
              <a:t>1</a:t>
            </a:r>
            <a:endParaRPr lang="en-US" sz="6000" dirty="0"/>
          </a:p>
        </p:txBody>
      </p:sp>
      <p:sp>
        <p:nvSpPr>
          <p:cNvPr id="6" name="Text 4"/>
          <p:cNvSpPr/>
          <p:nvPr/>
        </p:nvSpPr>
        <p:spPr>
          <a:xfrm>
            <a:off x="1691640" y="2057400"/>
            <a:ext cx="9692640" cy="96012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Un binaire Go de 13 Mo : audit, banc, interface et archives. Aucune dépendance, une copie.</a:t>
            </a:r>
            <a:endParaRPr lang="en-US" sz="2100" dirty="0"/>
          </a:p>
        </p:txBody>
      </p:sp>
      <p:sp>
        <p:nvSpPr>
          <p:cNvPr id="7" name="Text 5"/>
          <p:cNvSpPr/>
          <p:nvPr/>
        </p:nvSpPr>
        <p:spPr>
          <a:xfrm>
            <a:off x="658368" y="3246120"/>
            <a:ext cx="822960" cy="1097280"/>
          </a:xfrm>
          <a:prstGeom prst="rect">
            <a:avLst/>
          </a:prstGeom>
          <a:noFill/>
          <a:ln/>
        </p:spPr>
        <p:txBody>
          <a:bodyPr wrap="square" lIns="0" tIns="0" rIns="0" bIns="0" rtlCol="0" anchor="ctr"/>
          <a:lstStyle/>
          <a:p>
            <a:pPr indent="0" marL="0">
              <a:buNone/>
            </a:pPr>
            <a:r>
              <a:rPr lang="en-US" sz="6000" b="1" dirty="0">
                <a:solidFill>
                  <a:srgbClr val="E1E6ED"/>
                </a:solidFill>
                <a:latin typeface="Arial" pitchFamily="34" charset="0"/>
                <a:ea typeface="Arial" pitchFamily="34" charset="-122"/>
                <a:cs typeface="Arial" pitchFamily="34" charset="-120"/>
              </a:rPr>
              <a:t>2</a:t>
            </a:r>
            <a:endParaRPr lang="en-US" sz="6000" dirty="0"/>
          </a:p>
        </p:txBody>
      </p:sp>
      <p:sp>
        <p:nvSpPr>
          <p:cNvPr id="8" name="Text 6"/>
          <p:cNvSpPr/>
          <p:nvPr/>
        </p:nvSpPr>
        <p:spPr>
          <a:xfrm>
            <a:off x="1691640" y="3383280"/>
            <a:ext cx="9692640" cy="96012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Le gel : chaque résultat est figé avec son empreinte SHA-256. Vérifiable par un tiers.</a:t>
            </a:r>
            <a:endParaRPr lang="en-US" sz="2100" dirty="0"/>
          </a:p>
        </p:txBody>
      </p:sp>
      <p:sp>
        <p:nvSpPr>
          <p:cNvPr id="9" name="Text 7"/>
          <p:cNvSpPr/>
          <p:nvPr/>
        </p:nvSpPr>
        <p:spPr>
          <a:xfrm>
            <a:off x="658368" y="4572000"/>
            <a:ext cx="822960" cy="1097280"/>
          </a:xfrm>
          <a:prstGeom prst="rect">
            <a:avLst/>
          </a:prstGeom>
          <a:noFill/>
          <a:ln/>
        </p:spPr>
        <p:txBody>
          <a:bodyPr wrap="square" lIns="0" tIns="0" rIns="0" bIns="0" rtlCol="0" anchor="ctr"/>
          <a:lstStyle/>
          <a:p>
            <a:pPr indent="0" marL="0">
              <a:buNone/>
            </a:pPr>
            <a:r>
              <a:rPr lang="en-US" sz="6000" b="1" dirty="0">
                <a:solidFill>
                  <a:srgbClr val="E1E6ED"/>
                </a:solidFill>
                <a:latin typeface="Arial" pitchFamily="34" charset="0"/>
                <a:ea typeface="Arial" pitchFamily="34" charset="-122"/>
                <a:cs typeface="Arial" pitchFamily="34" charset="-120"/>
              </a:rPr>
              <a:t>3</a:t>
            </a:r>
            <a:endParaRPr lang="en-US" sz="6000" dirty="0"/>
          </a:p>
        </p:txBody>
      </p:sp>
      <p:sp>
        <p:nvSpPr>
          <p:cNvPr id="10" name="Text 8"/>
          <p:cNvSpPr/>
          <p:nvPr/>
        </p:nvSpPr>
        <p:spPr>
          <a:xfrm>
            <a:off x="1691640" y="4709160"/>
            <a:ext cx="9692640" cy="96012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La reprise : une coupure de courant n'invalide que l'événement en cours, jamais le run.</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08</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L'INTERFACE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LA MESURE EN DIRECT,</a:t>
            </a:r>
            <a:endParaRPr lang="en-US" sz="3600" dirty="0"/>
          </a:p>
          <a:p>
            <a:pPr indent="0" marL="0">
              <a:buNone/>
            </a:pPr>
            <a:r>
              <a:rPr lang="en-US" sz="3600" b="1" dirty="0">
                <a:solidFill>
                  <a:srgbClr val="111111"/>
                </a:solidFill>
                <a:latin typeface="Arial" pitchFamily="34" charset="0"/>
                <a:ea typeface="Arial" pitchFamily="34" charset="-122"/>
                <a:cs typeface="Arial" pitchFamily="34" charset="-120"/>
              </a:rPr>
              <a:t>À DIX HERTZ</a:t>
            </a:r>
            <a:endParaRPr lang="en-US" sz="3600" dirty="0"/>
          </a:p>
        </p:txBody>
      </p:sp>
      <p:pic>
        <p:nvPicPr>
          <p:cNvPr id="5" name="Image 0" descr="C:\cgo\book\figures\shot-live.png">    </p:cNvPr>
          <p:cNvPicPr>
            <a:picLocks noChangeAspect="1"/>
          </p:cNvPicPr>
          <p:nvPr/>
        </p:nvPicPr>
        <p:blipFill>
          <a:blip r:embed="rId1"/>
          <a:stretch>
            <a:fillRect/>
          </a:stretch>
        </p:blipFill>
        <p:spPr>
          <a:xfrm>
            <a:off x="3249676" y="2057400"/>
            <a:ext cx="5689600" cy="3200400"/>
          </a:xfrm>
          <a:prstGeom prst="rect">
            <a:avLst/>
          </a:prstGeom>
        </p:spPr>
      </p:pic>
      <p:sp>
        <p:nvSpPr>
          <p:cNvPr id="6" name="Text 3"/>
          <p:cNvSpPr/>
          <p:nvPr/>
        </p:nvSpPr>
        <p:spPr>
          <a:xfrm>
            <a:off x="658368" y="5440680"/>
            <a:ext cx="10872216" cy="365760"/>
          </a:xfrm>
          <a:prstGeom prst="rect">
            <a:avLst/>
          </a:prstGeom>
          <a:noFill/>
          <a:ln/>
        </p:spPr>
        <p:txBody>
          <a:bodyPr wrap="square" lIns="0" tIns="0" rIns="0" bIns="0" rtlCol="0" anchor="t"/>
          <a:lstStyle/>
          <a:p>
            <a:pPr algn="ctr" indent="0" marL="0">
              <a:buNone/>
            </a:pPr>
            <a:r>
              <a:rPr lang="en-US" sz="1600" i="1" dirty="0">
                <a:solidFill>
                  <a:srgbClr val="8A8A8A"/>
                </a:solidFill>
                <a:latin typeface="Arial" pitchFamily="34" charset="0"/>
                <a:ea typeface="Arial" pitchFamily="34" charset="-122"/>
                <a:cs typeface="Arial" pitchFamily="34" charset="-120"/>
              </a:rPr>
              <a:t>Vue Live du tableau de bord : cartes de latence et de débit, comparaison avec la référence, journal des événements.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09</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RÉGULARITÉ</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UN LIEN QUE LA SUPERVISION PEUT LIRE</a:t>
            </a:r>
            <a:endParaRPr lang="en-US" sz="3400" dirty="0"/>
          </a:p>
        </p:txBody>
      </p:sp>
      <p:pic>
        <p:nvPicPr>
          <p:cNvPr id="5" name="Image 0" descr="C:\cgo\book\figures\figR3-qdi.png">    </p:cNvPr>
          <p:cNvPicPr>
            <a:picLocks noChangeAspect="1"/>
          </p:cNvPicPr>
          <p:nvPr/>
        </p:nvPicPr>
        <p:blipFill>
          <a:blip r:embed="rId1"/>
          <a:stretch>
            <a:fillRect/>
          </a:stretch>
        </p:blipFill>
        <p:spPr>
          <a:xfrm>
            <a:off x="3097828" y="1508760"/>
            <a:ext cx="5993296" cy="3063240"/>
          </a:xfrm>
          <a:prstGeom prst="rect">
            <a:avLst/>
          </a:prstGeom>
        </p:spPr>
      </p:pic>
      <p:sp>
        <p:nvSpPr>
          <p:cNvPr id="6" name="Text 3"/>
          <p:cNvSpPr/>
          <p:nvPr/>
        </p:nvSpPr>
        <p:spPr>
          <a:xfrm>
            <a:off x="658368" y="4800600"/>
            <a:ext cx="10872216" cy="365760"/>
          </a:xfrm>
          <a:prstGeom prst="rect">
            <a:avLst/>
          </a:prstGeom>
          <a:noFill/>
          <a:ln/>
        </p:spPr>
        <p:txBody>
          <a:bodyPr wrap="square" lIns="0" tIns="0" rIns="0" bIns="0" rtlCol="0" anchor="t"/>
          <a:lstStyle/>
          <a:p>
            <a:pPr algn="l" indent="0" marL="0">
              <a:buNone/>
            </a:pPr>
            <a:r>
              <a:rPr lang="en-US" sz="1600" i="1" dirty="0">
                <a:solidFill>
                  <a:srgbClr val="8A8A8A"/>
                </a:solidFill>
                <a:latin typeface="Arial" pitchFamily="34" charset="0"/>
                <a:ea typeface="Arial" pitchFamily="34" charset="-122"/>
                <a:cs typeface="Arial" pitchFamily="34" charset="-120"/>
              </a:rPr>
              <a:t>QDI, écart p95 moins médiane : 52,5 ms sous file simple contre 13 à 14 ms sous disciplines actives, profil cellulaire.</a:t>
            </a:r>
            <a:endParaRPr lang="en-US" sz="1600" dirty="0"/>
          </a:p>
        </p:txBody>
      </p:sp>
      <p:sp>
        <p:nvSpPr>
          <p:cNvPr id="7" name="Text 4"/>
          <p:cNvSpPr/>
          <p:nvPr/>
        </p:nvSpPr>
        <p:spPr>
          <a:xfrm>
            <a:off x="658368" y="5440680"/>
            <a:ext cx="10872216" cy="137160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Un lien régulier, c'est un lien où une alerte de latence veut dire quelque chose.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10</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VOIX</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LA QUALITÉ D'APPEL, EN SCORE R</a:t>
            </a:r>
            <a:endParaRPr lang="en-US" sz="3600" dirty="0"/>
          </a:p>
        </p:txBody>
      </p:sp>
      <p:sp>
        <p:nvSpPr>
          <p:cNvPr id="5" name="Text 3"/>
          <p:cNvSpPr/>
          <p:nvPr/>
        </p:nvSpPr>
        <p:spPr>
          <a:xfrm>
            <a:off x="822960" y="1783080"/>
            <a:ext cx="4572000" cy="777240"/>
          </a:xfrm>
          <a:prstGeom prst="rect">
            <a:avLst/>
          </a:prstGeom>
          <a:noFill/>
          <a:ln/>
        </p:spPr>
        <p:txBody>
          <a:bodyPr wrap="square" lIns="0" tIns="0" rIns="0" bIns="0" rtlCol="0" anchor="ctr"/>
          <a:lstStyle/>
          <a:p>
            <a:pPr indent="0" marL="0">
              <a:buNone/>
            </a:pPr>
            <a:r>
              <a:rPr lang="en-US" sz="2200" dirty="0">
                <a:solidFill>
                  <a:srgbClr val="3A3A3A"/>
                </a:solidFill>
                <a:latin typeface="Arial" pitchFamily="34" charset="0"/>
                <a:ea typeface="Arial" pitchFamily="34" charset="-122"/>
                <a:cs typeface="Arial" pitchFamily="34" charset="-120"/>
              </a:rPr>
              <a:t>Fibre calme</a:t>
            </a:r>
            <a:endParaRPr lang="en-US" sz="2200" dirty="0"/>
          </a:p>
        </p:txBody>
      </p:sp>
      <p:sp>
        <p:nvSpPr>
          <p:cNvPr id="6" name="Text 4"/>
          <p:cNvSpPr/>
          <p:nvPr/>
        </p:nvSpPr>
        <p:spPr>
          <a:xfrm>
            <a:off x="5669280" y="1783080"/>
            <a:ext cx="2011680" cy="777240"/>
          </a:xfrm>
          <a:prstGeom prst="rect">
            <a:avLst/>
          </a:prstGeom>
          <a:noFill/>
          <a:ln/>
        </p:spPr>
        <p:txBody>
          <a:bodyPr wrap="square" lIns="0" tIns="0" rIns="0" bIns="0" rtlCol="0" anchor="ctr"/>
          <a:lstStyle/>
          <a:p>
            <a:pPr algn="r" indent="0" marL="0">
              <a:buNone/>
            </a:pPr>
            <a:r>
              <a:rPr lang="en-US" sz="3000" b="1" dirty="0">
                <a:solidFill>
                  <a:srgbClr val="1C69D4"/>
                </a:solidFill>
                <a:latin typeface="Arial" pitchFamily="34" charset="0"/>
                <a:ea typeface="Arial" pitchFamily="34" charset="-122"/>
                <a:cs typeface="Arial" pitchFamily="34" charset="-120"/>
              </a:rPr>
              <a:t>≈ 91</a:t>
            </a:r>
            <a:endParaRPr lang="en-US" sz="3000" dirty="0"/>
          </a:p>
        </p:txBody>
      </p:sp>
      <p:sp>
        <p:nvSpPr>
          <p:cNvPr id="7" name="Shape 5"/>
          <p:cNvSpPr/>
          <p:nvPr/>
        </p:nvSpPr>
        <p:spPr>
          <a:xfrm>
            <a:off x="8046720" y="1947672"/>
            <a:ext cx="3291840" cy="411480"/>
          </a:xfrm>
          <a:prstGeom prst="rect">
            <a:avLst/>
          </a:prstGeom>
          <a:solidFill>
            <a:srgbClr val="F0F2F5"/>
          </a:solidFill>
          <a:ln/>
        </p:spPr>
      </p:sp>
      <p:sp>
        <p:nvSpPr>
          <p:cNvPr id="8" name="Shape 6"/>
          <p:cNvSpPr/>
          <p:nvPr/>
        </p:nvSpPr>
        <p:spPr>
          <a:xfrm>
            <a:off x="8046720" y="1947672"/>
            <a:ext cx="2995574" cy="411480"/>
          </a:xfrm>
          <a:prstGeom prst="rect">
            <a:avLst/>
          </a:prstGeom>
          <a:solidFill>
            <a:srgbClr val="1C69D4"/>
          </a:solidFill>
          <a:ln/>
        </p:spPr>
      </p:sp>
      <p:sp>
        <p:nvSpPr>
          <p:cNvPr id="9" name="Text 7"/>
          <p:cNvSpPr/>
          <p:nvPr/>
        </p:nvSpPr>
        <p:spPr>
          <a:xfrm>
            <a:off x="822960" y="2743200"/>
            <a:ext cx="4572000" cy="777240"/>
          </a:xfrm>
          <a:prstGeom prst="rect">
            <a:avLst/>
          </a:prstGeom>
          <a:noFill/>
          <a:ln/>
        </p:spPr>
        <p:txBody>
          <a:bodyPr wrap="square" lIns="0" tIns="0" rIns="0" bIns="0" rtlCol="0" anchor="ctr"/>
          <a:lstStyle/>
          <a:p>
            <a:pPr indent="0" marL="0">
              <a:buNone/>
            </a:pPr>
            <a:r>
              <a:rPr lang="en-US" sz="2200" dirty="0">
                <a:solidFill>
                  <a:srgbClr val="3A3A3A"/>
                </a:solidFill>
                <a:latin typeface="Arial" pitchFamily="34" charset="0"/>
                <a:ea typeface="Arial" pitchFamily="34" charset="-122"/>
                <a:cs typeface="Arial" pitchFamily="34" charset="-120"/>
              </a:rPr>
              <a:t>Cellulaire</a:t>
            </a:r>
            <a:endParaRPr lang="en-US" sz="2200" dirty="0"/>
          </a:p>
        </p:txBody>
      </p:sp>
      <p:sp>
        <p:nvSpPr>
          <p:cNvPr id="10" name="Text 8"/>
          <p:cNvSpPr/>
          <p:nvPr/>
        </p:nvSpPr>
        <p:spPr>
          <a:xfrm>
            <a:off x="5669280" y="2743200"/>
            <a:ext cx="2011680" cy="777240"/>
          </a:xfrm>
          <a:prstGeom prst="rect">
            <a:avLst/>
          </a:prstGeom>
          <a:noFill/>
          <a:ln/>
        </p:spPr>
        <p:txBody>
          <a:bodyPr wrap="square" lIns="0" tIns="0" rIns="0" bIns="0" rtlCol="0" anchor="ctr"/>
          <a:lstStyle/>
          <a:p>
            <a:pPr algn="r" indent="0" marL="0">
              <a:buNone/>
            </a:pPr>
            <a:r>
              <a:rPr lang="en-US" sz="3000" b="1" dirty="0">
                <a:solidFill>
                  <a:srgbClr val="1C69D4"/>
                </a:solidFill>
                <a:latin typeface="Arial" pitchFamily="34" charset="0"/>
                <a:ea typeface="Arial" pitchFamily="34" charset="-122"/>
                <a:cs typeface="Arial" pitchFamily="34" charset="-120"/>
              </a:rPr>
              <a:t>≈ 85</a:t>
            </a:r>
            <a:endParaRPr lang="en-US" sz="3000" dirty="0"/>
          </a:p>
        </p:txBody>
      </p:sp>
      <p:sp>
        <p:nvSpPr>
          <p:cNvPr id="11" name="Shape 9"/>
          <p:cNvSpPr/>
          <p:nvPr/>
        </p:nvSpPr>
        <p:spPr>
          <a:xfrm>
            <a:off x="8046720" y="2907792"/>
            <a:ext cx="3291840" cy="411480"/>
          </a:xfrm>
          <a:prstGeom prst="rect">
            <a:avLst/>
          </a:prstGeom>
          <a:solidFill>
            <a:srgbClr val="F0F2F5"/>
          </a:solidFill>
          <a:ln/>
        </p:spPr>
      </p:sp>
      <p:sp>
        <p:nvSpPr>
          <p:cNvPr id="12" name="Shape 10"/>
          <p:cNvSpPr/>
          <p:nvPr/>
        </p:nvSpPr>
        <p:spPr>
          <a:xfrm>
            <a:off x="8046720" y="2907792"/>
            <a:ext cx="2798064" cy="411480"/>
          </a:xfrm>
          <a:prstGeom prst="rect">
            <a:avLst/>
          </a:prstGeom>
          <a:solidFill>
            <a:srgbClr val="1C69D4"/>
          </a:solidFill>
          <a:ln/>
        </p:spPr>
      </p:sp>
      <p:sp>
        <p:nvSpPr>
          <p:cNvPr id="13" name="Text 11"/>
          <p:cNvSpPr/>
          <p:nvPr/>
        </p:nvSpPr>
        <p:spPr>
          <a:xfrm>
            <a:off x="822960" y="3703320"/>
            <a:ext cx="4572000" cy="777240"/>
          </a:xfrm>
          <a:prstGeom prst="rect">
            <a:avLst/>
          </a:prstGeom>
          <a:noFill/>
          <a:ln/>
        </p:spPr>
        <p:txBody>
          <a:bodyPr wrap="square" lIns="0" tIns="0" rIns="0" bIns="0" rtlCol="0" anchor="ctr"/>
          <a:lstStyle/>
          <a:p>
            <a:pPr indent="0" marL="0">
              <a:buNone/>
            </a:pPr>
            <a:r>
              <a:rPr lang="en-US" sz="2200" dirty="0">
                <a:solidFill>
                  <a:srgbClr val="3A3A3A"/>
                </a:solidFill>
                <a:latin typeface="Arial" pitchFamily="34" charset="0"/>
                <a:ea typeface="Arial" pitchFamily="34" charset="-122"/>
                <a:cs typeface="Arial" pitchFamily="34" charset="-120"/>
              </a:rPr>
              <a:t>Orbite basse</a:t>
            </a:r>
            <a:endParaRPr lang="en-US" sz="2200" dirty="0"/>
          </a:p>
        </p:txBody>
      </p:sp>
      <p:sp>
        <p:nvSpPr>
          <p:cNvPr id="14" name="Text 12"/>
          <p:cNvSpPr/>
          <p:nvPr/>
        </p:nvSpPr>
        <p:spPr>
          <a:xfrm>
            <a:off x="5669280" y="3703320"/>
            <a:ext cx="2011680" cy="777240"/>
          </a:xfrm>
          <a:prstGeom prst="rect">
            <a:avLst/>
          </a:prstGeom>
          <a:noFill/>
          <a:ln/>
        </p:spPr>
        <p:txBody>
          <a:bodyPr wrap="square" lIns="0" tIns="0" rIns="0" bIns="0" rtlCol="0" anchor="ctr"/>
          <a:lstStyle/>
          <a:p>
            <a:pPr algn="r" indent="0" marL="0">
              <a:buNone/>
            </a:pPr>
            <a:r>
              <a:rPr lang="en-US" sz="3000" b="1" dirty="0">
                <a:solidFill>
                  <a:srgbClr val="1C69D4"/>
                </a:solidFill>
                <a:latin typeface="Arial" pitchFamily="34" charset="0"/>
                <a:ea typeface="Arial" pitchFamily="34" charset="-122"/>
                <a:cs typeface="Arial" pitchFamily="34" charset="-120"/>
              </a:rPr>
              <a:t>85 à 88</a:t>
            </a:r>
            <a:endParaRPr lang="en-US" sz="3000" dirty="0"/>
          </a:p>
        </p:txBody>
      </p:sp>
      <p:sp>
        <p:nvSpPr>
          <p:cNvPr id="15" name="Shape 13"/>
          <p:cNvSpPr/>
          <p:nvPr/>
        </p:nvSpPr>
        <p:spPr>
          <a:xfrm>
            <a:off x="8046720" y="3867912"/>
            <a:ext cx="3291840" cy="411480"/>
          </a:xfrm>
          <a:prstGeom prst="rect">
            <a:avLst/>
          </a:prstGeom>
          <a:solidFill>
            <a:srgbClr val="F0F2F5"/>
          </a:solidFill>
          <a:ln/>
        </p:spPr>
      </p:sp>
      <p:sp>
        <p:nvSpPr>
          <p:cNvPr id="16" name="Shape 14"/>
          <p:cNvSpPr/>
          <p:nvPr/>
        </p:nvSpPr>
        <p:spPr>
          <a:xfrm>
            <a:off x="8046720" y="3867912"/>
            <a:ext cx="2830982" cy="411480"/>
          </a:xfrm>
          <a:prstGeom prst="rect">
            <a:avLst/>
          </a:prstGeom>
          <a:solidFill>
            <a:srgbClr val="1C69D4"/>
          </a:solidFill>
          <a:ln/>
        </p:spPr>
      </p:sp>
      <p:sp>
        <p:nvSpPr>
          <p:cNvPr id="17" name="Text 15"/>
          <p:cNvSpPr/>
          <p:nvPr/>
        </p:nvSpPr>
        <p:spPr>
          <a:xfrm>
            <a:off x="822960" y="4663440"/>
            <a:ext cx="4572000" cy="777240"/>
          </a:xfrm>
          <a:prstGeom prst="rect">
            <a:avLst/>
          </a:prstGeom>
          <a:noFill/>
          <a:ln/>
        </p:spPr>
        <p:txBody>
          <a:bodyPr wrap="square" lIns="0" tIns="0" rIns="0" bIns="0" rtlCol="0" anchor="ctr"/>
          <a:lstStyle/>
          <a:p>
            <a:pPr indent="0" marL="0">
              <a:buNone/>
            </a:pPr>
            <a:r>
              <a:rPr lang="en-US" sz="2200" dirty="0">
                <a:solidFill>
                  <a:srgbClr val="3A3A3A"/>
                </a:solidFill>
                <a:latin typeface="Arial" pitchFamily="34" charset="0"/>
                <a:ea typeface="Arial" pitchFamily="34" charset="-122"/>
                <a:cs typeface="Arial" pitchFamily="34" charset="-120"/>
              </a:rPr>
              <a:t>VSAT chargé</a:t>
            </a:r>
            <a:endParaRPr lang="en-US" sz="2200" dirty="0"/>
          </a:p>
        </p:txBody>
      </p:sp>
      <p:sp>
        <p:nvSpPr>
          <p:cNvPr id="18" name="Text 16"/>
          <p:cNvSpPr/>
          <p:nvPr/>
        </p:nvSpPr>
        <p:spPr>
          <a:xfrm>
            <a:off x="5669280" y="4663440"/>
            <a:ext cx="2011680" cy="777240"/>
          </a:xfrm>
          <a:prstGeom prst="rect">
            <a:avLst/>
          </a:prstGeom>
          <a:noFill/>
          <a:ln/>
        </p:spPr>
        <p:txBody>
          <a:bodyPr wrap="square" lIns="0" tIns="0" rIns="0" bIns="0" rtlCol="0" anchor="ctr"/>
          <a:lstStyle/>
          <a:p>
            <a:pPr algn="r" indent="0" marL="0">
              <a:buNone/>
            </a:pPr>
            <a:r>
              <a:rPr lang="en-US" sz="3000" b="1" dirty="0">
                <a:solidFill>
                  <a:srgbClr val="3A3A3A"/>
                </a:solidFill>
                <a:latin typeface="Arial" pitchFamily="34" charset="0"/>
                <a:ea typeface="Arial" pitchFamily="34" charset="-122"/>
                <a:cs typeface="Arial" pitchFamily="34" charset="-120"/>
              </a:rPr>
              <a:t>≈ 71</a:t>
            </a:r>
            <a:endParaRPr lang="en-US" sz="3000" dirty="0"/>
          </a:p>
        </p:txBody>
      </p:sp>
      <p:sp>
        <p:nvSpPr>
          <p:cNvPr id="19" name="Shape 17"/>
          <p:cNvSpPr/>
          <p:nvPr/>
        </p:nvSpPr>
        <p:spPr>
          <a:xfrm>
            <a:off x="8046720" y="4828032"/>
            <a:ext cx="3291840" cy="411480"/>
          </a:xfrm>
          <a:prstGeom prst="rect">
            <a:avLst/>
          </a:prstGeom>
          <a:solidFill>
            <a:srgbClr val="F0F2F5"/>
          </a:solidFill>
          <a:ln/>
        </p:spPr>
      </p:sp>
      <p:sp>
        <p:nvSpPr>
          <p:cNvPr id="20" name="Shape 18"/>
          <p:cNvSpPr/>
          <p:nvPr/>
        </p:nvSpPr>
        <p:spPr>
          <a:xfrm>
            <a:off x="8046720" y="4828032"/>
            <a:ext cx="2337206" cy="411480"/>
          </a:xfrm>
          <a:prstGeom prst="rect">
            <a:avLst/>
          </a:prstGeom>
          <a:solidFill>
            <a:srgbClr val="8A99AD"/>
          </a:solidFill>
          <a:ln/>
        </p:spPr>
      </p:sp>
      <p:sp>
        <p:nvSpPr>
          <p:cNvPr id="21" name="Text 19"/>
          <p:cNvSpPr/>
          <p:nvPr/>
        </p:nvSpPr>
        <p:spPr>
          <a:xfrm>
            <a:off x="658368" y="5806440"/>
            <a:ext cx="10872216" cy="365760"/>
          </a:xfrm>
          <a:prstGeom prst="rect">
            <a:avLst/>
          </a:prstGeom>
          <a:noFill/>
          <a:ln/>
        </p:spPr>
        <p:txBody>
          <a:bodyPr wrap="square" lIns="0" tIns="0" rIns="0" bIns="0" rtlCol="0" anchor="t"/>
          <a:lstStyle/>
          <a:p>
            <a:pPr algn="l" indent="0" marL="0">
              <a:buNone/>
            </a:pPr>
            <a:r>
              <a:rPr lang="en-US" sz="1600" i="1" dirty="0">
                <a:solidFill>
                  <a:srgbClr val="8A8A8A"/>
                </a:solidFill>
                <a:latin typeface="Arial" pitchFamily="34" charset="0"/>
                <a:ea typeface="Arial" pitchFamily="34" charset="-122"/>
                <a:cs typeface="Arial" pitchFamily="34" charset="-120"/>
              </a:rPr>
              <a:t>Score R du modèle E (UIT-T G.107), calcul théorique par profil au repos. Barre : seuil 80 = appel excellent.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11</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NOUVELLE CLASSE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STARLINK : LA LATENCE</a:t>
            </a:r>
            <a:endParaRPr lang="en-US" sz="3600" dirty="0"/>
          </a:p>
          <a:p>
            <a:pPr indent="0" marL="0">
              <a:buNone/>
            </a:pPr>
            <a:r>
              <a:rPr lang="en-US" sz="3600" b="1" dirty="0">
                <a:solidFill>
                  <a:srgbClr val="111111"/>
                </a:solidFill>
                <a:latin typeface="Arial" pitchFamily="34" charset="0"/>
                <a:ea typeface="Arial" pitchFamily="34" charset="-122"/>
                <a:cs typeface="Arial" pitchFamily="34" charset="-120"/>
              </a:rPr>
              <a:t>CHANGE DE NATURE</a:t>
            </a:r>
            <a:endParaRPr lang="en-US" sz="3600" dirty="0"/>
          </a:p>
        </p:txBody>
      </p:sp>
      <p:sp>
        <p:nvSpPr>
          <p:cNvPr id="5" name="Text 3"/>
          <p:cNvSpPr/>
          <p:nvPr/>
        </p:nvSpPr>
        <p:spPr>
          <a:xfrm>
            <a:off x="658368" y="1965960"/>
            <a:ext cx="5760720" cy="137160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Six cents millisecondes d'aller-retour en VSAT : le plancher de propagation dépasse à lui seul l'échéance.</a:t>
            </a:r>
            <a:endParaRPr lang="en-US" sz="2100" dirty="0"/>
          </a:p>
        </p:txBody>
      </p:sp>
      <p:sp>
        <p:nvSpPr>
          <p:cNvPr id="6" name="Text 4"/>
          <p:cNvSpPr/>
          <p:nvPr/>
        </p:nvSpPr>
        <p:spPr>
          <a:xfrm>
            <a:off x="658368" y="3291840"/>
            <a:ext cx="5760720" cy="137160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Quarante millisecondes en orbite basse, une gigue propre à la constellation : le relais entre satellites, lui, se surveille.</a:t>
            </a:r>
            <a:endParaRPr lang="en-US" sz="2100" dirty="0"/>
          </a:p>
        </p:txBody>
      </p:sp>
      <p:sp>
        <p:nvSpPr>
          <p:cNvPr id="7" name="Text 5"/>
          <p:cNvSpPr/>
          <p:nvPr/>
        </p:nvSpPr>
        <p:spPr>
          <a:xfrm>
            <a:off x="6949440" y="2011680"/>
            <a:ext cx="4572000" cy="1051560"/>
          </a:xfrm>
          <a:prstGeom prst="rect">
            <a:avLst/>
          </a:prstGeom>
          <a:noFill/>
          <a:ln/>
        </p:spPr>
        <p:txBody>
          <a:bodyPr wrap="square" lIns="0" tIns="0" rIns="0" bIns="0" rtlCol="0" anchor="ctr"/>
          <a:lstStyle/>
          <a:p>
            <a:pPr algn="ctr" indent="0" marL="0">
              <a:buNone/>
            </a:pPr>
            <a:r>
              <a:rPr lang="en-US" sz="4800" b="1" dirty="0">
                <a:solidFill>
                  <a:srgbClr val="3A3A3A"/>
                </a:solidFill>
                <a:latin typeface="Arial" pitchFamily="34" charset="0"/>
                <a:ea typeface="Arial" pitchFamily="34" charset="-122"/>
                <a:cs typeface="Arial" pitchFamily="34" charset="-120"/>
              </a:rPr>
              <a:t>600 ms</a:t>
            </a:r>
            <a:endParaRPr lang="en-US" sz="4800" dirty="0"/>
          </a:p>
        </p:txBody>
      </p:sp>
      <p:sp>
        <p:nvSpPr>
          <p:cNvPr id="8" name="Text 6"/>
          <p:cNvSpPr/>
          <p:nvPr/>
        </p:nvSpPr>
        <p:spPr>
          <a:xfrm>
            <a:off x="6949440" y="3063240"/>
            <a:ext cx="4572000" cy="685800"/>
          </a:xfrm>
          <a:prstGeom prst="rect">
            <a:avLst/>
          </a:prstGeom>
          <a:noFill/>
          <a:ln/>
        </p:spPr>
        <p:txBody>
          <a:bodyPr wrap="square" lIns="0" tIns="0" rIns="0" bIns="0" rtlCol="0" anchor="t"/>
          <a:lstStyle/>
          <a:p>
            <a:pPr algn="ctr" indent="0" marL="0">
              <a:buNone/>
            </a:pPr>
            <a:r>
              <a:rPr lang="en-US" sz="1700" dirty="0">
                <a:solidFill>
                  <a:srgbClr val="3A3A3A"/>
                </a:solidFill>
                <a:latin typeface="Arial" pitchFamily="34" charset="0"/>
                <a:ea typeface="Arial" pitchFamily="34" charset="-122"/>
                <a:cs typeface="Arial" pitchFamily="34" charset="-120"/>
              </a:rPr>
              <a:t>VSAT géostationnaire : hors d'atteinte de toute configuration</a:t>
            </a:r>
            <a:endParaRPr lang="en-US" sz="1700" dirty="0"/>
          </a:p>
        </p:txBody>
      </p:sp>
      <p:sp>
        <p:nvSpPr>
          <p:cNvPr id="9" name="Text 7"/>
          <p:cNvSpPr/>
          <p:nvPr/>
        </p:nvSpPr>
        <p:spPr>
          <a:xfrm>
            <a:off x="6949440" y="4206240"/>
            <a:ext cx="4572000" cy="1051560"/>
          </a:xfrm>
          <a:prstGeom prst="rect">
            <a:avLst/>
          </a:prstGeom>
          <a:noFill/>
          <a:ln/>
        </p:spPr>
        <p:txBody>
          <a:bodyPr wrap="square" lIns="0" tIns="0" rIns="0" bIns="0" rtlCol="0" anchor="ctr"/>
          <a:lstStyle/>
          <a:p>
            <a:pPr algn="ctr" indent="0" marL="0">
              <a:buNone/>
            </a:pPr>
            <a:r>
              <a:rPr lang="en-US" sz="4800" b="1" dirty="0">
                <a:solidFill>
                  <a:srgbClr val="1C69D4"/>
                </a:solidFill>
                <a:latin typeface="Arial" pitchFamily="34" charset="0"/>
                <a:ea typeface="Arial" pitchFamily="34" charset="-122"/>
                <a:cs typeface="Arial" pitchFamily="34" charset="-120"/>
              </a:rPr>
              <a:t>40 ms</a:t>
            </a:r>
            <a:endParaRPr lang="en-US" sz="4800" dirty="0"/>
          </a:p>
        </p:txBody>
      </p:sp>
      <p:sp>
        <p:nvSpPr>
          <p:cNvPr id="10" name="Text 8"/>
          <p:cNvSpPr/>
          <p:nvPr/>
        </p:nvSpPr>
        <p:spPr>
          <a:xfrm>
            <a:off x="6949440" y="5257800"/>
            <a:ext cx="4572000" cy="685800"/>
          </a:xfrm>
          <a:prstGeom prst="rect">
            <a:avLst/>
          </a:prstGeom>
          <a:noFill/>
          <a:ln/>
        </p:spPr>
        <p:txBody>
          <a:bodyPr wrap="square" lIns="0" tIns="0" rIns="0" bIns="0" rtlCol="0" anchor="t"/>
          <a:lstStyle/>
          <a:p>
            <a:pPr algn="ctr" indent="0" marL="0">
              <a:buNone/>
            </a:pPr>
            <a:r>
              <a:rPr lang="en-US" sz="1700" dirty="0">
                <a:solidFill>
                  <a:srgbClr val="3A3A3A"/>
                </a:solidFill>
                <a:latin typeface="Arial" pitchFamily="34" charset="0"/>
                <a:ea typeface="Arial" pitchFamily="34" charset="-122"/>
                <a:cs typeface="Arial" pitchFamily="34" charset="-120"/>
              </a:rPr>
              <a:t>orbite basse : la fenêtre de latence utile s'ouvre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12</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 COÛT</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LE PRIX DU GASPILLAGE,</a:t>
            </a:r>
            <a:endParaRPr lang="en-US" sz="3600" dirty="0"/>
          </a:p>
          <a:p>
            <a:pPr indent="0" marL="0">
              <a:buNone/>
            </a:pPr>
            <a:r>
              <a:rPr lang="en-US" sz="3600" b="1" dirty="0">
                <a:solidFill>
                  <a:srgbClr val="111111"/>
                </a:solidFill>
                <a:latin typeface="Arial" pitchFamily="34" charset="0"/>
                <a:ea typeface="Arial" pitchFamily="34" charset="-122"/>
                <a:cs typeface="Arial" pitchFamily="34" charset="-120"/>
              </a:rPr>
              <a:t>EN ARIARY PAR HEURE</a:t>
            </a:r>
            <a:endParaRPr lang="en-US" sz="3600" dirty="0"/>
          </a:p>
        </p:txBody>
      </p:sp>
      <p:pic>
        <p:nvPicPr>
          <p:cNvPr id="5" name="Image 0" descr="C:\cgo\book\figures\figR4-tarifs.png">    </p:cNvPr>
          <p:cNvPicPr>
            <a:picLocks noChangeAspect="1"/>
          </p:cNvPicPr>
          <p:nvPr/>
        </p:nvPicPr>
        <p:blipFill>
          <a:blip r:embed="rId1"/>
          <a:stretch>
            <a:fillRect/>
          </a:stretch>
        </p:blipFill>
        <p:spPr>
          <a:xfrm>
            <a:off x="2763447" y="1737360"/>
            <a:ext cx="6662057" cy="3108960"/>
          </a:xfrm>
          <a:prstGeom prst="rect">
            <a:avLst/>
          </a:prstGeom>
        </p:spPr>
      </p:pic>
      <p:sp>
        <p:nvSpPr>
          <p:cNvPr id="6" name="Text 3"/>
          <p:cNvSpPr/>
          <p:nvPr/>
        </p:nvSpPr>
        <p:spPr>
          <a:xfrm>
            <a:off x="658368" y="5074920"/>
            <a:ext cx="10872216" cy="365760"/>
          </a:xfrm>
          <a:prstGeom prst="rect">
            <a:avLst/>
          </a:prstGeom>
          <a:noFill/>
          <a:ln/>
        </p:spPr>
        <p:txBody>
          <a:bodyPr wrap="square" lIns="0" tIns="0" rIns="0" bIns="0" rtlCol="0" anchor="t"/>
          <a:lstStyle/>
          <a:p>
            <a:pPr algn="l" indent="0" marL="0">
              <a:buNone/>
            </a:pPr>
            <a:r>
              <a:rPr lang="en-US" sz="1600" i="1" dirty="0">
                <a:solidFill>
                  <a:srgbClr val="8A8A8A"/>
                </a:solidFill>
                <a:latin typeface="Arial" pitchFamily="34" charset="0"/>
                <a:ea typeface="Arial" pitchFamily="34" charset="-122"/>
                <a:cs typeface="Arial" pitchFamily="34" charset="-120"/>
              </a:rPr>
              <a:t>Coût horaire du gaspillage, campagne finale P2 : 66,40 Ar sous file simple, 355,60 Ar sous CAKE, 823,10 Ar sous fq_codel, au palier mensuel.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13</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LECTURE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LE RÉSULTAT SE LIT</a:t>
            </a:r>
            <a:endParaRPr lang="en-US" sz="3600" dirty="0"/>
          </a:p>
          <a:p>
            <a:pPr indent="0" marL="0">
              <a:buNone/>
            </a:pPr>
            <a:r>
              <a:rPr lang="en-US" sz="3600" b="1" dirty="0">
                <a:solidFill>
                  <a:srgbClr val="111111"/>
                </a:solidFill>
                <a:latin typeface="Arial" pitchFamily="34" charset="0"/>
                <a:ea typeface="Arial" pitchFamily="34" charset="-122"/>
                <a:cs typeface="Arial" pitchFamily="34" charset="-120"/>
              </a:rPr>
              <a:t>EN UNE LIGNE</a:t>
            </a:r>
            <a:endParaRPr lang="en-US" sz="3600" dirty="0"/>
          </a:p>
        </p:txBody>
      </p:sp>
      <p:pic>
        <p:nvPicPr>
          <p:cNvPr id="5" name="Image 0" descr="C:\cgo\book\figures\shot-resultats.png">    </p:cNvPr>
          <p:cNvPicPr>
            <a:picLocks noChangeAspect="1"/>
          </p:cNvPicPr>
          <p:nvPr/>
        </p:nvPicPr>
        <p:blipFill>
          <a:blip r:embed="rId1"/>
          <a:stretch>
            <a:fillRect/>
          </a:stretch>
        </p:blipFill>
        <p:spPr>
          <a:xfrm>
            <a:off x="3330956" y="1783080"/>
            <a:ext cx="5527040" cy="3108960"/>
          </a:xfrm>
          <a:prstGeom prst="rect">
            <a:avLst/>
          </a:prstGeom>
        </p:spPr>
      </p:pic>
      <p:sp>
        <p:nvSpPr>
          <p:cNvPr id="6" name="Text 3"/>
          <p:cNvSpPr/>
          <p:nvPr/>
        </p:nvSpPr>
        <p:spPr>
          <a:xfrm>
            <a:off x="658368" y="5074920"/>
            <a:ext cx="10872216" cy="365760"/>
          </a:xfrm>
          <a:prstGeom prst="rect">
            <a:avLst/>
          </a:prstGeom>
          <a:noFill/>
          <a:ln/>
        </p:spPr>
        <p:txBody>
          <a:bodyPr wrap="square" lIns="0" tIns="0" rIns="0" bIns="0" rtlCol="0" anchor="t"/>
          <a:lstStyle/>
          <a:p>
            <a:pPr algn="ctr" indent="0" marL="0">
              <a:buNone/>
            </a:pPr>
            <a:r>
              <a:rPr lang="en-US" sz="1600" i="1" dirty="0">
                <a:solidFill>
                  <a:srgbClr val="8A8A8A"/>
                </a:solidFill>
                <a:latin typeface="Arial" pitchFamily="34" charset="0"/>
                <a:ea typeface="Arial" pitchFamily="34" charset="-122"/>
                <a:cs typeface="Arial" pitchFamily="34" charset="-120"/>
              </a:rPr>
              <a:t>Vue Résultats : classement des cellules, comparaison épinglée, verdict calculé et prescription prête à copier.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14</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PRESCRIPTION</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800" b="1" dirty="0">
                <a:solidFill>
                  <a:srgbClr val="111111"/>
                </a:solidFill>
                <a:latin typeface="Arial" pitchFamily="34" charset="0"/>
                <a:ea typeface="Arial" pitchFamily="34" charset="-122"/>
                <a:cs typeface="Arial" pitchFamily="34" charset="-120"/>
              </a:rPr>
              <a:t>CAKE SUR LE ROUTEUR DU SITE</a:t>
            </a:r>
            <a:endParaRPr lang="en-US" sz="3800" dirty="0"/>
          </a:p>
        </p:txBody>
      </p:sp>
      <p:sp>
        <p:nvSpPr>
          <p:cNvPr id="5" name="Text 3"/>
          <p:cNvSpPr/>
          <p:nvPr/>
        </p:nvSpPr>
        <p:spPr>
          <a:xfrm>
            <a:off x="658368" y="1828800"/>
            <a:ext cx="10872216" cy="548640"/>
          </a:xfrm>
          <a:prstGeom prst="rect">
            <a:avLst/>
          </a:prstGeom>
          <a:noFill/>
          <a:ln/>
        </p:spPr>
        <p:txBody>
          <a:bodyPr wrap="square" lIns="0" tIns="0" rIns="0" bIns="0" rtlCol="0" anchor="t"/>
          <a:lstStyle/>
          <a:p>
            <a:pPr indent="0" marL="0">
              <a:buNone/>
            </a:pPr>
            <a:r>
              <a:rPr lang="en-US" sz="2200" dirty="0">
                <a:solidFill>
                  <a:srgbClr val="3A3A3A"/>
                </a:solidFill>
                <a:latin typeface="Arial" pitchFamily="34" charset="0"/>
                <a:ea typeface="Arial" pitchFamily="34" charset="-122"/>
                <a:cs typeface="Arial" pitchFamily="34" charset="-120"/>
              </a:rPr>
              <a:t>Sur les équipements maîtrisés par la direction des systèmes d'information :</a:t>
            </a:r>
            <a:endParaRPr lang="en-US" sz="2200" dirty="0"/>
          </a:p>
        </p:txBody>
      </p:sp>
      <p:sp>
        <p:nvSpPr>
          <p:cNvPr id="6" name="Shape 4"/>
          <p:cNvSpPr/>
          <p:nvPr/>
        </p:nvSpPr>
        <p:spPr>
          <a:xfrm>
            <a:off x="822960" y="2514600"/>
            <a:ext cx="10515600" cy="960120"/>
          </a:xfrm>
          <a:prstGeom prst="rect">
            <a:avLst/>
          </a:prstGeom>
          <a:solidFill>
            <a:srgbClr val="F4F6F8"/>
          </a:solidFill>
          <a:ln w="12700">
            <a:solidFill>
              <a:srgbClr val="C9CFD6"/>
            </a:solidFill>
            <a:prstDash val="solid"/>
          </a:ln>
        </p:spPr>
      </p:sp>
      <p:sp>
        <p:nvSpPr>
          <p:cNvPr id="7" name="Text 5"/>
          <p:cNvSpPr/>
          <p:nvPr/>
        </p:nvSpPr>
        <p:spPr>
          <a:xfrm>
            <a:off x="1005840" y="2514600"/>
            <a:ext cx="10149840" cy="960120"/>
          </a:xfrm>
          <a:prstGeom prst="rect">
            <a:avLst/>
          </a:prstGeom>
          <a:noFill/>
          <a:ln/>
        </p:spPr>
        <p:txBody>
          <a:bodyPr wrap="square" lIns="0" tIns="0" rIns="0" bIns="0" rtlCol="0" anchor="ctr"/>
          <a:lstStyle/>
          <a:p>
            <a:pPr indent="0" marL="0">
              <a:buNone/>
            </a:pPr>
            <a:r>
              <a:rPr lang="en-US" sz="2000" dirty="0">
                <a:solidFill>
                  <a:srgbClr val="111111"/>
                </a:solidFill>
                <a:latin typeface="Courier New" pitchFamily="34" charset="0"/>
                <a:ea typeface="Courier New" pitchFamily="34" charset="-122"/>
                <a:cs typeface="Courier New" pitchFamily="34" charset="-120"/>
              </a:rPr>
              <a:t>tc qdisc replace dev eth0 root cake bandwidth 18mbit</a:t>
            </a:r>
            <a:endParaRPr lang="en-US" sz="2000" dirty="0"/>
          </a:p>
        </p:txBody>
      </p:sp>
      <p:sp>
        <p:nvSpPr>
          <p:cNvPr id="8" name="Text 6"/>
          <p:cNvSpPr/>
          <p:nvPr/>
        </p:nvSpPr>
        <p:spPr>
          <a:xfrm>
            <a:off x="658368" y="3703320"/>
            <a:ext cx="10515600" cy="1554480"/>
          </a:xfrm>
          <a:prstGeom prst="rect">
            <a:avLst/>
          </a:prstGeom>
          <a:noFill/>
          <a:ln/>
        </p:spPr>
        <p:txBody>
          <a:bodyPr wrap="square" lIns="0" tIns="0" rIns="0" bIns="0" rtlCol="0" anchor="t"/>
          <a:lstStyle/>
          <a:p>
            <a:pPr indent="0" marL="0">
              <a:buNone/>
            </a:pPr>
            <a:r>
              <a:rPr lang="en-US" sz="2100" dirty="0">
                <a:solidFill>
                  <a:srgbClr val="3A3A3A"/>
                </a:solidFill>
                <a:latin typeface="Arial" pitchFamily="34" charset="0"/>
                <a:ea typeface="Arial" pitchFamily="34" charset="-122"/>
                <a:cs typeface="Arial" pitchFamily="34" charset="-120"/>
              </a:rPr>
              <a:t>Capacité calée à 90 % de la capacité mesurée. Sur RouterOS 7 : file CAKE à l'interface d'accès. Fenêtre de maintenance, mesure p95 avant et après bascule, puis sentinelle : alerte au journal sur dépassement d'échéance.</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15</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LES CONTRIBUTIONS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800" b="1" dirty="0">
                <a:solidFill>
                  <a:srgbClr val="111111"/>
                </a:solidFill>
                <a:latin typeface="Arial" pitchFamily="34" charset="0"/>
                <a:ea typeface="Arial" pitchFamily="34" charset="-122"/>
                <a:cs typeface="Arial" pitchFamily="34" charset="-120"/>
              </a:rPr>
              <a:t>TROIS APPORTS,</a:t>
            </a:r>
            <a:endParaRPr lang="en-US" sz="3800" dirty="0"/>
          </a:p>
          <a:p>
            <a:pPr indent="0" marL="0">
              <a:buNone/>
            </a:pPr>
            <a:r>
              <a:rPr lang="en-US" sz="3800" b="1" dirty="0">
                <a:solidFill>
                  <a:srgbClr val="111111"/>
                </a:solidFill>
                <a:latin typeface="Arial" pitchFamily="34" charset="0"/>
                <a:ea typeface="Arial" pitchFamily="34" charset="-122"/>
                <a:cs typeface="Arial" pitchFamily="34" charset="-120"/>
              </a:rPr>
              <a:t>UN MÊME CONTEXTE</a:t>
            </a:r>
            <a:endParaRPr lang="en-US" sz="3800" dirty="0"/>
          </a:p>
        </p:txBody>
      </p:sp>
      <p:sp>
        <p:nvSpPr>
          <p:cNvPr id="5" name="Text 3"/>
          <p:cNvSpPr/>
          <p:nvPr/>
        </p:nvSpPr>
        <p:spPr>
          <a:xfrm>
            <a:off x="658368" y="1965960"/>
            <a:ext cx="3291840" cy="1188720"/>
          </a:xfrm>
          <a:prstGeom prst="rect">
            <a:avLst/>
          </a:prstGeom>
          <a:noFill/>
          <a:ln/>
        </p:spPr>
        <p:txBody>
          <a:bodyPr wrap="square" lIns="0" tIns="0" rIns="0" bIns="0" rtlCol="0" anchor="t"/>
          <a:lstStyle/>
          <a:p>
            <a:pPr indent="0" marL="0">
              <a:buNone/>
            </a:pPr>
            <a:r>
              <a:rPr lang="en-US" sz="2000" b="1" spc="100" kern="0" dirty="0">
                <a:solidFill>
                  <a:srgbClr val="1C69D4"/>
                </a:solidFill>
                <a:latin typeface="Arial" pitchFamily="34" charset="0"/>
                <a:ea typeface="Arial" pitchFamily="34" charset="-122"/>
                <a:cs typeface="Arial" pitchFamily="34" charset="-120"/>
              </a:rPr>
              <a:t>UN INSTRUMENT</a:t>
            </a:r>
            <a:endParaRPr lang="en-US" sz="2000" dirty="0"/>
          </a:p>
        </p:txBody>
      </p:sp>
      <p:sp>
        <p:nvSpPr>
          <p:cNvPr id="6" name="Text 4"/>
          <p:cNvSpPr/>
          <p:nvPr/>
        </p:nvSpPr>
        <p:spPr>
          <a:xfrm>
            <a:off x="4206240" y="1965960"/>
            <a:ext cx="7223760" cy="118872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Un binaire unique : audit, banc, supervision et vérification d'archives, sans dépendance d'exécution.</a:t>
            </a:r>
            <a:endParaRPr lang="en-US" sz="2000" dirty="0"/>
          </a:p>
        </p:txBody>
      </p:sp>
      <p:sp>
        <p:nvSpPr>
          <p:cNvPr id="7" name="Text 5"/>
          <p:cNvSpPr/>
          <p:nvPr/>
        </p:nvSpPr>
        <p:spPr>
          <a:xfrm>
            <a:off x="658368" y="3383280"/>
            <a:ext cx="3291840" cy="1188720"/>
          </a:xfrm>
          <a:prstGeom prst="rect">
            <a:avLst/>
          </a:prstGeom>
          <a:noFill/>
          <a:ln/>
        </p:spPr>
        <p:txBody>
          <a:bodyPr wrap="square" lIns="0" tIns="0" rIns="0" bIns="0" rtlCol="0" anchor="t"/>
          <a:lstStyle/>
          <a:p>
            <a:pPr indent="0" marL="0">
              <a:buNone/>
            </a:pPr>
            <a:r>
              <a:rPr lang="en-US" sz="2000" b="1" spc="100" kern="0" dirty="0">
                <a:solidFill>
                  <a:srgbClr val="1C69D4"/>
                </a:solidFill>
                <a:latin typeface="Arial" pitchFamily="34" charset="0"/>
                <a:ea typeface="Arial" pitchFamily="34" charset="-122"/>
                <a:cs typeface="Arial" pitchFamily="34" charset="-120"/>
              </a:rPr>
              <a:t>DES RÉSULTATS</a:t>
            </a:r>
            <a:endParaRPr lang="en-US" sz="2000" dirty="0"/>
          </a:p>
        </p:txBody>
      </p:sp>
      <p:sp>
        <p:nvSpPr>
          <p:cNvPr id="8" name="Text 6"/>
          <p:cNvSpPr/>
          <p:nvPr/>
        </p:nvSpPr>
        <p:spPr>
          <a:xfrm>
            <a:off x="4206240" y="3383280"/>
            <a:ext cx="7223760" cy="118872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Le premier jeu de mesures comparatives de disciplines de file sur des profils malgaches, aux tarifs réels de 2026.</a:t>
            </a:r>
            <a:endParaRPr lang="en-US" sz="2000" dirty="0"/>
          </a:p>
        </p:txBody>
      </p:sp>
      <p:sp>
        <p:nvSpPr>
          <p:cNvPr id="9" name="Text 7"/>
          <p:cNvSpPr/>
          <p:nvPr/>
        </p:nvSpPr>
        <p:spPr>
          <a:xfrm>
            <a:off x="658368" y="4800600"/>
            <a:ext cx="3291840" cy="1188720"/>
          </a:xfrm>
          <a:prstGeom prst="rect">
            <a:avLst/>
          </a:prstGeom>
          <a:noFill/>
          <a:ln/>
        </p:spPr>
        <p:txBody>
          <a:bodyPr wrap="square" lIns="0" tIns="0" rIns="0" bIns="0" rtlCol="0" anchor="t"/>
          <a:lstStyle/>
          <a:p>
            <a:pPr indent="0" marL="0">
              <a:buNone/>
            </a:pPr>
            <a:r>
              <a:rPr lang="en-US" sz="2000" b="1" spc="100" kern="0" dirty="0">
                <a:solidFill>
                  <a:srgbClr val="1C69D4"/>
                </a:solidFill>
                <a:latin typeface="Arial" pitchFamily="34" charset="0"/>
                <a:ea typeface="Arial" pitchFamily="34" charset="-122"/>
                <a:cs typeface="Arial" pitchFamily="34" charset="-120"/>
              </a:rPr>
              <a:t>UNE MÉTHODE</a:t>
            </a:r>
            <a:endParaRPr lang="en-US" sz="2000" dirty="0"/>
          </a:p>
        </p:txBody>
      </p:sp>
      <p:sp>
        <p:nvSpPr>
          <p:cNvPr id="10" name="Text 8"/>
          <p:cNvSpPr/>
          <p:nvPr/>
        </p:nvSpPr>
        <p:spPr>
          <a:xfrm>
            <a:off x="4206240" y="4800600"/>
            <a:ext cx="7223760" cy="118872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La preuve par archives gelées et empreintes vérifiables : chaque chiffre se recalcule depuis ce qui a été mesuré.</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16</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LES LIMITES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CE QUE LES MESURES NE DISENT PAS</a:t>
            </a:r>
            <a:endParaRPr lang="en-US" sz="3600" dirty="0"/>
          </a:p>
        </p:txBody>
      </p:sp>
      <p:sp>
        <p:nvSpPr>
          <p:cNvPr id="5" name="Text 3"/>
          <p:cNvSpPr/>
          <p:nvPr/>
        </p:nvSpPr>
        <p:spPr>
          <a:xfrm>
            <a:off x="658368" y="1828800"/>
            <a:ext cx="10881360" cy="777240"/>
          </a:xfrm>
          <a:prstGeom prst="rect">
            <a:avLst/>
          </a:prstGeom>
          <a:noFill/>
          <a:ln/>
        </p:spPr>
        <p:txBody>
          <a:bodyPr wrap="square" lIns="0" tIns="0" rIns="0" bIns="0" rtlCol="0" anchor="t"/>
          <a:lstStyle/>
          <a:p>
            <a:pPr indent="0" marL="0">
              <a:buNone/>
            </a:pPr>
            <a:r>
              <a:rPr lang="en-US" sz="1800" dirty="0">
                <a:solidFill>
                  <a:srgbClr val="3A3A3A"/>
                </a:solidFill>
                <a:latin typeface="Arial" pitchFamily="34" charset="0"/>
                <a:ea typeface="Arial" pitchFamily="34" charset="-122"/>
                <a:cs typeface="Arial" pitchFamily="34" charset="-120"/>
              </a:rPr>
              <a:t>Métriques ciblées : l'équité inter-flux est écartée par construction, le protocole utilise un flux de charge unique.</a:t>
            </a:r>
            <a:endParaRPr lang="en-US" sz="1800" dirty="0"/>
          </a:p>
        </p:txBody>
      </p:sp>
      <p:sp>
        <p:nvSpPr>
          <p:cNvPr id="6" name="Text 4"/>
          <p:cNvSpPr/>
          <p:nvPr/>
        </p:nvSpPr>
        <p:spPr>
          <a:xfrm>
            <a:off x="658368" y="2670048"/>
            <a:ext cx="10881360" cy="777240"/>
          </a:xfrm>
          <a:prstGeom prst="rect">
            <a:avLst/>
          </a:prstGeom>
          <a:noFill/>
          <a:ln/>
        </p:spPr>
        <p:txBody>
          <a:bodyPr wrap="square" lIns="0" tIns="0" rIns="0" bIns="0" rtlCol="0" anchor="t"/>
          <a:lstStyle/>
          <a:p>
            <a:pPr indent="0" marL="0">
              <a:buNone/>
            </a:pPr>
            <a:r>
              <a:rPr lang="en-US" sz="1800" dirty="0">
                <a:solidFill>
                  <a:srgbClr val="3A3A3A"/>
                </a:solidFill>
                <a:latin typeface="Arial" pitchFamily="34" charset="0"/>
                <a:ea typeface="Arial" pitchFamily="34" charset="-122"/>
                <a:cs typeface="Arial" pitchFamily="34" charset="-120"/>
              </a:rPr>
              <a:t>Échantillon modeste : une répétition par cellule en campagne finale, trois systématiques en perspective.</a:t>
            </a:r>
            <a:endParaRPr lang="en-US" sz="1800" dirty="0"/>
          </a:p>
        </p:txBody>
      </p:sp>
      <p:sp>
        <p:nvSpPr>
          <p:cNvPr id="7" name="Text 5"/>
          <p:cNvSpPr/>
          <p:nvPr/>
        </p:nvSpPr>
        <p:spPr>
          <a:xfrm>
            <a:off x="658368" y="3511296"/>
            <a:ext cx="10881360" cy="777240"/>
          </a:xfrm>
          <a:prstGeom prst="rect">
            <a:avLst/>
          </a:prstGeom>
          <a:noFill/>
          <a:ln/>
        </p:spPr>
        <p:txBody>
          <a:bodyPr wrap="square" lIns="0" tIns="0" rIns="0" bIns="0" rtlCol="0" anchor="t"/>
          <a:lstStyle/>
          <a:p>
            <a:pPr indent="0" marL="0">
              <a:buNone/>
            </a:pPr>
            <a:r>
              <a:rPr lang="en-US" sz="1800" dirty="0">
                <a:solidFill>
                  <a:srgbClr val="3A3A3A"/>
                </a:solidFill>
                <a:latin typeface="Arial" pitchFamily="34" charset="0"/>
                <a:ea typeface="Arial" pitchFamily="34" charset="-122"/>
                <a:cs typeface="Arial" pitchFamily="34" charset="-120"/>
              </a:rPr>
              <a:t>Fenêtre de charge de 120 secondes : pas la saturation prolongée d'une journée.</a:t>
            </a:r>
            <a:endParaRPr lang="en-US" sz="1800" dirty="0"/>
          </a:p>
        </p:txBody>
      </p:sp>
      <p:sp>
        <p:nvSpPr>
          <p:cNvPr id="8" name="Text 6"/>
          <p:cNvSpPr/>
          <p:nvPr/>
        </p:nvSpPr>
        <p:spPr>
          <a:xfrm>
            <a:off x="658368" y="4352544"/>
            <a:ext cx="10881360" cy="777240"/>
          </a:xfrm>
          <a:prstGeom prst="rect">
            <a:avLst/>
          </a:prstGeom>
          <a:noFill/>
          <a:ln/>
        </p:spPr>
        <p:txBody>
          <a:bodyPr wrap="square" lIns="0" tIns="0" rIns="0" bIns="0" rtlCol="0" anchor="t"/>
          <a:lstStyle/>
          <a:p>
            <a:pPr indent="0" marL="0">
              <a:buNone/>
            </a:pPr>
            <a:r>
              <a:rPr lang="en-US" sz="1800" dirty="0">
                <a:solidFill>
                  <a:srgbClr val="3A3A3A"/>
                </a:solidFill>
                <a:latin typeface="Arial" pitchFamily="34" charset="0"/>
                <a:ea typeface="Arial" pitchFamily="34" charset="-122"/>
                <a:cs typeface="Arial" pitchFamily="34" charset="-120"/>
              </a:rPr>
              <a:t>Trafic synthétique : un flux bulk ne reproduit pas le multiplexage réel des applications.</a:t>
            </a:r>
            <a:endParaRPr lang="en-US" sz="1800" dirty="0"/>
          </a:p>
        </p:txBody>
      </p:sp>
      <p:sp>
        <p:nvSpPr>
          <p:cNvPr id="9" name="Text 7"/>
          <p:cNvSpPr/>
          <p:nvPr/>
        </p:nvSpPr>
        <p:spPr>
          <a:xfrm>
            <a:off x="658368" y="5193792"/>
            <a:ext cx="10881360" cy="777240"/>
          </a:xfrm>
          <a:prstGeom prst="rect">
            <a:avLst/>
          </a:prstGeom>
          <a:noFill/>
          <a:ln/>
        </p:spPr>
        <p:txBody>
          <a:bodyPr wrap="square" lIns="0" tIns="0" rIns="0" bIns="0" rtlCol="0" anchor="t"/>
          <a:lstStyle/>
          <a:p>
            <a:pPr indent="0" marL="0">
              <a:buNone/>
            </a:pPr>
            <a:r>
              <a:rPr lang="en-US" sz="1800" dirty="0">
                <a:solidFill>
                  <a:srgbClr val="3A3A3A"/>
                </a:solidFill>
                <a:latin typeface="Arial" pitchFamily="34" charset="0"/>
                <a:ea typeface="Arial" pitchFamily="34" charset="-122"/>
                <a:cs typeface="Arial" pitchFamily="34" charset="-120"/>
              </a:rPr>
              <a:t>Banc netem : le lien d'accès est reconstitué, la couche radio ne l'est pas.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17</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LA CONCLUSION</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LE LIEN CONFIGURÉ PROTÈGE CE QUI COMPTE</a:t>
            </a:r>
            <a:endParaRPr lang="en-US" sz="3400" dirty="0"/>
          </a:p>
        </p:txBody>
      </p:sp>
      <p:sp>
        <p:nvSpPr>
          <p:cNvPr id="5" name="Text 3"/>
          <p:cNvSpPr/>
          <p:nvPr/>
        </p:nvSpPr>
        <p:spPr>
          <a:xfrm>
            <a:off x="658368" y="1828800"/>
            <a:ext cx="10881360" cy="1920240"/>
          </a:xfrm>
          <a:prstGeom prst="rect">
            <a:avLst/>
          </a:prstGeom>
          <a:noFill/>
          <a:ln/>
        </p:spPr>
        <p:txBody>
          <a:bodyPr wrap="square" lIns="0" tIns="0" rIns="0" bIns="0" rtlCol="0" anchor="t"/>
          <a:lstStyle/>
          <a:p>
            <a:pPr indent="0" marL="0">
              <a:buNone/>
            </a:pPr>
            <a:r>
              <a:rPr lang="en-US" sz="2200" dirty="0">
                <a:solidFill>
                  <a:srgbClr val="3A3A3A"/>
                </a:solidFill>
                <a:latin typeface="Arial" pitchFamily="34" charset="0"/>
                <a:ea typeface="Arial" pitchFamily="34" charset="-122"/>
                <a:cs typeface="Arial" pitchFamily="34" charset="-120"/>
              </a:rPr>
              <a:t>Sur le profil cellulaire, à échéance de 220 ms : la file simple sous BBR sauve 60,2 % des requêtes critiques, fq_codel 96,2 %, CAKE 98,1 %. La régularité tombe de 57,4 à environ 13 ms de QDI. Le débit de masse reste entre 18,2 et 19,5 Mb/s.</a:t>
            </a:r>
            <a:endParaRPr lang="en-US" sz="2200" dirty="0"/>
          </a:p>
        </p:txBody>
      </p:sp>
      <p:sp>
        <p:nvSpPr>
          <p:cNvPr id="6" name="Text 4"/>
          <p:cNvSpPr/>
          <p:nvPr/>
        </p:nvSpPr>
        <p:spPr>
          <a:xfrm>
            <a:off x="658368" y="3886200"/>
            <a:ext cx="10881360" cy="914400"/>
          </a:xfrm>
          <a:prstGeom prst="rect">
            <a:avLst/>
          </a:prstGeom>
          <a:noFill/>
          <a:ln/>
        </p:spPr>
        <p:txBody>
          <a:bodyPr wrap="square" lIns="0" tIns="0" rIns="0" bIns="0" rtlCol="0" anchor="t"/>
          <a:lstStyle/>
          <a:p>
            <a:pPr indent="0" marL="0">
              <a:buNone/>
            </a:pPr>
            <a:r>
              <a:rPr lang="en-US" sz="2200" dirty="0">
                <a:solidFill>
                  <a:srgbClr val="3A3A3A"/>
                </a:solidFill>
                <a:latin typeface="Arial" pitchFamily="34" charset="0"/>
                <a:ea typeface="Arial" pitchFamily="34" charset="-122"/>
                <a:cs typeface="Arial" pitchFamily="34" charset="-120"/>
              </a:rPr>
              <a:t>La protection de la latence ne se paie pas en débit ; elle se paie en quelques paquets écartés, chiffrés en ariary au palier du forfait.</a:t>
            </a:r>
            <a:endParaRPr lang="en-US" sz="2200" dirty="0"/>
          </a:p>
        </p:txBody>
      </p:sp>
      <p:sp>
        <p:nvSpPr>
          <p:cNvPr id="7" name="Text 5"/>
          <p:cNvSpPr/>
          <p:nvPr/>
        </p:nvSpPr>
        <p:spPr>
          <a:xfrm>
            <a:off x="658368" y="5029200"/>
            <a:ext cx="10881360" cy="914400"/>
          </a:xfrm>
          <a:prstGeom prst="rect">
            <a:avLst/>
          </a:prstGeom>
          <a:noFill/>
          <a:ln/>
        </p:spPr>
        <p:txBody>
          <a:bodyPr wrap="square" lIns="0" tIns="0" rIns="0" bIns="0" rtlCol="0" anchor="t"/>
          <a:lstStyle/>
          <a:p>
            <a:pPr indent="0" marL="0">
              <a:buNone/>
            </a:pPr>
            <a:r>
              <a:rPr lang="en-US" sz="2200" dirty="0">
                <a:solidFill>
                  <a:srgbClr val="3A3A3A"/>
                </a:solidFill>
                <a:latin typeface="Arial" pitchFamily="34" charset="0"/>
                <a:ea typeface="Arial" pitchFamily="34" charset="-122"/>
                <a:cs typeface="Arial" pitchFamily="34" charset="-120"/>
              </a:rPr>
              <a:t>Le lien d'accès contraint n'est pas une fatalité : le même abonnement prépayé transporte les alertes à l'heure et les modèles à volume.</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18</a:t>
            </a:r>
            <a:endParaRPr lang="en-US" sz="1200" dirty="0"/>
          </a:p>
        </p:txBody>
      </p:sp>
      <p:sp>
        <p:nvSpPr>
          <p:cNvPr id="3" name="Shape 1"/>
          <p:cNvSpPr/>
          <p:nvPr/>
        </p:nvSpPr>
        <p:spPr>
          <a:xfrm>
            <a:off x="0" y="6803136"/>
            <a:ext cx="4062984" cy="54864"/>
          </a:xfrm>
          <a:prstGeom prst="rect">
            <a:avLst/>
          </a:prstGeom>
          <a:solidFill>
            <a:srgbClr val="0066B1"/>
          </a:solidFill>
          <a:ln/>
        </p:spPr>
      </p:sp>
      <p:sp>
        <p:nvSpPr>
          <p:cNvPr id="4" name="Shape 2"/>
          <p:cNvSpPr/>
          <p:nvPr/>
        </p:nvSpPr>
        <p:spPr>
          <a:xfrm>
            <a:off x="4062984" y="6803136"/>
            <a:ext cx="4062984" cy="54864"/>
          </a:xfrm>
          <a:prstGeom prst="rect">
            <a:avLst/>
          </a:prstGeom>
          <a:solidFill>
            <a:srgbClr val="1C69D4"/>
          </a:solidFill>
          <a:ln/>
        </p:spPr>
      </p:sp>
      <p:sp>
        <p:nvSpPr>
          <p:cNvPr id="5" name="Shape 3"/>
          <p:cNvSpPr/>
          <p:nvPr/>
        </p:nvSpPr>
        <p:spPr>
          <a:xfrm>
            <a:off x="8125968" y="6803136"/>
            <a:ext cx="4062984" cy="54864"/>
          </a:xfrm>
          <a:prstGeom prst="rect">
            <a:avLst/>
          </a:prstGeom>
          <a:solidFill>
            <a:srgbClr val="E22718"/>
          </a:solidFill>
          <a:ln/>
        </p:spPr>
      </p:sp>
      <p:sp>
        <p:nvSpPr>
          <p:cNvPr id="6" name="Text 4"/>
          <p:cNvSpPr/>
          <p:nvPr/>
        </p:nvSpPr>
        <p:spPr>
          <a:xfrm>
            <a:off x="658368" y="2194560"/>
            <a:ext cx="10872216" cy="1371600"/>
          </a:xfrm>
          <a:prstGeom prst="rect">
            <a:avLst/>
          </a:prstGeom>
          <a:noFill/>
          <a:ln/>
        </p:spPr>
        <p:txBody>
          <a:bodyPr wrap="square" lIns="0" tIns="0" rIns="0" bIns="0" rtlCol="0" anchor="ctr"/>
          <a:lstStyle/>
          <a:p>
            <a:pPr indent="0" marL="0">
              <a:buNone/>
            </a:pPr>
            <a:r>
              <a:rPr lang="en-US" sz="8000" b="1" dirty="0">
                <a:solidFill>
                  <a:srgbClr val="111111"/>
                </a:solidFill>
                <a:latin typeface="Arial" pitchFamily="34" charset="0"/>
                <a:ea typeface="Arial" pitchFamily="34" charset="-122"/>
                <a:cs typeface="Arial" pitchFamily="34" charset="-120"/>
              </a:rPr>
              <a:t>MERCI</a:t>
            </a:r>
            <a:endParaRPr lang="en-US" sz="8000" dirty="0"/>
          </a:p>
        </p:txBody>
      </p:sp>
      <p:sp>
        <p:nvSpPr>
          <p:cNvPr id="7" name="Text 5"/>
          <p:cNvSpPr/>
          <p:nvPr/>
        </p:nvSpPr>
        <p:spPr>
          <a:xfrm>
            <a:off x="658368" y="3840480"/>
            <a:ext cx="9601200" cy="1280160"/>
          </a:xfrm>
          <a:prstGeom prst="rect">
            <a:avLst/>
          </a:prstGeom>
          <a:noFill/>
          <a:ln/>
        </p:spPr>
        <p:txBody>
          <a:bodyPr wrap="square" lIns="0" tIns="0" rIns="0" bIns="0" rtlCol="0" anchor="ctr"/>
          <a:lstStyle/>
          <a:p>
            <a:pPr indent="0" marL="0">
              <a:buNone/>
            </a:pPr>
            <a:r>
              <a:rPr lang="en-US" sz="1800" dirty="0">
                <a:solidFill>
                  <a:srgbClr val="3A3A3A"/>
                </a:solidFill>
                <a:latin typeface="Arial" pitchFamily="34" charset="0"/>
                <a:ea typeface="Arial" pitchFamily="34" charset="-122"/>
                <a:cs typeface="Arial" pitchFamily="34" charset="-120"/>
              </a:rPr>
              <a:t>Merci à Météo Madagascar pour l'accueil et les moyens du banc, à l'encadrement académique de la Mention Informatique de l'Université d'Antananarivo, et aux membres du jury pour leur lecture du mémoire.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19</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ÉQUATIONS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LES ÉQUATIONS DES MESURES</a:t>
            </a:r>
            <a:endParaRPr lang="en-US" sz="3200" dirty="0"/>
          </a:p>
        </p:txBody>
      </p:sp>
      <p:sp>
        <p:nvSpPr>
          <p:cNvPr id="5" name="Text 3"/>
          <p:cNvSpPr/>
          <p:nvPr/>
        </p:nvSpPr>
        <p:spPr>
          <a:xfrm>
            <a:off x="658368" y="1600200"/>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Percentiles</a:t>
            </a:r>
            <a:endParaRPr lang="en-US" sz="1600" dirty="0"/>
          </a:p>
        </p:txBody>
      </p:sp>
      <p:sp>
        <p:nvSpPr>
          <p:cNvPr id="6" name="Text 4"/>
          <p:cNvSpPr/>
          <p:nvPr/>
        </p:nvSpPr>
        <p:spPr>
          <a:xfrm>
            <a:off x="3840480" y="1600200"/>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p95 : la plus petite valeur sous laquelle se rangent 95 % des observations ; médiane p50 = cas typique.</a:t>
            </a:r>
            <a:endParaRPr lang="en-US" sz="1500" dirty="0"/>
          </a:p>
        </p:txBody>
      </p:sp>
      <p:sp>
        <p:nvSpPr>
          <p:cNvPr id="7" name="Text 5"/>
          <p:cNvSpPr/>
          <p:nvPr/>
        </p:nvSpPr>
        <p:spPr>
          <a:xfrm>
            <a:off x="658368" y="2404872"/>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Respect d'échéance</a:t>
            </a:r>
            <a:endParaRPr lang="en-US" sz="1600" dirty="0"/>
          </a:p>
        </p:txBody>
      </p:sp>
      <p:sp>
        <p:nvSpPr>
          <p:cNvPr id="8" name="Text 6"/>
          <p:cNvSpPr/>
          <p:nvPr/>
        </p:nvSpPr>
        <p:spPr>
          <a:xfrm>
            <a:off x="3840480" y="2404872"/>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deadline_ok = 100 × (1/n) × Σ [ ci &lt; D ] : la part des complétions sous l'échéance D.</a:t>
            </a:r>
            <a:endParaRPr lang="en-US" sz="1500" dirty="0"/>
          </a:p>
        </p:txBody>
      </p:sp>
      <p:sp>
        <p:nvSpPr>
          <p:cNvPr id="9" name="Text 7"/>
          <p:cNvSpPr/>
          <p:nvPr/>
        </p:nvSpPr>
        <p:spPr>
          <a:xfrm>
            <a:off x="658368" y="3209544"/>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QDI</a:t>
            </a:r>
            <a:endParaRPr lang="en-US" sz="1600" dirty="0"/>
          </a:p>
        </p:txBody>
      </p:sp>
      <p:sp>
        <p:nvSpPr>
          <p:cNvPr id="10" name="Text 8"/>
          <p:cNvSpPr/>
          <p:nvPr/>
        </p:nvSpPr>
        <p:spPr>
          <a:xfrm>
            <a:off x="3840480" y="3209544"/>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QDI = p95(rtt) − p50(rtt) sur la fenêtre de charge : la régularité du lien.</a:t>
            </a:r>
            <a:endParaRPr lang="en-US" sz="1500" dirty="0"/>
          </a:p>
        </p:txBody>
      </p:sp>
      <p:sp>
        <p:nvSpPr>
          <p:cNvPr id="11" name="Text 9"/>
          <p:cNvSpPr/>
          <p:nvPr/>
        </p:nvSpPr>
        <p:spPr>
          <a:xfrm>
            <a:off x="658368" y="4014216"/>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Modèle E (UIT-T G.107)</a:t>
            </a:r>
            <a:endParaRPr lang="en-US" sz="1600" dirty="0"/>
          </a:p>
        </p:txBody>
      </p:sp>
      <p:sp>
        <p:nvSpPr>
          <p:cNvPr id="12" name="Text 10"/>
          <p:cNvSpPr/>
          <p:nvPr/>
        </p:nvSpPr>
        <p:spPr>
          <a:xfrm>
            <a:off x="3840480" y="4014216"/>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R = 93,2 − Id − Ij − Ie : score de 0 à 100, seuil 80 = appel excellent.</a:t>
            </a:r>
            <a:endParaRPr lang="en-US" sz="1500" dirty="0"/>
          </a:p>
        </p:txBody>
      </p:sp>
      <p:sp>
        <p:nvSpPr>
          <p:cNvPr id="13" name="Text 11"/>
          <p:cNvSpPr/>
          <p:nvPr/>
        </p:nvSpPr>
        <p:spPr>
          <a:xfrm>
            <a:off x="658368" y="4818888"/>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Coût du gaspillage</a:t>
            </a:r>
            <a:endParaRPr lang="en-US" sz="1600" dirty="0"/>
          </a:p>
        </p:txBody>
      </p:sp>
      <p:sp>
        <p:nvSpPr>
          <p:cNvPr id="14" name="Text 12"/>
          <p:cNvSpPr/>
          <p:nvPr/>
        </p:nvSpPr>
        <p:spPr>
          <a:xfrm>
            <a:off x="3840480" y="4818888"/>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coût/h = octets retransmis / 2^30 × prix du Go × 20 : le prix du palier est un paramètre.</a:t>
            </a:r>
            <a:endParaRPr lang="en-US" sz="1500" dirty="0"/>
          </a:p>
        </p:txBody>
      </p:sp>
      <p:sp>
        <p:nvSpPr>
          <p:cNvPr id="15" name="Text 13"/>
          <p:cNvSpPr/>
          <p:nvPr/>
        </p:nvSpPr>
        <p:spPr>
          <a:xfrm>
            <a:off x="658368" y="5623560"/>
            <a:ext cx="3017520" cy="73152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Empreinte</a:t>
            </a:r>
            <a:endParaRPr lang="en-US" sz="1600" dirty="0"/>
          </a:p>
        </p:txBody>
      </p:sp>
      <p:sp>
        <p:nvSpPr>
          <p:cNvPr id="16" name="Text 14"/>
          <p:cNvSpPr/>
          <p:nvPr/>
        </p:nvSpPr>
        <p:spPr>
          <a:xfrm>
            <a:off x="3840480" y="5623560"/>
            <a:ext cx="7680960" cy="73152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SHA-256 par fichier gelé, inscrite au manifeste, recalculée par cgo verify.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20</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PORTES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LES HUIT PORTES, CONDITIONS EXACTES</a:t>
            </a:r>
            <a:endParaRPr lang="en-US" sz="3000" dirty="0"/>
          </a:p>
        </p:txBody>
      </p:sp>
      <p:sp>
        <p:nvSpPr>
          <p:cNvPr id="5" name="Text 3"/>
          <p:cNvSpPr/>
          <p:nvPr/>
        </p:nvSpPr>
        <p:spPr>
          <a:xfrm>
            <a:off x="658368" y="1645920"/>
            <a:ext cx="914400" cy="365760"/>
          </a:xfrm>
          <a:prstGeom prst="rect">
            <a:avLst/>
          </a:prstGeom>
          <a:noFill/>
          <a:ln/>
        </p:spPr>
        <p:txBody>
          <a:bodyPr wrap="square" lIns="0" tIns="0" rIns="0" bIns="0" rtlCol="0" anchor="ctr"/>
          <a:lstStyle/>
          <a:p>
            <a:pPr indent="0" marL="0">
              <a:buNone/>
            </a:pPr>
            <a:r>
              <a:rPr lang="en-US" sz="1200" b="1" dirty="0">
                <a:solidFill>
                  <a:srgbClr val="8A8A8A"/>
                </a:solidFill>
                <a:latin typeface="Arial" pitchFamily="34" charset="0"/>
                <a:ea typeface="Arial" pitchFamily="34" charset="-122"/>
                <a:cs typeface="Arial" pitchFamily="34" charset="-120"/>
              </a:rPr>
              <a:t>PORTE</a:t>
            </a:r>
            <a:endParaRPr lang="en-US" sz="1200" dirty="0"/>
          </a:p>
        </p:txBody>
      </p:sp>
      <p:sp>
        <p:nvSpPr>
          <p:cNvPr id="6" name="Text 4"/>
          <p:cNvSpPr/>
          <p:nvPr/>
        </p:nvSpPr>
        <p:spPr>
          <a:xfrm>
            <a:off x="1828800" y="1645920"/>
            <a:ext cx="7863840" cy="365760"/>
          </a:xfrm>
          <a:prstGeom prst="rect">
            <a:avLst/>
          </a:prstGeom>
          <a:noFill/>
          <a:ln/>
        </p:spPr>
        <p:txBody>
          <a:bodyPr wrap="square" lIns="0" tIns="0" rIns="0" bIns="0" rtlCol="0" anchor="ctr"/>
          <a:lstStyle/>
          <a:p>
            <a:pPr indent="0" marL="0">
              <a:buNone/>
            </a:pPr>
            <a:r>
              <a:rPr lang="en-US" sz="1200" b="1" dirty="0">
                <a:solidFill>
                  <a:srgbClr val="8A8A8A"/>
                </a:solidFill>
                <a:latin typeface="Arial" pitchFamily="34" charset="0"/>
                <a:ea typeface="Arial" pitchFamily="34" charset="-122"/>
                <a:cs typeface="Arial" pitchFamily="34" charset="-120"/>
              </a:rPr>
              <a:t>CONDITION EXACTE</a:t>
            </a:r>
            <a:endParaRPr lang="en-US" sz="1200" dirty="0"/>
          </a:p>
        </p:txBody>
      </p:sp>
      <p:sp>
        <p:nvSpPr>
          <p:cNvPr id="7" name="Text 5"/>
          <p:cNvSpPr/>
          <p:nvPr/>
        </p:nvSpPr>
        <p:spPr>
          <a:xfrm>
            <a:off x="10058400" y="1645920"/>
            <a:ext cx="1463040" cy="365760"/>
          </a:xfrm>
          <a:prstGeom prst="rect">
            <a:avLst/>
          </a:prstGeom>
          <a:noFill/>
          <a:ln/>
        </p:spPr>
        <p:txBody>
          <a:bodyPr wrap="square" lIns="0" tIns="0" rIns="0" bIns="0" rtlCol="0" anchor="ctr"/>
          <a:lstStyle/>
          <a:p>
            <a:pPr indent="0" marL="0">
              <a:buNone/>
            </a:pPr>
            <a:r>
              <a:rPr lang="en-US" sz="1200" b="1" dirty="0">
                <a:solidFill>
                  <a:srgbClr val="8A8A8A"/>
                </a:solidFill>
                <a:latin typeface="Arial" pitchFamily="34" charset="0"/>
                <a:ea typeface="Arial" pitchFamily="34" charset="-122"/>
                <a:cs typeface="Arial" pitchFamily="34" charset="-120"/>
              </a:rPr>
              <a:t>ÉCHEC</a:t>
            </a:r>
            <a:endParaRPr lang="en-US" sz="1200" dirty="0"/>
          </a:p>
        </p:txBody>
      </p:sp>
      <p:sp>
        <p:nvSpPr>
          <p:cNvPr id="8" name="Text 6"/>
          <p:cNvSpPr/>
          <p:nvPr/>
        </p:nvSpPr>
        <p:spPr>
          <a:xfrm>
            <a:off x="658368" y="2057400"/>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G0</a:t>
            </a:r>
            <a:endParaRPr lang="en-US" sz="1400" dirty="0"/>
          </a:p>
        </p:txBody>
      </p:sp>
      <p:sp>
        <p:nvSpPr>
          <p:cNvPr id="9" name="Text 7"/>
          <p:cNvSpPr/>
          <p:nvPr/>
        </p:nvSpPr>
        <p:spPr>
          <a:xfrm>
            <a:off x="1828800" y="2057400"/>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La cible répond aux pings de la fenêtre de repos</a:t>
            </a:r>
            <a:endParaRPr lang="en-US" sz="1400" dirty="0"/>
          </a:p>
        </p:txBody>
      </p:sp>
      <p:sp>
        <p:nvSpPr>
          <p:cNvPr id="10" name="Text 8"/>
          <p:cNvSpPr/>
          <p:nvPr/>
        </p:nvSpPr>
        <p:spPr>
          <a:xfrm>
            <a:off x="10058400" y="2057400"/>
            <a:ext cx="1463040" cy="457200"/>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invalid</a:t>
            </a:r>
            <a:endParaRPr lang="en-US" sz="1400" dirty="0"/>
          </a:p>
        </p:txBody>
      </p:sp>
      <p:sp>
        <p:nvSpPr>
          <p:cNvPr id="11" name="Text 9"/>
          <p:cNvSpPr/>
          <p:nvPr/>
        </p:nvSpPr>
        <p:spPr>
          <a:xfrm>
            <a:off x="658368" y="2587752"/>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G1</a:t>
            </a:r>
            <a:endParaRPr lang="en-US" sz="1400" dirty="0"/>
          </a:p>
        </p:txBody>
      </p:sp>
      <p:sp>
        <p:nvSpPr>
          <p:cNvPr id="12" name="Text 10"/>
          <p:cNvSpPr/>
          <p:nvPr/>
        </p:nvSpPr>
        <p:spPr>
          <a:xfrm>
            <a:off x="1828800" y="2587752"/>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Le flux de masse a transmis des octets</a:t>
            </a:r>
            <a:endParaRPr lang="en-US" sz="1400" dirty="0"/>
          </a:p>
        </p:txBody>
      </p:sp>
      <p:sp>
        <p:nvSpPr>
          <p:cNvPr id="13" name="Text 11"/>
          <p:cNvSpPr/>
          <p:nvPr/>
        </p:nvSpPr>
        <p:spPr>
          <a:xfrm>
            <a:off x="10058400" y="2587752"/>
            <a:ext cx="1463040" cy="457200"/>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invalid</a:t>
            </a:r>
            <a:endParaRPr lang="en-US" sz="1400" dirty="0"/>
          </a:p>
        </p:txBody>
      </p:sp>
      <p:sp>
        <p:nvSpPr>
          <p:cNvPr id="14" name="Text 12"/>
          <p:cNvSpPr/>
          <p:nvPr/>
        </p:nvSpPr>
        <p:spPr>
          <a:xfrm>
            <a:off x="658368" y="3118104"/>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G2</a:t>
            </a:r>
            <a:endParaRPr lang="en-US" sz="1400" dirty="0"/>
          </a:p>
        </p:txBody>
      </p:sp>
      <p:sp>
        <p:nvSpPr>
          <p:cNvPr id="15" name="Text 13"/>
          <p:cNvSpPr/>
          <p:nvPr/>
        </p:nvSpPr>
        <p:spPr>
          <a:xfrm>
            <a:off x="1828800" y="3118104"/>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Les sondes produisent des valeurs pendant la charge</a:t>
            </a:r>
            <a:endParaRPr lang="en-US" sz="1400" dirty="0"/>
          </a:p>
        </p:txBody>
      </p:sp>
      <p:sp>
        <p:nvSpPr>
          <p:cNvPr id="16" name="Text 14"/>
          <p:cNvSpPr/>
          <p:nvPr/>
        </p:nvSpPr>
        <p:spPr>
          <a:xfrm>
            <a:off x="10058400" y="3118104"/>
            <a:ext cx="1463040" cy="457200"/>
          </a:xfrm>
          <a:prstGeom prst="rect">
            <a:avLst/>
          </a:prstGeom>
          <a:noFill/>
          <a:ln/>
        </p:spPr>
        <p:txBody>
          <a:bodyPr wrap="square" lIns="0" tIns="0" rIns="0" bIns="0" rtlCol="0" anchor="ctr"/>
          <a:lstStyle/>
          <a:p>
            <a:pPr indent="0" marL="0">
              <a:buNone/>
            </a:pPr>
            <a:r>
              <a:rPr lang="en-US" sz="1400" dirty="0">
                <a:solidFill>
                  <a:srgbClr val="8A99AD"/>
                </a:solidFill>
                <a:latin typeface="Arial" pitchFamily="34" charset="0"/>
                <a:ea typeface="Arial" pitchFamily="34" charset="-122"/>
                <a:cs typeface="Arial" pitchFamily="34" charset="-120"/>
              </a:rPr>
              <a:t>degraded</a:t>
            </a:r>
            <a:endParaRPr lang="en-US" sz="1400" dirty="0"/>
          </a:p>
        </p:txBody>
      </p:sp>
      <p:sp>
        <p:nvSpPr>
          <p:cNvPr id="17" name="Text 15"/>
          <p:cNvSpPr/>
          <p:nvPr/>
        </p:nvSpPr>
        <p:spPr>
          <a:xfrm>
            <a:off x="658368" y="3648456"/>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G3</a:t>
            </a:r>
            <a:endParaRPr lang="en-US" sz="1400" dirty="0"/>
          </a:p>
        </p:txBody>
      </p:sp>
      <p:sp>
        <p:nvSpPr>
          <p:cNvPr id="18" name="Text 16"/>
          <p:cNvSpPr/>
          <p:nvPr/>
        </p:nvSpPr>
        <p:spPr>
          <a:xfrm>
            <a:off x="1828800" y="3648456"/>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Latence plausible : p95 &lt; 10 × délai du profil + 200 ms</a:t>
            </a:r>
            <a:endParaRPr lang="en-US" sz="1400" dirty="0"/>
          </a:p>
        </p:txBody>
      </p:sp>
      <p:sp>
        <p:nvSpPr>
          <p:cNvPr id="19" name="Text 17"/>
          <p:cNvSpPr/>
          <p:nvPr/>
        </p:nvSpPr>
        <p:spPr>
          <a:xfrm>
            <a:off x="10058400" y="3648456"/>
            <a:ext cx="1463040" cy="457200"/>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invalid</a:t>
            </a:r>
            <a:endParaRPr lang="en-US" sz="1400" dirty="0"/>
          </a:p>
        </p:txBody>
      </p:sp>
      <p:sp>
        <p:nvSpPr>
          <p:cNvPr id="20" name="Text 18"/>
          <p:cNvSpPr/>
          <p:nvPr/>
        </p:nvSpPr>
        <p:spPr>
          <a:xfrm>
            <a:off x="658368" y="4178808"/>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G4</a:t>
            </a:r>
            <a:endParaRPr lang="en-US" sz="1400" dirty="0"/>
          </a:p>
        </p:txBody>
      </p:sp>
      <p:sp>
        <p:nvSpPr>
          <p:cNvPr id="21" name="Text 19"/>
          <p:cNvSpPr/>
          <p:nvPr/>
        </p:nvSpPr>
        <p:spPr>
          <a:xfrm>
            <a:off x="1828800" y="4178808"/>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Débit entre la moitié et 1,1 fois la capacité du profil</a:t>
            </a:r>
            <a:endParaRPr lang="en-US" sz="1400" dirty="0"/>
          </a:p>
        </p:txBody>
      </p:sp>
      <p:sp>
        <p:nvSpPr>
          <p:cNvPr id="22" name="Text 20"/>
          <p:cNvSpPr/>
          <p:nvPr/>
        </p:nvSpPr>
        <p:spPr>
          <a:xfrm>
            <a:off x="10058400" y="4178808"/>
            <a:ext cx="1463040" cy="457200"/>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invalid</a:t>
            </a:r>
            <a:endParaRPr lang="en-US" sz="1400" dirty="0"/>
          </a:p>
        </p:txBody>
      </p:sp>
      <p:sp>
        <p:nvSpPr>
          <p:cNvPr id="23" name="Text 21"/>
          <p:cNvSpPr/>
          <p:nvPr/>
        </p:nvSpPr>
        <p:spPr>
          <a:xfrm>
            <a:off x="658368" y="4709160"/>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G5</a:t>
            </a:r>
            <a:endParaRPr lang="en-US" sz="1400" dirty="0"/>
          </a:p>
        </p:txBody>
      </p:sp>
      <p:sp>
        <p:nvSpPr>
          <p:cNvPr id="24" name="Text 22"/>
          <p:cNvSpPr/>
          <p:nvPr/>
        </p:nvSpPr>
        <p:spPr>
          <a:xfrm>
            <a:off x="1828800" y="4709160"/>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Aucune ligne (run, événement) dupliquée au gel</a:t>
            </a:r>
            <a:endParaRPr lang="en-US" sz="1400" dirty="0"/>
          </a:p>
        </p:txBody>
      </p:sp>
      <p:sp>
        <p:nvSpPr>
          <p:cNvPr id="25" name="Text 23"/>
          <p:cNvSpPr/>
          <p:nvPr/>
        </p:nvSpPr>
        <p:spPr>
          <a:xfrm>
            <a:off x="10058400" y="4709160"/>
            <a:ext cx="1463040" cy="457200"/>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invalid</a:t>
            </a:r>
            <a:endParaRPr lang="en-US" sz="1400" dirty="0"/>
          </a:p>
        </p:txBody>
      </p:sp>
      <p:sp>
        <p:nvSpPr>
          <p:cNvPr id="26" name="Text 24"/>
          <p:cNvSpPr/>
          <p:nvPr/>
        </p:nvSpPr>
        <p:spPr>
          <a:xfrm>
            <a:off x="658368" y="5239512"/>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G6</a:t>
            </a:r>
            <a:endParaRPr lang="en-US" sz="1400" dirty="0"/>
          </a:p>
        </p:txBody>
      </p:sp>
      <p:sp>
        <p:nvSpPr>
          <p:cNvPr id="27" name="Text 25"/>
          <p:cNvSpPr/>
          <p:nvPr/>
        </p:nvSpPr>
        <p:spPr>
          <a:xfrm>
            <a:off x="1828800" y="5239512"/>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Repos stable : p95 − p50 &lt; max(5 ms, 20 % de la médiane)</a:t>
            </a:r>
            <a:endParaRPr lang="en-US" sz="1400" dirty="0"/>
          </a:p>
        </p:txBody>
      </p:sp>
      <p:sp>
        <p:nvSpPr>
          <p:cNvPr id="28" name="Text 26"/>
          <p:cNvSpPr/>
          <p:nvPr/>
        </p:nvSpPr>
        <p:spPr>
          <a:xfrm>
            <a:off x="10058400" y="5239512"/>
            <a:ext cx="1463040" cy="457200"/>
          </a:xfrm>
          <a:prstGeom prst="rect">
            <a:avLst/>
          </a:prstGeom>
          <a:noFill/>
          <a:ln/>
        </p:spPr>
        <p:txBody>
          <a:bodyPr wrap="square" lIns="0" tIns="0" rIns="0" bIns="0" rtlCol="0" anchor="ctr"/>
          <a:lstStyle/>
          <a:p>
            <a:pPr indent="0" marL="0">
              <a:buNone/>
            </a:pPr>
            <a:r>
              <a:rPr lang="en-US" sz="1400" dirty="0">
                <a:solidFill>
                  <a:srgbClr val="8A99AD"/>
                </a:solidFill>
                <a:latin typeface="Arial" pitchFamily="34" charset="0"/>
                <a:ea typeface="Arial" pitchFamily="34" charset="-122"/>
                <a:cs typeface="Arial" pitchFamily="34" charset="-120"/>
              </a:rPr>
              <a:t>degraded</a:t>
            </a:r>
            <a:endParaRPr lang="en-US" sz="1400" dirty="0"/>
          </a:p>
        </p:txBody>
      </p:sp>
      <p:sp>
        <p:nvSpPr>
          <p:cNvPr id="29" name="Text 27"/>
          <p:cNvSpPr/>
          <p:nvPr/>
        </p:nvSpPr>
        <p:spPr>
          <a:xfrm>
            <a:off x="658368" y="5769864"/>
            <a:ext cx="914400" cy="457200"/>
          </a:xfrm>
          <a:prstGeom prst="rect">
            <a:avLst/>
          </a:prstGeom>
          <a:noFill/>
          <a:ln/>
        </p:spPr>
        <p:txBody>
          <a:bodyPr wrap="square" lIns="0" tIns="0" rIns="0" bIns="0" rtlCol="0" anchor="ctr"/>
          <a:lstStyle/>
          <a:p>
            <a:pPr indent="0" marL="0">
              <a:buNone/>
            </a:pPr>
            <a:r>
              <a:rPr lang="en-US" sz="1400" b="1" dirty="0">
                <a:solidFill>
                  <a:srgbClr val="1C69D4"/>
                </a:solidFill>
                <a:latin typeface="Arial" pitchFamily="34" charset="0"/>
                <a:ea typeface="Arial" pitchFamily="34" charset="-122"/>
                <a:cs typeface="Arial" pitchFamily="34" charset="-120"/>
              </a:rPr>
              <a:t>G7</a:t>
            </a:r>
            <a:endParaRPr lang="en-US" sz="1400" dirty="0"/>
          </a:p>
        </p:txBody>
      </p:sp>
      <p:sp>
        <p:nvSpPr>
          <p:cNvPr id="30" name="Text 28"/>
          <p:cNvSpPr/>
          <p:nvPr/>
        </p:nvSpPr>
        <p:spPr>
          <a:xfrm>
            <a:off x="1828800" y="5769864"/>
            <a:ext cx="7863840" cy="457200"/>
          </a:xfrm>
          <a:prstGeom prst="rect">
            <a:avLst/>
          </a:prstGeom>
          <a:noFill/>
          <a:ln/>
        </p:spPr>
        <p:txBody>
          <a:bodyPr wrap="square" lIns="0" tIns="0" rIns="0" bIns="0" rtlCol="0" anchor="ctr"/>
          <a:lstStyle/>
          <a:p>
            <a:pPr indent="0" marL="0">
              <a:buNone/>
            </a:pPr>
            <a:r>
              <a:rPr lang="en-US" sz="1400" dirty="0">
                <a:solidFill>
                  <a:srgbClr val="3A3A3A"/>
                </a:solidFill>
                <a:latin typeface="Arial" pitchFamily="34" charset="0"/>
                <a:ea typeface="Arial" pitchFamily="34" charset="-122"/>
                <a:cs typeface="Arial" pitchFamily="34" charset="-120"/>
              </a:rPr>
              <a:t>Processeur non saturé : moyenne sous 90 %</a:t>
            </a:r>
            <a:endParaRPr lang="en-US" sz="1400" dirty="0"/>
          </a:p>
        </p:txBody>
      </p:sp>
      <p:sp>
        <p:nvSpPr>
          <p:cNvPr id="31" name="Text 29"/>
          <p:cNvSpPr/>
          <p:nvPr/>
        </p:nvSpPr>
        <p:spPr>
          <a:xfrm>
            <a:off x="10058400" y="5769864"/>
            <a:ext cx="1463040" cy="457200"/>
          </a:xfrm>
          <a:prstGeom prst="rect">
            <a:avLst/>
          </a:prstGeom>
          <a:noFill/>
          <a:ln/>
        </p:spPr>
        <p:txBody>
          <a:bodyPr wrap="square" lIns="0" tIns="0" rIns="0" bIns="0" rtlCol="0" anchor="ctr"/>
          <a:lstStyle/>
          <a:p>
            <a:pPr indent="0" marL="0">
              <a:buNone/>
            </a:pPr>
            <a:r>
              <a:rPr lang="en-US" sz="1400" dirty="0">
                <a:solidFill>
                  <a:srgbClr val="8A99AD"/>
                </a:solidFill>
                <a:latin typeface="Arial" pitchFamily="34" charset="0"/>
                <a:ea typeface="Arial" pitchFamily="34" charset="-122"/>
                <a:cs typeface="Arial" pitchFamily="34" charset="-120"/>
              </a:rPr>
              <a:t>degraded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21</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MATRICE</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LA MATRICE D'EXPÉRIMENTATION</a:t>
            </a:r>
            <a:endParaRPr lang="en-US" sz="3200" dirty="0"/>
          </a:p>
        </p:txBody>
      </p:sp>
      <p:sp>
        <p:nvSpPr>
          <p:cNvPr id="5" name="Text 3"/>
          <p:cNvSpPr/>
          <p:nvPr/>
        </p:nvSpPr>
        <p:spPr>
          <a:xfrm>
            <a:off x="658368" y="1600200"/>
            <a:ext cx="10872216" cy="914400"/>
          </a:xfrm>
          <a:prstGeom prst="rect">
            <a:avLst/>
          </a:prstGeom>
          <a:noFill/>
          <a:ln/>
        </p:spPr>
        <p:txBody>
          <a:bodyPr wrap="square" lIns="0" tIns="0" rIns="0" bIns="0" rtlCol="0" anchor="t"/>
          <a:lstStyle/>
          <a:p>
            <a:pPr indent="0" marL="0">
              <a:buNone/>
            </a:pPr>
            <a:r>
              <a:rPr lang="en-US" sz="2000" dirty="0">
                <a:solidFill>
                  <a:srgbClr val="3A3A3A"/>
                </a:solidFill>
                <a:latin typeface="Arial" pitchFamily="34" charset="0"/>
                <a:ea typeface="Arial" pitchFamily="34" charset="-122"/>
                <a:cs typeface="Arial" pitchFamily="34" charset="-120"/>
              </a:rPr>
              <a:t>Profils × disciplines × contrôles × répétitions : la campagne complète énumère 36 événements pour deux profils, 18 par profil en matrice réduite.</a:t>
            </a:r>
            <a:endParaRPr lang="en-US" sz="2000" dirty="0"/>
          </a:p>
        </p:txBody>
      </p:sp>
      <p:sp>
        <p:nvSpPr>
          <p:cNvPr id="6" name="Text 4"/>
          <p:cNvSpPr/>
          <p:nvPr/>
        </p:nvSpPr>
        <p:spPr>
          <a:xfrm>
            <a:off x="822960" y="2651760"/>
            <a:ext cx="2377440" cy="59436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pfifo_fast</a:t>
            </a:r>
            <a:endParaRPr lang="en-US" sz="1700" dirty="0"/>
          </a:p>
        </p:txBody>
      </p:sp>
      <p:sp>
        <p:nvSpPr>
          <p:cNvPr id="7" name="Text 5"/>
          <p:cNvSpPr/>
          <p:nvPr/>
        </p:nvSpPr>
        <p:spPr>
          <a:xfrm>
            <a:off x="3383280" y="2651760"/>
            <a:ext cx="8138160" cy="59436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file simple de référence des noyaux Linux</a:t>
            </a:r>
            <a:endParaRPr lang="en-US" sz="1600" dirty="0"/>
          </a:p>
        </p:txBody>
      </p:sp>
      <p:sp>
        <p:nvSpPr>
          <p:cNvPr id="8" name="Text 6"/>
          <p:cNvSpPr/>
          <p:nvPr/>
        </p:nvSpPr>
        <p:spPr>
          <a:xfrm>
            <a:off x="822960" y="3364992"/>
            <a:ext cx="2377440" cy="59436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fq_codel</a:t>
            </a:r>
            <a:endParaRPr lang="en-US" sz="1700" dirty="0"/>
          </a:p>
        </p:txBody>
      </p:sp>
      <p:sp>
        <p:nvSpPr>
          <p:cNvPr id="9" name="Text 7"/>
          <p:cNvSpPr/>
          <p:nvPr/>
        </p:nvSpPr>
        <p:spPr>
          <a:xfrm>
            <a:off x="3383280" y="3364992"/>
            <a:ext cx="8138160" cy="59436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réglage moderne par défaut, équité et discipline des files</a:t>
            </a:r>
            <a:endParaRPr lang="en-US" sz="1600" dirty="0"/>
          </a:p>
        </p:txBody>
      </p:sp>
      <p:sp>
        <p:nvSpPr>
          <p:cNvPr id="10" name="Text 8"/>
          <p:cNvSpPr/>
          <p:nvPr/>
        </p:nvSpPr>
        <p:spPr>
          <a:xfrm>
            <a:off x="822960" y="4078224"/>
            <a:ext cx="2377440" cy="59436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CAKE</a:t>
            </a:r>
            <a:endParaRPr lang="en-US" sz="1700" dirty="0"/>
          </a:p>
        </p:txBody>
      </p:sp>
      <p:sp>
        <p:nvSpPr>
          <p:cNvPr id="11" name="Text 9"/>
          <p:cNvSpPr/>
          <p:nvPr/>
        </p:nvSpPr>
        <p:spPr>
          <a:xfrm>
            <a:off x="3383280" y="4078224"/>
            <a:ext cx="8138160" cy="59436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variante passerelle, façonnage intégré</a:t>
            </a:r>
            <a:endParaRPr lang="en-US" sz="1600" dirty="0"/>
          </a:p>
        </p:txBody>
      </p:sp>
      <p:sp>
        <p:nvSpPr>
          <p:cNvPr id="12" name="Text 10"/>
          <p:cNvSpPr/>
          <p:nvPr/>
        </p:nvSpPr>
        <p:spPr>
          <a:xfrm>
            <a:off x="822960" y="4791456"/>
            <a:ext cx="2377440" cy="59436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CUBIC</a:t>
            </a:r>
            <a:endParaRPr lang="en-US" sz="1700" dirty="0"/>
          </a:p>
        </p:txBody>
      </p:sp>
      <p:sp>
        <p:nvSpPr>
          <p:cNvPr id="13" name="Text 11"/>
          <p:cNvSpPr/>
          <p:nvPr/>
        </p:nvSpPr>
        <p:spPr>
          <a:xfrm>
            <a:off x="3383280" y="4791456"/>
            <a:ext cx="8138160" cy="59436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contrôle fondé sur la perte : recule au premier signal</a:t>
            </a:r>
            <a:endParaRPr lang="en-US" sz="1600" dirty="0"/>
          </a:p>
        </p:txBody>
      </p:sp>
      <p:sp>
        <p:nvSpPr>
          <p:cNvPr id="14" name="Text 12"/>
          <p:cNvSpPr/>
          <p:nvPr/>
        </p:nvSpPr>
        <p:spPr>
          <a:xfrm>
            <a:off x="822960" y="5504688"/>
            <a:ext cx="2377440" cy="59436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BBR</a:t>
            </a:r>
            <a:endParaRPr lang="en-US" sz="1700" dirty="0"/>
          </a:p>
        </p:txBody>
      </p:sp>
      <p:sp>
        <p:nvSpPr>
          <p:cNvPr id="15" name="Text 13"/>
          <p:cNvSpPr/>
          <p:nvPr/>
        </p:nvSpPr>
        <p:spPr>
          <a:xfrm>
            <a:off x="3383280" y="5504688"/>
            <a:ext cx="8138160" cy="59436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estime la capacité, remplit la file sans écouter la perte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22</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ARCHIVES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LE SCHÉMA DU FICHIER GELÉ</a:t>
            </a:r>
            <a:endParaRPr lang="en-US" sz="3200" dirty="0"/>
          </a:p>
        </p:txBody>
      </p:sp>
      <p:sp>
        <p:nvSpPr>
          <p:cNvPr id="5" name="Text 3"/>
          <p:cNvSpPr/>
          <p:nvPr/>
        </p:nvSpPr>
        <p:spPr>
          <a:xfrm>
            <a:off x="822960" y="1737360"/>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run_id, event_id</a:t>
            </a:r>
            <a:endParaRPr lang="en-US" sz="1400" dirty="0"/>
          </a:p>
        </p:txBody>
      </p:sp>
      <p:sp>
        <p:nvSpPr>
          <p:cNvPr id="6" name="Text 4"/>
          <p:cNvSpPr/>
          <p:nvPr/>
        </p:nvSpPr>
        <p:spPr>
          <a:xfrm>
            <a:off x="5943600" y="1737360"/>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identification de la ligne</a:t>
            </a:r>
            <a:endParaRPr lang="en-US" sz="1400" dirty="0"/>
          </a:p>
        </p:txBody>
      </p:sp>
      <p:sp>
        <p:nvSpPr>
          <p:cNvPr id="7" name="Text 5"/>
          <p:cNvSpPr/>
          <p:nvPr/>
        </p:nvSpPr>
        <p:spPr>
          <a:xfrm>
            <a:off x="822960" y="2304288"/>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profile, qdisc, cc, repetition</a:t>
            </a:r>
            <a:endParaRPr lang="en-US" sz="1400" dirty="0"/>
          </a:p>
        </p:txBody>
      </p:sp>
      <p:sp>
        <p:nvSpPr>
          <p:cNvPr id="8" name="Text 6"/>
          <p:cNvSpPr/>
          <p:nvPr/>
        </p:nvSpPr>
        <p:spPr>
          <a:xfrm>
            <a:off x="5943600" y="2304288"/>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cellule de la matrice</a:t>
            </a:r>
            <a:endParaRPr lang="en-US" sz="1400" dirty="0"/>
          </a:p>
        </p:txBody>
      </p:sp>
      <p:sp>
        <p:nvSpPr>
          <p:cNvPr id="9" name="Text 7"/>
          <p:cNvSpPr/>
          <p:nvPr/>
        </p:nvSpPr>
        <p:spPr>
          <a:xfrm>
            <a:off x="822960" y="2871216"/>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rtt_p50_ms, rtt_p95_ms, qdi_ms</a:t>
            </a:r>
            <a:endParaRPr lang="en-US" sz="1400" dirty="0"/>
          </a:p>
        </p:txBody>
      </p:sp>
      <p:sp>
        <p:nvSpPr>
          <p:cNvPr id="10" name="Text 8"/>
          <p:cNvSpPr/>
          <p:nvPr/>
        </p:nvSpPr>
        <p:spPr>
          <a:xfrm>
            <a:off x="5943600" y="2871216"/>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latence et régularité</a:t>
            </a:r>
            <a:endParaRPr lang="en-US" sz="1400" dirty="0"/>
          </a:p>
        </p:txBody>
      </p:sp>
      <p:sp>
        <p:nvSpPr>
          <p:cNvPr id="11" name="Text 9"/>
          <p:cNvSpPr/>
          <p:nvPr/>
        </p:nvSpPr>
        <p:spPr>
          <a:xfrm>
            <a:off x="822960" y="3438144"/>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small_p95_ms, deadline_ok_pct</a:t>
            </a:r>
            <a:endParaRPr lang="en-US" sz="1400" dirty="0"/>
          </a:p>
        </p:txBody>
      </p:sp>
      <p:sp>
        <p:nvSpPr>
          <p:cNvPr id="12" name="Text 10"/>
          <p:cNvSpPr/>
          <p:nvPr/>
        </p:nvSpPr>
        <p:spPr>
          <a:xfrm>
            <a:off x="5943600" y="3438144"/>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 trafic critique et échéance</a:t>
            </a:r>
            <a:endParaRPr lang="en-US" sz="1400" dirty="0"/>
          </a:p>
        </p:txBody>
      </p:sp>
      <p:sp>
        <p:nvSpPr>
          <p:cNvPr id="13" name="Text 11"/>
          <p:cNvSpPr/>
          <p:nvPr/>
        </p:nvSpPr>
        <p:spPr>
          <a:xfrm>
            <a:off x="822960" y="4005072"/>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bulk_goodput_mbps, drops, retransmissions</a:t>
            </a:r>
            <a:endParaRPr lang="en-US" sz="1400" dirty="0"/>
          </a:p>
        </p:txBody>
      </p:sp>
      <p:sp>
        <p:nvSpPr>
          <p:cNvPr id="14" name="Text 12"/>
          <p:cNvSpPr/>
          <p:nvPr/>
        </p:nvSpPr>
        <p:spPr>
          <a:xfrm>
            <a:off x="5943600" y="4005072"/>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charge et mécanisme</a:t>
            </a:r>
            <a:endParaRPr lang="en-US" sz="1400" dirty="0"/>
          </a:p>
        </p:txBody>
      </p:sp>
      <p:sp>
        <p:nvSpPr>
          <p:cNvPr id="15" name="Text 13"/>
          <p:cNvSpPr/>
          <p:nvPr/>
        </p:nvSpPr>
        <p:spPr>
          <a:xfrm>
            <a:off x="822960" y="4572000"/>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wasted_bytes, cost_ar_per_h</a:t>
            </a:r>
            <a:endParaRPr lang="en-US" sz="1400" dirty="0"/>
          </a:p>
        </p:txBody>
      </p:sp>
      <p:sp>
        <p:nvSpPr>
          <p:cNvPr id="16" name="Text 14"/>
          <p:cNvSpPr/>
          <p:nvPr/>
        </p:nvSpPr>
        <p:spPr>
          <a:xfrm>
            <a:off x="5943600" y="4572000"/>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gaspillage et coût</a:t>
            </a:r>
            <a:endParaRPr lang="en-US" sz="1400" dirty="0"/>
          </a:p>
        </p:txBody>
      </p:sp>
      <p:sp>
        <p:nvSpPr>
          <p:cNvPr id="17" name="Text 15"/>
          <p:cNvSpPr/>
          <p:nvPr/>
        </p:nvSpPr>
        <p:spPr>
          <a:xfrm>
            <a:off x="822960" y="5138928"/>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voip_r</a:t>
            </a:r>
            <a:endParaRPr lang="en-US" sz="1400" dirty="0"/>
          </a:p>
        </p:txBody>
      </p:sp>
      <p:sp>
        <p:nvSpPr>
          <p:cNvPr id="18" name="Text 16"/>
          <p:cNvSpPr/>
          <p:nvPr/>
        </p:nvSpPr>
        <p:spPr>
          <a:xfrm>
            <a:off x="5943600" y="5138928"/>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score de voix (vide avant l'implémentation)</a:t>
            </a:r>
            <a:endParaRPr lang="en-US" sz="1400" dirty="0"/>
          </a:p>
        </p:txBody>
      </p:sp>
      <p:sp>
        <p:nvSpPr>
          <p:cNvPr id="19" name="Text 17"/>
          <p:cNvSpPr/>
          <p:nvPr/>
        </p:nvSpPr>
        <p:spPr>
          <a:xfrm>
            <a:off x="822960" y="5705856"/>
            <a:ext cx="4937760" cy="45720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cpu_pct, gate_status</a:t>
            </a:r>
            <a:endParaRPr lang="en-US" sz="1400" dirty="0"/>
          </a:p>
        </p:txBody>
      </p:sp>
      <p:sp>
        <p:nvSpPr>
          <p:cNvPr id="20" name="Text 18"/>
          <p:cNvSpPr/>
          <p:nvPr/>
        </p:nvSpPr>
        <p:spPr>
          <a:xfrm>
            <a:off x="5943600" y="5705856"/>
            <a:ext cx="5577840" cy="45720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surveillance et verdict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23</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CLI</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LA LIGNE DE COMMANDE, DE BOUT EN BOUT</a:t>
            </a:r>
            <a:endParaRPr lang="en-US" sz="3000" dirty="0"/>
          </a:p>
        </p:txBody>
      </p:sp>
      <p:sp>
        <p:nvSpPr>
          <p:cNvPr id="5" name="Text 3"/>
          <p:cNvSpPr/>
          <p:nvPr/>
        </p:nvSpPr>
        <p:spPr>
          <a:xfrm>
            <a:off x="822960" y="1691640"/>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setup</a:t>
            </a:r>
            <a:endParaRPr lang="en-US" sz="1400" dirty="0"/>
          </a:p>
        </p:txBody>
      </p:sp>
      <p:sp>
        <p:nvSpPr>
          <p:cNvPr id="6" name="Text 4"/>
          <p:cNvSpPr/>
          <p:nvPr/>
        </p:nvSpPr>
        <p:spPr>
          <a:xfrm>
            <a:off x="5852160" y="1691640"/>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assistant d'installation en sept étapes idempotentes</a:t>
            </a:r>
            <a:endParaRPr lang="en-US" sz="1400" dirty="0"/>
          </a:p>
        </p:txBody>
      </p:sp>
      <p:sp>
        <p:nvSpPr>
          <p:cNvPr id="7" name="Text 5"/>
          <p:cNvSpPr/>
          <p:nvPr/>
        </p:nvSpPr>
        <p:spPr>
          <a:xfrm>
            <a:off x="822960" y="2276856"/>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kit ensure</a:t>
            </a:r>
            <a:endParaRPr lang="en-US" sz="1400" dirty="0"/>
          </a:p>
        </p:txBody>
      </p:sp>
      <p:sp>
        <p:nvSpPr>
          <p:cNvPr id="8" name="Text 6"/>
          <p:cNvSpPr/>
          <p:nvPr/>
        </p:nvSpPr>
        <p:spPr>
          <a:xfrm>
            <a:off x="5852160" y="2276856"/>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garantit la machine virtuelle du banc et son état</a:t>
            </a:r>
            <a:endParaRPr lang="en-US" sz="1400" dirty="0"/>
          </a:p>
        </p:txBody>
      </p:sp>
      <p:sp>
        <p:nvSpPr>
          <p:cNvPr id="9" name="Text 7"/>
          <p:cNvSpPr/>
          <p:nvPr/>
        </p:nvSpPr>
        <p:spPr>
          <a:xfrm>
            <a:off x="822960" y="2862072"/>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kit snapshots</a:t>
            </a:r>
            <a:endParaRPr lang="en-US" sz="1400" dirty="0"/>
          </a:p>
        </p:txBody>
      </p:sp>
      <p:sp>
        <p:nvSpPr>
          <p:cNvPr id="10" name="Text 8"/>
          <p:cNvSpPr/>
          <p:nvPr/>
        </p:nvSpPr>
        <p:spPr>
          <a:xfrm>
            <a:off x="5852160" y="2862072"/>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liste les instantanés ; revert y revient en une commande</a:t>
            </a:r>
            <a:endParaRPr lang="en-US" sz="1400" dirty="0"/>
          </a:p>
        </p:txBody>
      </p:sp>
      <p:sp>
        <p:nvSpPr>
          <p:cNvPr id="11" name="Text 9"/>
          <p:cNvSpPr/>
          <p:nvPr/>
        </p:nvSpPr>
        <p:spPr>
          <a:xfrm>
            <a:off x="822960" y="3447288"/>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run --profiles P2 --reps 1</a:t>
            </a:r>
            <a:endParaRPr lang="en-US" sz="1400" dirty="0"/>
          </a:p>
        </p:txBody>
      </p:sp>
      <p:sp>
        <p:nvSpPr>
          <p:cNvPr id="12" name="Text 10"/>
          <p:cNvSpPr/>
          <p:nvPr/>
        </p:nvSpPr>
        <p:spPr>
          <a:xfrm>
            <a:off x="5852160" y="3447288"/>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campagne complète avec gel et résumé</a:t>
            </a:r>
            <a:endParaRPr lang="en-US" sz="1400" dirty="0"/>
          </a:p>
        </p:txBody>
      </p:sp>
      <p:sp>
        <p:nvSpPr>
          <p:cNvPr id="13" name="Text 11"/>
          <p:cNvSpPr/>
          <p:nvPr/>
        </p:nvSpPr>
        <p:spPr>
          <a:xfrm>
            <a:off x="822960" y="4032504"/>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audit</a:t>
            </a:r>
            <a:endParaRPr lang="en-US" sz="1400" dirty="0"/>
          </a:p>
        </p:txBody>
      </p:sp>
      <p:sp>
        <p:nvSpPr>
          <p:cNvPr id="14" name="Text 12"/>
          <p:cNvSpPr/>
          <p:nvPr/>
        </p:nvSpPr>
        <p:spPr>
          <a:xfrm>
            <a:off x="5852160" y="4032504"/>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mesure le lien réel accessible depuis le poste</a:t>
            </a:r>
            <a:endParaRPr lang="en-US" sz="1400" dirty="0"/>
          </a:p>
        </p:txBody>
      </p:sp>
      <p:sp>
        <p:nvSpPr>
          <p:cNvPr id="15" name="Text 13"/>
          <p:cNvSpPr/>
          <p:nvPr/>
        </p:nvSpPr>
        <p:spPr>
          <a:xfrm>
            <a:off x="822960" y="4617720"/>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kit verify</a:t>
            </a:r>
            <a:endParaRPr lang="en-US" sz="1400" dirty="0"/>
          </a:p>
        </p:txBody>
      </p:sp>
      <p:sp>
        <p:nvSpPr>
          <p:cNvPr id="16" name="Text 14"/>
          <p:cNvSpPr/>
          <p:nvPr/>
        </p:nvSpPr>
        <p:spPr>
          <a:xfrm>
            <a:off x="5852160" y="4617720"/>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recalcule les empreintes des archives sur la VM</a:t>
            </a:r>
            <a:endParaRPr lang="en-US" sz="1400" dirty="0"/>
          </a:p>
        </p:txBody>
      </p:sp>
      <p:sp>
        <p:nvSpPr>
          <p:cNvPr id="17" name="Text 15"/>
          <p:cNvSpPr/>
          <p:nvPr/>
        </p:nvSpPr>
        <p:spPr>
          <a:xfrm>
            <a:off x="822960" y="5202936"/>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figures</a:t>
            </a:r>
            <a:endParaRPr lang="en-US" sz="1400" dirty="0"/>
          </a:p>
        </p:txBody>
      </p:sp>
      <p:sp>
        <p:nvSpPr>
          <p:cNvPr id="18" name="Text 16"/>
          <p:cNvSpPr/>
          <p:nvPr/>
        </p:nvSpPr>
        <p:spPr>
          <a:xfrm>
            <a:off x="5852160" y="5202936"/>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régénère les figures depuis les archives</a:t>
            </a:r>
            <a:endParaRPr lang="en-US" sz="1400" dirty="0"/>
          </a:p>
        </p:txBody>
      </p:sp>
      <p:sp>
        <p:nvSpPr>
          <p:cNvPr id="19" name="Text 17"/>
          <p:cNvSpPr/>
          <p:nvPr/>
        </p:nvSpPr>
        <p:spPr>
          <a:xfrm>
            <a:off x="822960" y="5788152"/>
            <a:ext cx="4754880" cy="502920"/>
          </a:xfrm>
          <a:prstGeom prst="rect">
            <a:avLst/>
          </a:prstGeom>
          <a:noFill/>
          <a:ln/>
        </p:spPr>
        <p:txBody>
          <a:bodyPr wrap="square" lIns="0" tIns="0" rIns="0" bIns="0" rtlCol="0" anchor="t"/>
          <a:lstStyle/>
          <a:p>
            <a:pPr indent="0" marL="0">
              <a:buNone/>
            </a:pPr>
            <a:r>
              <a:rPr lang="en-US" sz="1400" dirty="0">
                <a:solidFill>
                  <a:srgbClr val="111111"/>
                </a:solidFill>
                <a:latin typeface="Courier New" pitchFamily="34" charset="0"/>
                <a:ea typeface="Courier New" pitchFamily="34" charset="-122"/>
                <a:cs typeface="Courier New" pitchFamily="34" charset="-120"/>
              </a:rPr>
              <a:t>cgo tui</a:t>
            </a:r>
            <a:endParaRPr lang="en-US" sz="1400" dirty="0"/>
          </a:p>
        </p:txBody>
      </p:sp>
      <p:sp>
        <p:nvSpPr>
          <p:cNvPr id="20" name="Text 18"/>
          <p:cNvSpPr/>
          <p:nvPr/>
        </p:nvSpPr>
        <p:spPr>
          <a:xfrm>
            <a:off x="5852160" y="5788152"/>
            <a:ext cx="5669280" cy="502920"/>
          </a:xfrm>
          <a:prstGeom prst="rect">
            <a:avLst/>
          </a:prstGeom>
          <a:noFill/>
          <a:ln/>
        </p:spPr>
        <p:txBody>
          <a:bodyPr wrap="square" lIns="0" tIns="0" rIns="0" bIns="0" rtlCol="0" anchor="t"/>
          <a:lstStyle/>
          <a:p>
            <a:pPr indent="0" marL="0">
              <a:buNone/>
            </a:pPr>
            <a:r>
              <a:rPr lang="en-US" sz="1400" dirty="0">
                <a:solidFill>
                  <a:srgbClr val="3A3A3A"/>
                </a:solidFill>
                <a:latin typeface="Arial" pitchFamily="34" charset="0"/>
                <a:ea typeface="Arial" pitchFamily="34" charset="-122"/>
                <a:cs typeface="Arial" pitchFamily="34" charset="-120"/>
              </a:rPr>
              <a:t>tableau de bord terminal en cinq onglets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24</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OUTILS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POURQUOI PAS FLENT OU IPERF3 ?</a:t>
            </a:r>
            <a:endParaRPr lang="en-US" sz="3200" dirty="0"/>
          </a:p>
        </p:txBody>
      </p:sp>
      <p:sp>
        <p:nvSpPr>
          <p:cNvPr id="5" name="Text 3"/>
          <p:cNvSpPr/>
          <p:nvPr/>
        </p:nvSpPr>
        <p:spPr>
          <a:xfrm>
            <a:off x="658368" y="1645920"/>
            <a:ext cx="2286000" cy="86868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Flent</a:t>
            </a:r>
            <a:endParaRPr lang="en-US" sz="1600" dirty="0"/>
          </a:p>
        </p:txBody>
      </p:sp>
      <p:sp>
        <p:nvSpPr>
          <p:cNvPr id="6" name="Text 4"/>
          <p:cNvSpPr/>
          <p:nvPr/>
        </p:nvSpPr>
        <p:spPr>
          <a:xfrm>
            <a:off x="3108960" y="1645920"/>
            <a:ext cx="8412480" cy="86868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mesure la latence sous charge, mais exige des exécutables aux deux extrémités : un client institutionnel ne l'obtient pas de son opérateur.</a:t>
            </a:r>
            <a:endParaRPr lang="en-US" sz="1500" dirty="0"/>
          </a:p>
        </p:txBody>
      </p:sp>
      <p:sp>
        <p:nvSpPr>
          <p:cNvPr id="7" name="Text 5"/>
          <p:cNvSpPr/>
          <p:nvPr/>
        </p:nvSpPr>
        <p:spPr>
          <a:xfrm>
            <a:off x="658368" y="2578608"/>
            <a:ext cx="2286000" cy="86868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iperf3</a:t>
            </a:r>
            <a:endParaRPr lang="en-US" sz="1600" dirty="0"/>
          </a:p>
        </p:txBody>
      </p:sp>
      <p:sp>
        <p:nvSpPr>
          <p:cNvPr id="8" name="Text 6"/>
          <p:cNvSpPr/>
          <p:nvPr/>
        </p:nvSpPr>
        <p:spPr>
          <a:xfrm>
            <a:off x="3108960" y="2578608"/>
            <a:ext cx="8412480" cy="86868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quantifie la capacité avec finesse, mais perd la victime : il ne rapporte pas la latence subie par le trafic concurrent.</a:t>
            </a:r>
            <a:endParaRPr lang="en-US" sz="1500" dirty="0"/>
          </a:p>
        </p:txBody>
      </p:sp>
      <p:sp>
        <p:nvSpPr>
          <p:cNvPr id="9" name="Text 7"/>
          <p:cNvSpPr/>
          <p:nvPr/>
        </p:nvSpPr>
        <p:spPr>
          <a:xfrm>
            <a:off x="658368" y="3511296"/>
            <a:ext cx="2286000" cy="86868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mahimahi</a:t>
            </a:r>
            <a:endParaRPr lang="en-US" sz="1600" dirty="0"/>
          </a:p>
        </p:txBody>
      </p:sp>
      <p:sp>
        <p:nvSpPr>
          <p:cNvPr id="10" name="Text 8"/>
          <p:cNvSpPr/>
          <p:nvPr/>
        </p:nvSpPr>
        <p:spPr>
          <a:xfrm>
            <a:off x="3108960" y="3511296"/>
            <a:ext cx="8412480" cy="86868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émule des liens localement, mais vise le test de pages web, non la comparaison systématique de disciplines de file.</a:t>
            </a:r>
            <a:endParaRPr lang="en-US" sz="1500" dirty="0"/>
          </a:p>
        </p:txBody>
      </p:sp>
      <p:sp>
        <p:nvSpPr>
          <p:cNvPr id="11" name="Text 9"/>
          <p:cNvSpPr/>
          <p:nvPr/>
        </p:nvSpPr>
        <p:spPr>
          <a:xfrm>
            <a:off x="658368" y="4443984"/>
            <a:ext cx="2286000" cy="86868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Tests de débit</a:t>
            </a:r>
            <a:endParaRPr lang="en-US" sz="1600" dirty="0"/>
          </a:p>
        </p:txBody>
      </p:sp>
      <p:sp>
        <p:nvSpPr>
          <p:cNvPr id="12" name="Text 10"/>
          <p:cNvSpPr/>
          <p:nvPr/>
        </p:nvSpPr>
        <p:spPr>
          <a:xfrm>
            <a:off x="3108960" y="4443984"/>
            <a:ext cx="8412480" cy="86868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un chiffre ponctuel, sans référence de charge, sans répétition, sans archive.</a:t>
            </a:r>
            <a:endParaRPr lang="en-US" sz="1500" dirty="0"/>
          </a:p>
        </p:txBody>
      </p:sp>
      <p:sp>
        <p:nvSpPr>
          <p:cNvPr id="13" name="Text 11"/>
          <p:cNvSpPr/>
          <p:nvPr/>
        </p:nvSpPr>
        <p:spPr>
          <a:xfrm>
            <a:off x="658368" y="5376672"/>
            <a:ext cx="2286000" cy="868680"/>
          </a:xfrm>
          <a:prstGeom prst="rect">
            <a:avLst/>
          </a:prstGeom>
          <a:noFill/>
          <a:ln/>
        </p:spPr>
        <p:txBody>
          <a:bodyPr wrap="square" lIns="0" tIns="0" rIns="0" bIns="0" rtlCol="0" anchor="t"/>
          <a:lstStyle/>
          <a:p>
            <a:pPr indent="0" marL="0">
              <a:buNone/>
            </a:pPr>
            <a:r>
              <a:rPr lang="en-US" sz="1600" b="1" dirty="0">
                <a:solidFill>
                  <a:srgbClr val="1C69D4"/>
                </a:solidFill>
                <a:latin typeface="Arial" pitchFamily="34" charset="0"/>
                <a:ea typeface="Arial" pitchFamily="34" charset="-122"/>
                <a:cs typeface="Arial" pitchFamily="34" charset="-120"/>
              </a:rPr>
              <a:t>Ce travail</a:t>
            </a:r>
            <a:endParaRPr lang="en-US" sz="1600" dirty="0"/>
          </a:p>
        </p:txBody>
      </p:sp>
      <p:sp>
        <p:nvSpPr>
          <p:cNvPr id="14" name="Text 12"/>
          <p:cNvSpPr/>
          <p:nvPr/>
        </p:nvSpPr>
        <p:spPr>
          <a:xfrm>
            <a:off x="3108960" y="5376672"/>
            <a:ext cx="8412480" cy="86868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observation côté client et expérimentation reproductible, archives gelées et vérifiables, tarifs réels intégrés.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25</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STANDARDS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MÉTRIQUES ET STANDARDS PUBLICS</a:t>
            </a:r>
            <a:endParaRPr lang="en-US" sz="3200" dirty="0"/>
          </a:p>
        </p:txBody>
      </p:sp>
      <p:sp>
        <p:nvSpPr>
          <p:cNvPr id="5" name="Text 3"/>
          <p:cNvSpPr/>
          <p:nvPr/>
        </p:nvSpPr>
        <p:spPr>
          <a:xfrm>
            <a:off x="658368" y="1828800"/>
            <a:ext cx="3931920" cy="86868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small p95 sous charge</a:t>
            </a:r>
            <a:endParaRPr lang="en-US" sz="1700" dirty="0"/>
          </a:p>
        </p:txBody>
      </p:sp>
      <p:sp>
        <p:nvSpPr>
          <p:cNvPr id="6" name="Text 4"/>
          <p:cNvSpPr/>
          <p:nvPr/>
        </p:nvSpPr>
        <p:spPr>
          <a:xfrm>
            <a:off x="4846320" y="1828800"/>
            <a:ext cx="6675120" cy="86868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RFC 8290 : la latence sous charge, angle mort des outils de mesure</a:t>
            </a:r>
            <a:endParaRPr lang="en-US" sz="1600" dirty="0"/>
          </a:p>
        </p:txBody>
      </p:sp>
      <p:sp>
        <p:nvSpPr>
          <p:cNvPr id="7" name="Text 5"/>
          <p:cNvSpPr/>
          <p:nvPr/>
        </p:nvSpPr>
        <p:spPr>
          <a:xfrm>
            <a:off x="658368" y="2788920"/>
            <a:ext cx="3931920" cy="86868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QDI, écart p95 − p50</a:t>
            </a:r>
            <a:endParaRPr lang="en-US" sz="1700" dirty="0"/>
          </a:p>
        </p:txBody>
      </p:sp>
      <p:sp>
        <p:nvSpPr>
          <p:cNvPr id="8" name="Text 6"/>
          <p:cNvSpPr/>
          <p:nvPr/>
        </p:nvSpPr>
        <p:spPr>
          <a:xfrm>
            <a:off x="4846320" y="2788920"/>
            <a:ext cx="6675120" cy="86868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l'étalement des distributions publié par Flent sous le nom de spread</a:t>
            </a:r>
            <a:endParaRPr lang="en-US" sz="1600" dirty="0"/>
          </a:p>
        </p:txBody>
      </p:sp>
      <p:sp>
        <p:nvSpPr>
          <p:cNvPr id="9" name="Text 7"/>
          <p:cNvSpPr/>
          <p:nvPr/>
        </p:nvSpPr>
        <p:spPr>
          <a:xfrm>
            <a:off x="658368" y="3749040"/>
            <a:ext cx="3931920" cy="86868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Respect d'échéance</a:t>
            </a:r>
            <a:endParaRPr lang="en-US" sz="1700" dirty="0"/>
          </a:p>
        </p:txBody>
      </p:sp>
      <p:sp>
        <p:nvSpPr>
          <p:cNvPr id="10" name="Text 8"/>
          <p:cNvSpPr/>
          <p:nvPr/>
        </p:nvSpPr>
        <p:spPr>
          <a:xfrm>
            <a:off x="4846320" y="3749040"/>
            <a:ext cx="6675120" cy="86868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transcrit un objectif de niveau de service (SLO) en critère mesurable</a:t>
            </a:r>
            <a:endParaRPr lang="en-US" sz="1600" dirty="0"/>
          </a:p>
        </p:txBody>
      </p:sp>
      <p:sp>
        <p:nvSpPr>
          <p:cNvPr id="11" name="Text 9"/>
          <p:cNvSpPr/>
          <p:nvPr/>
        </p:nvSpPr>
        <p:spPr>
          <a:xfrm>
            <a:off x="658368" y="4709160"/>
            <a:ext cx="3931920" cy="868680"/>
          </a:xfrm>
          <a:prstGeom prst="rect">
            <a:avLst/>
          </a:prstGeom>
          <a:noFill/>
          <a:ln/>
        </p:spPr>
        <p:txBody>
          <a:bodyPr wrap="square" lIns="0" tIns="0" rIns="0" bIns="0" rtlCol="0" anchor="t"/>
          <a:lstStyle/>
          <a:p>
            <a:pPr indent="0" marL="0">
              <a:buNone/>
            </a:pPr>
            <a:r>
              <a:rPr lang="en-US" sz="1700" b="1" dirty="0">
                <a:solidFill>
                  <a:srgbClr val="1C69D4"/>
                </a:solidFill>
                <a:latin typeface="Arial" pitchFamily="34" charset="0"/>
                <a:ea typeface="Arial" pitchFamily="34" charset="-122"/>
                <a:cs typeface="Arial" pitchFamily="34" charset="-120"/>
              </a:rPr>
              <a:t>Coût en ariary/heure</a:t>
            </a:r>
            <a:endParaRPr lang="en-US" sz="1700" dirty="0"/>
          </a:p>
        </p:txBody>
      </p:sp>
      <p:sp>
        <p:nvSpPr>
          <p:cNvPr id="12" name="Text 10"/>
          <p:cNvSpPr/>
          <p:nvPr/>
        </p:nvSpPr>
        <p:spPr>
          <a:xfrm>
            <a:off x="4846320" y="4709160"/>
            <a:ext cx="6675120" cy="868680"/>
          </a:xfrm>
          <a:prstGeom prst="rect">
            <a:avLst/>
          </a:prstGeom>
          <a:noFill/>
          <a:ln/>
        </p:spPr>
        <p:txBody>
          <a:bodyPr wrap="square" lIns="0" tIns="0" rIns="0" bIns="0" rtlCol="0" anchor="t"/>
          <a:lstStyle/>
          <a:p>
            <a:pPr indent="0" marL="0">
              <a:buNone/>
            </a:pPr>
            <a:r>
              <a:rPr lang="en-US" sz="1600" dirty="0">
                <a:solidFill>
                  <a:srgbClr val="3A3A3A"/>
                </a:solidFill>
                <a:latin typeface="Arial" pitchFamily="34" charset="0"/>
                <a:ea typeface="Arial" pitchFamily="34" charset="-122"/>
                <a:cs typeface="Arial" pitchFamily="34" charset="-120"/>
              </a:rPr>
              <a:t>absent de la littérature : la contribution propre du contexte prépayé malgache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03152" y="6382512"/>
            <a:ext cx="502920" cy="320040"/>
          </a:xfrm>
          <a:prstGeom prst="rect">
            <a:avLst/>
          </a:prstGeom>
          <a:noFill/>
          <a:ln/>
        </p:spPr>
        <p:txBody>
          <a:bodyPr wrap="square" lIns="0" tIns="0" rIns="0" bIns="0" rtlCol="0" anchor="ctr"/>
          <a:lstStyle/>
          <a:p>
            <a:pPr algn="r" indent="0" marL="0">
              <a:buNone/>
            </a:pPr>
            <a:r>
              <a:rPr lang="en-US" sz="1200" dirty="0">
                <a:solidFill>
                  <a:srgbClr val="8A8A8A"/>
                </a:solidFill>
                <a:latin typeface="Arial" pitchFamily="34" charset="0"/>
                <a:ea typeface="Arial" pitchFamily="34" charset="-122"/>
                <a:cs typeface="Arial" pitchFamily="34" charset="-120"/>
              </a:rPr>
              <a:t>26</a:t>
            </a:r>
            <a:endParaRPr lang="en-US" sz="1200" dirty="0"/>
          </a:p>
        </p:txBody>
      </p:sp>
      <p:sp>
        <p:nvSpPr>
          <p:cNvPr id="3" name="Text 1"/>
          <p:cNvSpPr/>
          <p:nvPr/>
        </p:nvSpPr>
        <p:spPr>
          <a:xfrm>
            <a:off x="658368" y="292608"/>
            <a:ext cx="7315200" cy="274320"/>
          </a:xfrm>
          <a:prstGeom prst="rect">
            <a:avLst/>
          </a:prstGeom>
          <a:noFill/>
          <a:ln/>
        </p:spPr>
        <p:txBody>
          <a:bodyPr wrap="square" lIns="0" tIns="0" rIns="0" bIns="0" rtlCol="0" anchor="ctr"/>
          <a:lstStyle/>
          <a:p>
            <a:pPr indent="0" marL="0">
              <a:buNone/>
            </a:pPr>
            <a:r>
              <a:rPr lang="en-US" sz="1200" b="1" spc="200" kern="0" dirty="0">
                <a:solidFill>
                  <a:srgbClr val="1C69D4"/>
                </a:solidFill>
                <a:latin typeface="Arial" pitchFamily="34" charset="0"/>
                <a:ea typeface="Arial" pitchFamily="34" charset="-122"/>
                <a:cs typeface="Arial" pitchFamily="34" charset="-120"/>
              </a:rPr>
              <a:t>BACKUP · SOURCES</a:t>
            </a:r>
            <a:endParaRPr lang="en-US" sz="1200" dirty="0"/>
          </a:p>
        </p:txBody>
      </p:sp>
      <p:sp>
        <p:nvSpPr>
          <p:cNvPr id="4" name="Text 2"/>
          <p:cNvSpPr/>
          <p:nvPr/>
        </p:nvSpPr>
        <p:spPr>
          <a:xfrm>
            <a:off x="640080" y="457200"/>
            <a:ext cx="10908792" cy="100584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LES SOURCES DES TARIFS, 2026</a:t>
            </a:r>
            <a:endParaRPr lang="en-US" sz="3200" dirty="0"/>
          </a:p>
        </p:txBody>
      </p:sp>
      <p:sp>
        <p:nvSpPr>
          <p:cNvPr id="5" name="Text 3"/>
          <p:cNvSpPr/>
          <p:nvPr/>
        </p:nvSpPr>
        <p:spPr>
          <a:xfrm>
            <a:off x="658368" y="1783080"/>
            <a:ext cx="3749040" cy="82296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Yas Net Month 25000</a:t>
            </a:r>
            <a:endParaRPr lang="en-US" sz="1600" dirty="0"/>
          </a:p>
        </p:txBody>
      </p:sp>
      <p:sp>
        <p:nvSpPr>
          <p:cNvPr id="6" name="Text 4"/>
          <p:cNvSpPr/>
          <p:nvPr/>
        </p:nvSpPr>
        <p:spPr>
          <a:xfrm>
            <a:off x="4572000" y="1783080"/>
            <a:ext cx="6949440" cy="82296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25 000 Ar, 4,5 Go, 30 j : 5 556 Ar/Go (grille opérateur, palier par défaut)</a:t>
            </a:r>
            <a:endParaRPr lang="en-US" sz="1500" dirty="0"/>
          </a:p>
        </p:txBody>
      </p:sp>
      <p:sp>
        <p:nvSpPr>
          <p:cNvPr id="7" name="Text 5"/>
          <p:cNvSpPr/>
          <p:nvPr/>
        </p:nvSpPr>
        <p:spPr>
          <a:xfrm>
            <a:off x="658368" y="2697480"/>
            <a:ext cx="3749040" cy="82296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Yas Ye'low One</a:t>
            </a:r>
            <a:endParaRPr lang="en-US" sz="1600" dirty="0"/>
          </a:p>
        </p:txBody>
      </p:sp>
      <p:sp>
        <p:nvSpPr>
          <p:cNvPr id="8" name="Text 6"/>
          <p:cNvSpPr/>
          <p:nvPr/>
        </p:nvSpPr>
        <p:spPr>
          <a:xfrm>
            <a:off x="4572000" y="2697480"/>
            <a:ext cx="6949440" cy="82296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1 000 Ar, 1 Go, 24 h : 1 000 Ar/Go (forfait journalier)</a:t>
            </a:r>
            <a:endParaRPr lang="en-US" sz="1500" dirty="0"/>
          </a:p>
        </p:txBody>
      </p:sp>
      <p:sp>
        <p:nvSpPr>
          <p:cNvPr id="9" name="Text 7"/>
          <p:cNvSpPr/>
          <p:nvPr/>
        </p:nvSpPr>
        <p:spPr>
          <a:xfrm>
            <a:off x="658368" y="3611880"/>
            <a:ext cx="3749040" cy="82296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Yas Fibre IN 100 Go</a:t>
            </a:r>
            <a:endParaRPr lang="en-US" sz="1600" dirty="0"/>
          </a:p>
        </p:txBody>
      </p:sp>
      <p:sp>
        <p:nvSpPr>
          <p:cNvPr id="10" name="Text 8"/>
          <p:cNvSpPr/>
          <p:nvPr/>
        </p:nvSpPr>
        <p:spPr>
          <a:xfrm>
            <a:off x="4572000" y="3611880"/>
            <a:ext cx="6949440" cy="82296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49 000 Ar/mois : 490 Ar/Go (FTTH institutionnel)</a:t>
            </a:r>
            <a:endParaRPr lang="en-US" sz="1500" dirty="0"/>
          </a:p>
        </p:txBody>
      </p:sp>
      <p:sp>
        <p:nvSpPr>
          <p:cNvPr id="11" name="Text 9"/>
          <p:cNvSpPr/>
          <p:nvPr/>
        </p:nvSpPr>
        <p:spPr>
          <a:xfrm>
            <a:off x="658368" y="4526280"/>
            <a:ext cx="3749040" cy="82296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Starlink résidentiel</a:t>
            </a:r>
            <a:endParaRPr lang="en-US" sz="1600" dirty="0"/>
          </a:p>
        </p:txBody>
      </p:sp>
      <p:sp>
        <p:nvSpPr>
          <p:cNvPr id="12" name="Text 10"/>
          <p:cNvSpPr/>
          <p:nvPr/>
        </p:nvSpPr>
        <p:spPr>
          <a:xfrm>
            <a:off x="4572000" y="4526280"/>
            <a:ext cx="6949440" cy="82296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226 000 Ar/mois hors matériel (presse 2025)</a:t>
            </a:r>
            <a:endParaRPr lang="en-US" sz="1500" dirty="0"/>
          </a:p>
        </p:txBody>
      </p:sp>
      <p:sp>
        <p:nvSpPr>
          <p:cNvPr id="13" name="Text 11"/>
          <p:cNvSpPr/>
          <p:nvPr/>
        </p:nvSpPr>
        <p:spPr>
          <a:xfrm>
            <a:off x="658368" y="5440680"/>
            <a:ext cx="3749040" cy="822960"/>
          </a:xfrm>
          <a:prstGeom prst="rect">
            <a:avLst/>
          </a:prstGeom>
          <a:noFill/>
          <a:ln/>
        </p:spPr>
        <p:txBody>
          <a:bodyPr wrap="square" lIns="0" tIns="0" rIns="0" bIns="0" rtlCol="0" anchor="t"/>
          <a:lstStyle/>
          <a:p>
            <a:pPr indent="0" marL="0">
              <a:buNone/>
            </a:pPr>
            <a:r>
              <a:rPr lang="en-US" sz="1600" b="1" dirty="0">
                <a:solidFill>
                  <a:srgbClr val="3A3A3A"/>
                </a:solidFill>
                <a:latin typeface="Arial" pitchFamily="34" charset="0"/>
                <a:ea typeface="Arial" pitchFamily="34" charset="-122"/>
                <a:cs typeface="Arial" pitchFamily="34" charset="-120"/>
              </a:rPr>
              <a:t>Renversement des paliers</a:t>
            </a:r>
            <a:endParaRPr lang="en-US" sz="1600" dirty="0"/>
          </a:p>
        </p:txBody>
      </p:sp>
      <p:sp>
        <p:nvSpPr>
          <p:cNvPr id="14" name="Text 12"/>
          <p:cNvSpPr/>
          <p:nvPr/>
        </p:nvSpPr>
        <p:spPr>
          <a:xfrm>
            <a:off x="4572000" y="5440680"/>
            <a:ext cx="6949440" cy="822960"/>
          </a:xfrm>
          <a:prstGeom prst="rect">
            <a:avLst/>
          </a:prstGeom>
          <a:noFill/>
          <a:ln/>
        </p:spPr>
        <p:txBody>
          <a:bodyPr wrap="square" lIns="0" tIns="0" rIns="0" bIns="0" rtlCol="0" anchor="t"/>
          <a:lstStyle/>
          <a:p>
            <a:pPr indent="0" marL="0">
              <a:buNone/>
            </a:pPr>
            <a:r>
              <a:rPr lang="en-US" sz="1500" dirty="0">
                <a:solidFill>
                  <a:srgbClr val="3A3A3A"/>
                </a:solidFill>
                <a:latin typeface="Arial" pitchFamily="34" charset="0"/>
                <a:ea typeface="Arial" pitchFamily="34" charset="-122"/>
                <a:cs typeface="Arial" pitchFamily="34" charset="-120"/>
              </a:rPr>
              <a:t>le journalier coûte cinq fois moins au Go que le mensuel : le palier est un paramètre, pas une constante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banc d'essai et une méthode d'audit pour la protection du trafic critique</dc:title>
  <dc:subject>PptxGenJS Presentation</dc:subject>
  <dc:creator>Meteolink</dc:creator>
  <cp:lastModifiedBy>Meteolink</cp:lastModifiedBy>
  <cp:revision>1</cp:revision>
  <dcterms:created xsi:type="dcterms:W3CDTF">2026-09-02T15:39:02Z</dcterms:created>
  <dcterms:modified xsi:type="dcterms:W3CDTF">2026-09-02T15:39:02Z</dcterms:modified>
</cp:coreProperties>
</file>